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dfc6fd30-8c93-02dd-9cc3-8af0332ead0e}">
          <p14:sldIdLst>
            <p14:sldId id="256"/>
            <p14:sldId id="257"/>
          </p14:sldIdLst>
        </p14:section>
        <p14:section name="背景と実験設計" id="{47ea1d96-f36b-c3aa-f735-4477780b7383}">
          <p14:sldIdLst>
            <p14:sldId id="258"/>
            <p14:sldId id="259"/>
            <p14:sldId id="260"/>
            <p14:sldId id="261"/>
          </p14:sldIdLst>
        </p14:section>
        <p14:section name="実行と失敗" id="{d1104f36-61e8-eae2-2ea6-714803d595d7}">
          <p14:sldIdLst>
            <p14:sldId id="262"/>
            <p14:sldId id="263"/>
          </p14:sldIdLst>
        </p14:section>
        <p14:section name="衝突" id="{68e8fda0-aa5b-b30d-4208-04ac3678b659}">
          <p14:sldIdLst>
            <p14:sldId id="264"/>
            <p14:sldId id="265"/>
            <p14:sldId id="266"/>
          </p14:sldIdLst>
        </p14:section>
        <p14:section name="接近 (TTC)" id="{03f81d10-f7cf-aad1-700b-167b027914d3}">
          <p14:sldIdLst>
            <p14:sldId id="267"/>
            <p14:sldId id="268"/>
            <p14:sldId id="269"/>
            <p14:sldId id="270"/>
          </p14:sldIdLst>
        </p14:section>
        <p14:section name="データ品質と今後" id="{780b35ed-2e00-a85d-df95-631b644bb367}">
          <p14:sldIdLst>
            <p14:sldId id="271"/>
            <p14:sldId id="272"/>
          </p14:sldIdLst>
        </p14:section>
        <p14:section name="付録" id="{25ab9ba0-f6e6-de0a-4768-740968f1044c}">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失敗の件数 (9,066件中)</a:t>
            </a:r>
          </a:p>
        </c:rich>
      </c:tx>
      <c:layout/>
      <c:overlay val="0"/>
    </c:title>
    <c:autoTitleDeleted val="0"/>
    <c:plotArea>
      <c:layout/>
      <c:barChart>
        <c:barDir val="col"/>
        <c:grouping val="clustered"/>
        <c:varyColors val="0"/>
        <c:ser>
          <c:idx val="0"/>
          <c:order val="0"/>
          <c:tx>
            <c:strRef>
              <c:f>Sheet1!$B$1</c:f>
              <c:strCache>
                <c:ptCount val="1"/>
                <c:pt idx="0">
                  <c:v>1.8.0</c:v>
                </c:pt>
              </c:strCache>
            </c:strRef>
          </c:tx>
          <c:spPr>
            <a:solidFill>
              <a:srgbClr val="1B8A8F"/>
            </a:solidFill>
            <a:effectLst/>
          </c:spPr>
          <c:invertIfNegative val="0"/>
          <c:dLbls>
            <c:numFmt formatCode="#,##0" sourceLinked="0"/>
            <c:txPr>
              <a:bodyPr/>
              <a:lstStyle/>
              <a:p>
                <a:pPr>
                  <a:defRPr b="0" i="0" strike="noStrike" sz="1100" u="none">
                    <a:solidFill>
                      <a:srgbClr val="1D2B3A"/>
                    </a:solidFill>
                    <a:latin typeface="+mn-lt"/>
                  </a:defRPr>
                </a:pPr>
              </a:p>
            </c:txPr>
            <c:showLegendKey val="0"/>
            <c:showVal val="1"/>
            <c:showCatName val="0"/>
            <c:showSerName val="0"/>
            <c:showPercent val="0"/>
            <c:showBubbleSize val="0"/>
            <c:showLeaderLines val="0"/>
          </c:dLbls>
          <c:cat>
            <c:multiLvlStrRef>
              <c:f>Sheet1!$A$2:$A$4</c:f>
              <c:multiLvlStrCache>
                <c:ptCount val="3"/>
                <c:lvl>
                  <c:pt idx="0">
                    <c:v>analysis_error</c:v>
                  </c:pt>
                  <c:pt idx="1">
                    <c:v>timeout</c:v>
                  </c:pt>
                  <c:pt idx="2">
                    <c:v>execution_error</c:v>
                  </c:pt>
                </c:lvl>
              </c:multiLvlStrCache>
            </c:multiLvlStrRef>
          </c:cat>
          <c:val>
            <c:numRef>
              <c:f>Sheet1!$B$2:$B$4</c:f>
              <c:numCache>
                <c:formatCode>General</c:formatCode>
                <c:ptCount val="3"/>
                <c:pt idx="0">
                  <c:v>82</c:v>
                </c:pt>
                <c:pt idx="1">
                  <c:v>60</c:v>
                </c:pt>
                <c:pt idx="2">
                  <c:v>10</c:v>
                </c:pt>
              </c:numCache>
            </c:numRef>
          </c:val>
        </c:ser>
        <c:ser>
          <c:idx val="1"/>
          <c:order val="1"/>
          <c:tx>
            <c:strRef>
              <c:f>Sheet1!$C$1</c:f>
              <c:strCache>
                <c:ptCount val="1"/>
                <c:pt idx="0">
                  <c:v>1.9.0</c:v>
                </c:pt>
              </c:strCache>
            </c:strRef>
          </c:tx>
          <c:spPr>
            <a:solidFill>
              <a:srgbClr val="E07A1F"/>
            </a:solidFill>
            <a:effectLst/>
          </c:spPr>
          <c:invertIfNegative val="0"/>
          <c:dLbls>
            <c:numFmt formatCode="#,##0" sourceLinked="0"/>
            <c:txPr>
              <a:bodyPr/>
              <a:lstStyle/>
              <a:p>
                <a:pPr>
                  <a:defRPr b="0" i="0" strike="noStrike" sz="1100" u="none">
                    <a:solidFill>
                      <a:srgbClr val="1D2B3A"/>
                    </a:solidFill>
                    <a:latin typeface="+mn-lt"/>
                  </a:defRPr>
                </a:pPr>
              </a:p>
            </c:txPr>
            <c:showLegendKey val="0"/>
            <c:showVal val="1"/>
            <c:showCatName val="0"/>
            <c:showSerName val="0"/>
            <c:showPercent val="0"/>
            <c:showBubbleSize val="0"/>
            <c:showLeaderLines val="0"/>
          </c:dLbls>
          <c:cat>
            <c:multiLvlStrRef>
              <c:f>Sheet1!$A$2:$A$4</c:f>
              <c:multiLvlStrCache>
                <c:ptCount val="3"/>
                <c:lvl>
                  <c:pt idx="0">
                    <c:v>analysis_error</c:v>
                  </c:pt>
                  <c:pt idx="1">
                    <c:v>timeout</c:v>
                  </c:pt>
                  <c:pt idx="2">
                    <c:v>execution_error</c:v>
                  </c:pt>
                </c:lvl>
              </c:multiLvlStrCache>
            </c:multiLvlStrRef>
          </c:cat>
          <c:val>
            <c:numRef>
              <c:f>Sheet1!$C$2:$C$4</c:f>
              <c:numCache>
                <c:formatCode>General</c:formatCode>
                <c:ptCount val="3"/>
                <c:pt idx="0">
                  <c:v>56</c:v>
                </c:pt>
                <c:pt idx="1">
                  <c:v>51</c:v>
                </c:pt>
                <c:pt idx="2">
                  <c:v>9</c:v>
                </c:pt>
              </c:numCache>
            </c:numRef>
          </c:val>
        </c:ser>
        <c:dLbls>
          <c:numFmt formatCode="#,##0" sourceLinked="0"/>
          <c:txPr>
            <a:bodyPr/>
            <a:lstStyle/>
            <a:p>
              <a:pPr>
                <a:defRPr b="0" i="0" strike="noStrike" sz="1100" u="none">
                  <a:solidFill>
                    <a:srgbClr val="1D2B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4A5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D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F4A5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F4A5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3バージョンの衝突結果の組み合わせ (8,811件)</a:t>
            </a:r>
          </a:p>
        </c:rich>
      </c:tx>
      <c:layout/>
      <c:overlay val="0"/>
    </c:title>
    <c:autoTitleDeleted val="0"/>
    <c:plotArea>
      <c:layout/>
      <c:barChart>
        <c:barDir val="col"/>
        <c:grouping val="clustered"/>
        <c:varyColors val="0"/>
        <c:ser>
          <c:idx val="0"/>
          <c:order val="0"/>
          <c:tx>
            <c:strRef>
              <c:f>Sheet1!$B$1</c:f>
              <c:strCache>
                <c:ptCount val="1"/>
                <c:pt idx="0">
                  <c:v>そのバージョンだけ衝突</c:v>
                </c:pt>
              </c:strCache>
            </c:strRef>
          </c:tx>
          <c:spPr>
            <a:solidFill>
              <a:srgbClr val="C0392B"/>
            </a:solidFill>
            <a:effectLst/>
          </c:spPr>
          <c:invertIfNegative val="0"/>
          <c:dLbls>
            <c:numFmt formatCode="#,##0" sourceLinked="0"/>
            <c:txPr>
              <a:bodyPr/>
              <a:lstStyle/>
              <a:p>
                <a:pPr>
                  <a:defRPr b="0" i="0" strike="noStrike" sz="1100" u="none">
                    <a:solidFill>
                      <a:srgbClr val="1D2B3A"/>
                    </a:solidFill>
                    <a:latin typeface="+mn-lt"/>
                  </a:defRPr>
                </a:pPr>
              </a:p>
            </c:txPr>
            <c:showLegendKey val="0"/>
            <c:showVal val="1"/>
            <c:showCatName val="0"/>
            <c:showSerName val="0"/>
            <c:showPercent val="0"/>
            <c:showBubbleSize val="0"/>
            <c:showLeaderLines val="0"/>
          </c:dLbls>
          <c:cat>
            <c:multiLvlStrRef>
              <c:f>Sheet1!$A$2:$A$4</c:f>
              <c:multiLvlStrCache>
                <c:ptCount val="3"/>
                <c:lvl>
                  <c:pt idx="0">
                    <c:v>1.7.1だけ異なる</c:v>
                  </c:pt>
                  <c:pt idx="1">
                    <c:v>1.8.0だけ異なる</c:v>
                  </c:pt>
                  <c:pt idx="2">
                    <c:v>1.9.0だけ異なる</c:v>
                  </c:pt>
                </c:lvl>
              </c:multiLvlStrCache>
            </c:multiLvlStrRef>
          </c:cat>
          <c:val>
            <c:numRef>
              <c:f>Sheet1!$B$2:$B$4</c:f>
              <c:numCache>
                <c:formatCode>General</c:formatCode>
                <c:ptCount val="3"/>
                <c:pt idx="0">
                  <c:v>42</c:v>
                </c:pt>
                <c:pt idx="1">
                  <c:v>53</c:v>
                </c:pt>
                <c:pt idx="2">
                  <c:v>55</c:v>
                </c:pt>
              </c:numCache>
            </c:numRef>
          </c:val>
        </c:ser>
        <c:ser>
          <c:idx val="1"/>
          <c:order val="1"/>
          <c:tx>
            <c:strRef>
              <c:f>Sheet1!$C$1</c:f>
              <c:strCache>
                <c:ptCount val="1"/>
                <c:pt idx="0">
                  <c:v>そのバージョンだけ非衝突</c:v>
                </c:pt>
              </c:strCache>
            </c:strRef>
          </c:tx>
          <c:spPr>
            <a:solidFill>
              <a:srgbClr val="2F4A5E"/>
            </a:solidFill>
            <a:effectLst/>
          </c:spPr>
          <c:invertIfNegative val="0"/>
          <c:dLbls>
            <c:numFmt formatCode="#,##0" sourceLinked="0"/>
            <c:txPr>
              <a:bodyPr/>
              <a:lstStyle/>
              <a:p>
                <a:pPr>
                  <a:defRPr b="0" i="0" strike="noStrike" sz="1100" u="none">
                    <a:solidFill>
                      <a:srgbClr val="1D2B3A"/>
                    </a:solidFill>
                    <a:latin typeface="+mn-lt"/>
                  </a:defRPr>
                </a:pPr>
              </a:p>
            </c:txPr>
            <c:showLegendKey val="0"/>
            <c:showVal val="1"/>
            <c:showCatName val="0"/>
            <c:showSerName val="0"/>
            <c:showPercent val="0"/>
            <c:showBubbleSize val="0"/>
            <c:showLeaderLines val="0"/>
          </c:dLbls>
          <c:cat>
            <c:multiLvlStrRef>
              <c:f>Sheet1!$A$2:$A$4</c:f>
              <c:multiLvlStrCache>
                <c:ptCount val="3"/>
                <c:lvl>
                  <c:pt idx="0">
                    <c:v>1.7.1だけ異なる</c:v>
                  </c:pt>
                  <c:pt idx="1">
                    <c:v>1.8.0だけ異なる</c:v>
                  </c:pt>
                  <c:pt idx="2">
                    <c:v>1.9.0だけ異なる</c:v>
                  </c:pt>
                </c:lvl>
              </c:multiLvlStrCache>
            </c:multiLvlStrRef>
          </c:cat>
          <c:val>
            <c:numRef>
              <c:f>Sheet1!$C$2:$C$4</c:f>
              <c:numCache>
                <c:formatCode>General</c:formatCode>
                <c:ptCount val="3"/>
                <c:pt idx="0">
                  <c:v>70</c:v>
                </c:pt>
                <c:pt idx="1">
                  <c:v>53</c:v>
                </c:pt>
                <c:pt idx="2">
                  <c:v>45</c:v>
                </c:pt>
              </c:numCache>
            </c:numRef>
          </c:val>
        </c:ser>
        <c:dLbls>
          <c:numFmt formatCode="#,##0" sourceLinked="0"/>
          <c:txPr>
            <a:bodyPr/>
            <a:lstStyle/>
            <a:p>
              <a:pPr>
                <a:defRPr b="0" i="0" strike="noStrike" sz="1100" u="none">
                  <a:solidFill>
                    <a:srgbClr val="1D2B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4A5E"/>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12700" cap="flat">
              <a:solidFill>
                <a:srgbClr val="DD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F4A5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F4A5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TTC閾値ごとの発生率の差 [ポイント]</a:t>
            </a:r>
          </a:p>
        </c:rich>
      </c:tx>
      <c:layout/>
      <c:overlay val="0"/>
    </c:title>
    <c:autoTitleDeleted val="0"/>
    <c:plotArea>
      <c:layout/>
      <c:lineChart>
        <c:varyColors val="0"/>
        <c:ser>
          <c:idx val="0"/>
          <c:order val="0"/>
          <c:tx>
            <c:strRef>
              <c:f>Sheet1!$B$1</c:f>
              <c:strCache>
                <c:ptCount val="1"/>
                <c:pt idx="0">
                  <c:v>1.8.0 − 1.7.1</c:v>
                </c:pt>
              </c:strCache>
            </c:strRef>
          </c:tx>
          <c:spPr>
            <a:solidFill>
              <a:srgbClr val="7A8590"/>
            </a:solidFill>
            <a:ln w="38100" cap="flat">
              <a:solidFill>
                <a:srgbClr val="7A8590"/>
              </a:solidFill>
              <a:prstDash val="solid"/>
              <a:round/>
            </a:ln>
            <a:effectLst/>
          </c:spPr>
          <c:invertIfNegative val="0"/>
          <c:dLbls>
            <c:numFmt formatCode="#,##0" sourceLinked="0"/>
            <c:txPr>
              <a:bodyPr/>
              <a:lstStyle/>
              <a:p>
                <a:pPr>
                  <a:defRPr b="0" i="0" strike="noStrike" sz="1100" u="none">
                    <a:solidFill>
                      <a:srgbClr val="1D2B3A"/>
                    </a:solidFill>
                    <a:latin typeface="+mn-lt"/>
                  </a:defRPr>
                </a:pPr>
              </a:p>
            </c:txPr>
            <c:showLegendKey val="0"/>
            <c:showVal val="0"/>
            <c:showCatName val="0"/>
            <c:showSerName val="0"/>
            <c:showPercent val="0"/>
            <c:showBubbleSize val="0"/>
            <c:showLeaderLines val="0"/>
          </c:dLbls>
          <c:marker>
            <c:symbol val="circle"/>
            <c:size val="8"/>
            <c:spPr>
              <a:solidFill>
                <a:srgbClr val="7A8590"/>
              </a:solidFill>
              <a:ln w="9525" cap="flat">
                <a:solidFill>
                  <a:srgbClr val="7A8590"/>
                </a:solidFill>
                <a:prstDash val="solid"/>
                <a:round/>
              </a:ln>
              <a:effectLst/>
            </c:spPr>
          </c:marker>
          <c:cat>
            <c:multiLvlStrRef>
              <c:f>Sheet1!$A$2:$A$9</c:f>
              <c:multiLvlStrCache>
                <c:ptCount val="8"/>
                <c:lvl>
                  <c:pt idx="0">
                    <c:v>1.5</c:v>
                  </c:pt>
                  <c:pt idx="1">
                    <c:v>1.3</c:v>
                  </c:pt>
                  <c:pt idx="2">
                    <c:v>1.2</c:v>
                  </c:pt>
                  <c:pt idx="3">
                    <c:v>1.1</c:v>
                  </c:pt>
                  <c:pt idx="4">
                    <c:v>0.9</c:v>
                  </c:pt>
                  <c:pt idx="5">
                    <c:v>0.7</c:v>
                  </c:pt>
                  <c:pt idx="6">
                    <c:v>0.5</c:v>
                  </c:pt>
                  <c:pt idx="7">
                    <c:v>0.3</c:v>
                  </c:pt>
                </c:lvl>
              </c:multiLvlStrCache>
            </c:multiLvlStrRef>
          </c:cat>
          <c:val>
            <c:numRef>
              <c:f>Sheet1!$B$2:$B$9</c:f>
              <c:numCache>
                <c:formatCode>General</c:formatCode>
                <c:ptCount val="8"/>
                <c:pt idx="0">
                  <c:v>0.59</c:v>
                </c:pt>
                <c:pt idx="1">
                  <c:v>0.84</c:v>
                </c:pt>
                <c:pt idx="2">
                  <c:v>0.92</c:v>
                </c:pt>
                <c:pt idx="3">
                  <c:v>0.79</c:v>
                </c:pt>
                <c:pt idx="4">
                  <c:v>1.17</c:v>
                </c:pt>
                <c:pt idx="5">
                  <c:v>1.44</c:v>
                </c:pt>
                <c:pt idx="6">
                  <c:v>1.68</c:v>
                </c:pt>
                <c:pt idx="7">
                  <c:v>0.41</c:v>
                </c:pt>
              </c:numCache>
            </c:numRef>
          </c:val>
          <c:smooth val="0"/>
        </c:ser>
        <c:ser>
          <c:idx val="1"/>
          <c:order val="1"/>
          <c:tx>
            <c:strRef>
              <c:f>Sheet1!$C$1</c:f>
              <c:strCache>
                <c:ptCount val="1"/>
                <c:pt idx="0">
                  <c:v>1.9.0 − 1.7.1</c:v>
                </c:pt>
              </c:strCache>
            </c:strRef>
          </c:tx>
          <c:spPr>
            <a:solidFill>
              <a:srgbClr val="4A6FA5"/>
            </a:solidFill>
            <a:ln w="38100" cap="flat">
              <a:solidFill>
                <a:srgbClr val="4A6FA5"/>
              </a:solidFill>
              <a:prstDash val="solid"/>
              <a:round/>
            </a:ln>
            <a:effectLst/>
          </c:spPr>
          <c:invertIfNegative val="0"/>
          <c:dLbls>
            <c:numFmt formatCode="#,##0" sourceLinked="0"/>
            <c:txPr>
              <a:bodyPr/>
              <a:lstStyle/>
              <a:p>
                <a:pPr>
                  <a:defRPr b="0" i="0" strike="noStrike" sz="1100" u="none">
                    <a:solidFill>
                      <a:srgbClr val="1D2B3A"/>
                    </a:solidFill>
                    <a:latin typeface="+mn-lt"/>
                  </a:defRPr>
                </a:pPr>
              </a:p>
            </c:txPr>
            <c:showLegendKey val="0"/>
            <c:showVal val="0"/>
            <c:showCatName val="0"/>
            <c:showSerName val="0"/>
            <c:showPercent val="0"/>
            <c:showBubbleSize val="0"/>
            <c:showLeaderLines val="0"/>
          </c:dLbls>
          <c:marker>
            <c:symbol val="circle"/>
            <c:size val="8"/>
            <c:spPr>
              <a:solidFill>
                <a:srgbClr val="4A6FA5"/>
              </a:solidFill>
              <a:ln w="9525" cap="flat">
                <a:solidFill>
                  <a:srgbClr val="4A6FA5"/>
                </a:solidFill>
                <a:prstDash val="solid"/>
                <a:round/>
              </a:ln>
              <a:effectLst/>
            </c:spPr>
          </c:marker>
          <c:cat>
            <c:multiLvlStrRef>
              <c:f>Sheet1!$A$2:$A$9</c:f>
              <c:multiLvlStrCache>
                <c:ptCount val="8"/>
                <c:lvl>
                  <c:pt idx="0">
                    <c:v>1.5</c:v>
                  </c:pt>
                  <c:pt idx="1">
                    <c:v>1.3</c:v>
                  </c:pt>
                  <c:pt idx="2">
                    <c:v>1.2</c:v>
                  </c:pt>
                  <c:pt idx="3">
                    <c:v>1.1</c:v>
                  </c:pt>
                  <c:pt idx="4">
                    <c:v>0.9</c:v>
                  </c:pt>
                  <c:pt idx="5">
                    <c:v>0.7</c:v>
                  </c:pt>
                  <c:pt idx="6">
                    <c:v>0.5</c:v>
                  </c:pt>
                  <c:pt idx="7">
                    <c:v>0.3</c:v>
                  </c:pt>
                </c:lvl>
              </c:multiLvlStrCache>
            </c:multiLvlStrRef>
          </c:cat>
          <c:val>
            <c:numRef>
              <c:f>Sheet1!$C$2:$C$9</c:f>
              <c:numCache>
                <c:formatCode>General</c:formatCode>
                <c:ptCount val="8"/>
                <c:pt idx="0">
                  <c:v>1.88</c:v>
                </c:pt>
                <c:pt idx="1">
                  <c:v>1.63</c:v>
                </c:pt>
                <c:pt idx="2">
                  <c:v>1.59</c:v>
                </c:pt>
                <c:pt idx="3">
                  <c:v>1.34</c:v>
                </c:pt>
                <c:pt idx="4">
                  <c:v>1.36</c:v>
                </c:pt>
                <c:pt idx="5">
                  <c:v>1.35</c:v>
                </c:pt>
                <c:pt idx="6">
                  <c:v>1.01</c:v>
                </c:pt>
                <c:pt idx="7">
                  <c:v>0.14</c:v>
                </c:pt>
              </c:numCache>
            </c:numRef>
          </c:val>
          <c:smooth val="0"/>
        </c:ser>
        <c:ser>
          <c:idx val="2"/>
          <c:order val="2"/>
          <c:tx>
            <c:strRef>
              <c:f>Sheet1!$D$1</c:f>
              <c:strCache>
                <c:ptCount val="1"/>
                <c:pt idx="0">
                  <c:v>1.9.0 − 1.8.0</c:v>
                </c:pt>
              </c:strCache>
            </c:strRef>
          </c:tx>
          <c:spPr>
            <a:solidFill>
              <a:srgbClr val="E07A1F"/>
            </a:solidFill>
            <a:ln w="38100" cap="flat">
              <a:solidFill>
                <a:srgbClr val="E07A1F"/>
              </a:solidFill>
              <a:prstDash val="solid"/>
              <a:round/>
            </a:ln>
            <a:effectLst/>
          </c:spPr>
          <c:invertIfNegative val="0"/>
          <c:dLbls>
            <c:numFmt formatCode="#,##0" sourceLinked="0"/>
            <c:txPr>
              <a:bodyPr/>
              <a:lstStyle/>
              <a:p>
                <a:pPr>
                  <a:defRPr b="0" i="0" strike="noStrike" sz="1100" u="none">
                    <a:solidFill>
                      <a:srgbClr val="1D2B3A"/>
                    </a:solidFill>
                    <a:latin typeface="+mn-lt"/>
                  </a:defRPr>
                </a:pPr>
              </a:p>
            </c:txPr>
            <c:showLegendKey val="0"/>
            <c:showVal val="0"/>
            <c:showCatName val="0"/>
            <c:showSerName val="0"/>
            <c:showPercent val="0"/>
            <c:showBubbleSize val="0"/>
            <c:showLeaderLines val="0"/>
          </c:dLbls>
          <c:marker>
            <c:symbol val="circle"/>
            <c:size val="8"/>
            <c:spPr>
              <a:solidFill>
                <a:srgbClr val="E07A1F"/>
              </a:solidFill>
              <a:ln w="9525" cap="flat">
                <a:solidFill>
                  <a:srgbClr val="E07A1F"/>
                </a:solidFill>
                <a:prstDash val="solid"/>
                <a:round/>
              </a:ln>
              <a:effectLst/>
            </c:spPr>
          </c:marker>
          <c:cat>
            <c:multiLvlStrRef>
              <c:f>Sheet1!$A$2:$A$9</c:f>
              <c:multiLvlStrCache>
                <c:ptCount val="8"/>
                <c:lvl>
                  <c:pt idx="0">
                    <c:v>1.5</c:v>
                  </c:pt>
                  <c:pt idx="1">
                    <c:v>1.3</c:v>
                  </c:pt>
                  <c:pt idx="2">
                    <c:v>1.2</c:v>
                  </c:pt>
                  <c:pt idx="3">
                    <c:v>1.1</c:v>
                  </c:pt>
                  <c:pt idx="4">
                    <c:v>0.9</c:v>
                  </c:pt>
                  <c:pt idx="5">
                    <c:v>0.7</c:v>
                  </c:pt>
                  <c:pt idx="6">
                    <c:v>0.5</c:v>
                  </c:pt>
                  <c:pt idx="7">
                    <c:v>0.3</c:v>
                  </c:pt>
                </c:lvl>
              </c:multiLvlStrCache>
            </c:multiLvlStrRef>
          </c:cat>
          <c:val>
            <c:numRef>
              <c:f>Sheet1!$D$2:$D$9</c:f>
              <c:numCache>
                <c:formatCode>General</c:formatCode>
                <c:ptCount val="8"/>
                <c:pt idx="0">
                  <c:v>1.29</c:v>
                </c:pt>
                <c:pt idx="1">
                  <c:v>0.79</c:v>
                </c:pt>
                <c:pt idx="2">
                  <c:v>0.67</c:v>
                </c:pt>
                <c:pt idx="3">
                  <c:v>0.55</c:v>
                </c:pt>
                <c:pt idx="4">
                  <c:v>0.19</c:v>
                </c:pt>
                <c:pt idx="5">
                  <c:v>-0.09</c:v>
                </c:pt>
                <c:pt idx="6">
                  <c:v>-0.67</c:v>
                </c:pt>
                <c:pt idx="7">
                  <c:v>-0.27</c:v>
                </c:pt>
              </c:numCache>
            </c:numRef>
          </c:val>
          <c:smooth val="0"/>
        </c:ser>
        <c:dLbls>
          <c:numFmt formatCode="#,##0" sourceLinked="0"/>
          <c:txPr>
            <a:bodyPr/>
            <a:lstStyle/>
            <a:p>
              <a:pPr>
                <a:defRPr b="0" i="0" strike="noStrike" sz="1100" u="none">
                  <a:solidFill>
                    <a:srgbClr val="1D2B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2F4A5E"/>
                    </a:solidFill>
                    <a:latin typeface="+mn-lt"/>
                  </a:defRPr>
                </a:pPr>
                <a:r>
                  <a:rPr sz="1200" b="0" i="0" u="none" strike="noStrike">
                    <a:solidFill>
                      <a:srgbClr val="2F4A5E"/>
                    </a:solidFill>
                    <a:latin typeface="+mn-lt"/>
                  </a:rPr>
                  <a:t>TTC閾値 [秒] (左ほど軽い接近)</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4A5E"/>
                </a:solidFill>
                <a:latin typeface="+mn-lt"/>
              </a:defRPr>
            </a:pPr>
            <a:endParaRPr lang="en-US"/>
          </a:p>
        </c:txPr>
        <c:crossAx val="2094734552"/>
        <c:crosses val="autoZero"/>
        <c:auto val="1"/>
        <c:lblAlgn val="ctr"/>
        <c:noMultiLvlLbl val="1"/>
      </c:catAx>
      <c:valAx>
        <c:axId val="2094734552"/>
        <c:scaling>
          <c:orientation val="minMax"/>
          <c:max val="2"/>
          <c:min val="-1"/>
        </c:scaling>
        <c:delete val="0"/>
        <c:axPos val="l"/>
        <c:majorGridlines>
          <c:spPr>
            <a:ln w="12700" cap="flat">
              <a:solidFill>
                <a:srgbClr val="DDE3E8"/>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F4A5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F4A5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Autoware 1.7.1で行った二項信頼区間実験の有効標本9,066件を、同じ入力値のまま1.8.0と1.9.0で再実行し、3バージョンの安全性を一対一で比較した報告です。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結論です。1.8.0と1.9.0の最終衝突率は変わりませんでした。一方で1.9.0は、初期距離が長く理論上は人でも止まれる条件で、TTC1.5秒未満の軽い接近を1.8.0より多く起こしています。また、どのバージョン間でも約2.4%のケースで衝突結果が入れ替わり、1.7.1との差にはこの揺れが多く含ま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この実験では3つの問いを立てました。衝突率、接近の程度、そして観測された差がバージョンによるものか、再実行による揺れなのかです。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1.7.1の二項信頼区間実験は18,419試行で、そのうち衝突判定まで有効だった9,066件を、1.8.0と1.9.0で同じ入力のまま再実行しました。どのバージョンでも失敗の再試行はしていません。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は公式imageをdigestで固定し、その上に1.8.0のimageにあったAWSIM互換層を同じ内容で再現し、さらに1.8.0と同じEKF診断の修正を当てました。ネットワーク設定は学内LANの事故を受けた1.8.0の設定と全く同じ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公式1.9.0でも、1.8.0と同じくEKFの診断が正常な周期にWARNを出し、MRMが非常停止を繰り返しました。代表ケースで自動運転開始からNPCが動き出すまで約85秒かかっていたのが、修正後は約5.5秒になりました。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の失敗は152件、1.9.0は116件でした。再試行はしていません。analysis_errorとexecution_errorは両バージョンで1件も重ならず、偶発的な失敗と考えられます。1.9.0の実行中にGPUがcontainerから見えなくなる障害が4回ありましたが、自動で再作成されケースは失われ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timeoutだけは両バージョンで13件重なりました。独立なら1.9件の期待値なので明らかに偏っています。13件ともtrace JSONが出ないartifact_timeoutで、高速・短距離の、ほぼ確実に衝突する条件に集まっています。この領域のtimeoutは3バージョン共通です。失敗を除外して衝突率を出すと、最も危険なケースが抜けるので、報告では失敗を衝突・非衝突とみなした場合の幅も併記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バージョンすべてで有効だった8,811件の衝突率は37.8%から38.3%で、1.8.0と1.9.0の差は0.11ポイント、p=0.53で差はありません。1.7.1と1.9.0の差はp=0.011で有意ですが、次のスライドで見るように、これは1.7.1だけが異なるパターンから来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バージョンの結果の組み合わせを見ると、1.7.1だけ、1.8.0だけ、1.9.0だけが異なる件数は112、106、100でほぼ同じでした。反転の大半は揺れと考えられます。方向の偏りがあるのは1.7.1だけが異なる場合で、replay2本がそろって衝突する方向に偏っています。1.8.0で反転した218件は、1.9.0ではほぼ五分五分に分かれ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復実験r01では、同じ1.7.1を再実行しただけで、無作為群でも3.6%が反転し、境界のケースでは衝突側への偏りも出ました。したがって1.7.1元データとの差は、バージョン効果とは断定できません。1.8.0と1.9.0は同じreplay経路なので、この比較が最も信頼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Cの8段階の判定です。24検定にHolm補正をかけています。1.7.1と比べると両replayとも広い閾値で増えていますが、前のスライドの理由で解釈は慎重にします。1.8.0から1.9.0では、1.5秒未満と1.3秒未満だけが有意に増え、0.9秒未満の重い接近や4m以内への接近、最終衝突には差が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から1.9.0でTTC1.5秒未満が増えたケースを条件別に見ると、初期距離20〜25mの、本来余裕のある条件に集中しています。22.5〜25mでは悪化85件に対し改善15件です。短距離や高速の条件はもともと両方ほぼ100%なので差が出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Aの停止距離モデルで条件を分けました。人でもAEBでも止まれる領域Aでは、1.9.0はTTC1.5秒未満が2.27ポイント増え、危険度も有意に悪化しています。人は止まれない領域Bでは差がなく、危険度はむしろわずかに改善しています。全体の危険度の差が有意でないのは、この2つが打ち消し合うた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方で変わらなかったものです。ロジスティック回帰で推定した衝突境界は1.8.0と1.9.0で1cmしか動かず、4m以内への接近も差がありません。1.8.0で全く接近しなかったケースが1.9.0で悪化した219件にも、衝突に至ったものはありません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の途中で2つの記録の欠落を見つけました。連続値のmin_ttcは、v2への移行時に抽出処理が呼ばれなくなっていたため3バージョンとも記録されていません。1.9.0の計画軌道は、Autoware側で古いtopic名の中継が削除されたのに、Runtime Monitorが古い名前を購読していたため空でした。どちらも衝突とTTCの判定には影響しないので今回の比較は有効ですが、連続値と計画の分析はできません。両方とも修正済みです。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今後は、3バージョンを同じ時期に反復実行して元実験と再実行の違いを切り分けること、余裕のある条件のケースを修正後の環境で1.9.0で再実行して計画軌道を比べること、共通timeoutの原因を調べることを予定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TTC判定の全検定結果です。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データはすべて外付けSSDのパッケージにまとめています。分析はAWSIM_launchのtools.analysis.compare_autoware_versionsで再現できます。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6459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Autoware 1.7.1 / 1.8.0 / 1.9.0 AWSIM比較実験 | 2026-10-05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Autoware 1.7.1 / 1.8.0 / 1.9.0 AWSIM比較実験 | 2026-10-05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645920"/>
          </a:xfrm>
          <a:prstGeom prst="rect">
            <a:avLst/>
          </a:prstGeom>
          <a:noFill/>
          <a:ln/>
        </p:spPr>
        <p:txBody>
          <a:bodyPr wrap="square" rtlCol="0" anchor="b"/>
          <a:lstStyle/>
          <a:p>
            <a:pPr algn="l" indent="0" marL="0">
              <a:buNone/>
            </a:pPr>
            <a:r>
              <a:rPr lang="en-US" sz="3600" b="1" dirty="0">
                <a:solidFill>
                  <a:schemeClr val="bg1"/>
                </a:solidFill>
              </a:rPr>
              <a:t>Autoware 1.7.1 / 1.8.0 / 1.9.0</a:t>
            </a:r>
            <a:endParaRPr lang="en-US" sz="3600" dirty="0"/>
          </a:p>
          <a:p>
            <a:pPr algn="l" indent="0" marL="0">
              <a:buNone/>
            </a:pPr>
            <a:r>
              <a:rPr lang="en-US" sz="3600" b="1" dirty="0">
                <a:solidFill>
                  <a:schemeClr val="bg1"/>
                </a:solidFill>
              </a:rPr>
              <a:t>AWSIM比較実験</a:t>
            </a:r>
            <a:endParaRPr lang="en-US" sz="36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nchor="t"/>
          <a:lstStyle/>
          <a:p>
            <a:pPr indent="0" marL="0">
              <a:buNone/>
            </a:pPr>
            <a:r>
              <a:rPr lang="en-US" sz="1800" dirty="0">
                <a:solidFill>
                  <a:schemeClr val="bg2"/>
                </a:solidFill>
              </a:rPr>
              <a:t>同一入力 9,066件の replay による安全性の比較</a:t>
            </a:r>
            <a:endParaRPr lang="en-US" sz="1800" dirty="0"/>
          </a:p>
          <a:p>
            <a:pPr indent="0" marL="0">
              <a:buNone/>
            </a:pPr>
            <a:r>
              <a:rPr lang="en-US" sz="1800" dirty="0">
                <a:solidFill>
                  <a:schemeClr val="bg2"/>
                </a:solidFill>
              </a:rPr>
              <a:t>2026-10-05 研究室報告</a:t>
            </a:r>
            <a:endParaRPr lang="en-US" sz="1800" dirty="0"/>
          </a:p>
        </p:txBody>
      </p:sp>
      <p:sp>
        <p:nvSpPr>
          <p:cNvPr id="4" name="dot-1"/>
          <p:cNvSpPr/>
          <p:nvPr/>
        </p:nvSpPr>
        <p:spPr>
          <a:xfrm>
            <a:off x="731520" y="5349240"/>
            <a:ext cx="329184" cy="329184"/>
          </a:xfrm>
          <a:prstGeom prst="ellipse">
            <a:avLst/>
          </a:prstGeom>
          <a:solidFill>
            <a:schemeClr val="accent3"/>
          </a:solidFill>
          <a:ln w="12700">
            <a:solidFill>
              <a:schemeClr val="accent3"/>
            </a:solidFill>
            <a:prstDash val="solid"/>
          </a:ln>
        </p:spPr>
      </p:sp>
      <p:sp>
        <p:nvSpPr>
          <p:cNvPr id="5" name="text-2"/>
          <p:cNvSpPr txBox="1"/>
          <p:nvPr/>
        </p:nvSpPr>
        <p:spPr>
          <a:xfrm>
            <a:off x="1143000" y="5349240"/>
            <a:ext cx="1188720" cy="329184"/>
          </a:xfrm>
          <a:prstGeom prst="rect">
            <a:avLst/>
          </a:prstGeom>
          <a:noFill/>
          <a:ln/>
        </p:spPr>
        <p:txBody>
          <a:bodyPr wrap="square" lIns="0" tIns="0" rIns="0" bIns="0" rtlCol="0" anchor="ctr"/>
          <a:lstStyle/>
          <a:p>
            <a:pPr indent="0" marL="0">
              <a:buNone/>
            </a:pPr>
            <a:r>
              <a:rPr lang="en-US" sz="1600" dirty="0">
                <a:solidFill>
                  <a:schemeClr val="bg1"/>
                </a:solidFill>
              </a:rPr>
              <a:t>1.7.1</a:t>
            </a:r>
            <a:endParaRPr lang="en-US" sz="1600" dirty="0"/>
          </a:p>
        </p:txBody>
      </p:sp>
      <p:sp>
        <p:nvSpPr>
          <p:cNvPr id="6" name="dot-3"/>
          <p:cNvSpPr/>
          <p:nvPr/>
        </p:nvSpPr>
        <p:spPr>
          <a:xfrm>
            <a:off x="2468880" y="5349240"/>
            <a:ext cx="329184" cy="329184"/>
          </a:xfrm>
          <a:prstGeom prst="ellipse">
            <a:avLst/>
          </a:prstGeom>
          <a:solidFill>
            <a:schemeClr val="accent1"/>
          </a:solidFill>
          <a:ln w="12700">
            <a:solidFill>
              <a:schemeClr val="accent1"/>
            </a:solidFill>
            <a:prstDash val="solid"/>
          </a:ln>
        </p:spPr>
      </p:sp>
      <p:sp>
        <p:nvSpPr>
          <p:cNvPr id="7" name="text-4"/>
          <p:cNvSpPr txBox="1"/>
          <p:nvPr/>
        </p:nvSpPr>
        <p:spPr>
          <a:xfrm>
            <a:off x="2880360" y="5349240"/>
            <a:ext cx="1188720" cy="329184"/>
          </a:xfrm>
          <a:prstGeom prst="rect">
            <a:avLst/>
          </a:prstGeom>
          <a:noFill/>
          <a:ln/>
        </p:spPr>
        <p:txBody>
          <a:bodyPr wrap="square" lIns="0" tIns="0" rIns="0" bIns="0" rtlCol="0" anchor="ctr"/>
          <a:lstStyle/>
          <a:p>
            <a:pPr indent="0" marL="0">
              <a:buNone/>
            </a:pPr>
            <a:r>
              <a:rPr lang="en-US" sz="1600" dirty="0">
                <a:solidFill>
                  <a:schemeClr val="bg1"/>
                </a:solidFill>
              </a:rPr>
              <a:t>1.8.0</a:t>
            </a:r>
            <a:endParaRPr lang="en-US" sz="1600" dirty="0"/>
          </a:p>
        </p:txBody>
      </p:sp>
      <p:sp>
        <p:nvSpPr>
          <p:cNvPr id="8" name="dot-5"/>
          <p:cNvSpPr/>
          <p:nvPr/>
        </p:nvSpPr>
        <p:spPr>
          <a:xfrm>
            <a:off x="4206240" y="5349240"/>
            <a:ext cx="329184" cy="329184"/>
          </a:xfrm>
          <a:prstGeom prst="ellipse">
            <a:avLst/>
          </a:prstGeom>
          <a:solidFill>
            <a:schemeClr val="accent2"/>
          </a:solidFill>
          <a:ln w="12700">
            <a:solidFill>
              <a:schemeClr val="accent2"/>
            </a:solidFill>
            <a:prstDash val="solid"/>
          </a:ln>
        </p:spPr>
      </p:sp>
      <p:sp>
        <p:nvSpPr>
          <p:cNvPr id="9" name="text-6"/>
          <p:cNvSpPr txBox="1"/>
          <p:nvPr/>
        </p:nvSpPr>
        <p:spPr>
          <a:xfrm>
            <a:off x="4617720" y="5349240"/>
            <a:ext cx="1188720" cy="329184"/>
          </a:xfrm>
          <a:prstGeom prst="rect">
            <a:avLst/>
          </a:prstGeom>
          <a:noFill/>
          <a:ln/>
        </p:spPr>
        <p:txBody>
          <a:bodyPr wrap="square" lIns="0" tIns="0" rIns="0" bIns="0" rtlCol="0" anchor="ctr"/>
          <a:lstStyle/>
          <a:p>
            <a:pPr indent="0" marL="0">
              <a:buNone/>
            </a:pPr>
            <a:r>
              <a:rPr lang="en-US" sz="1600" dirty="0">
                <a:solidFill>
                  <a:schemeClr val="bg1"/>
                </a:solidFill>
              </a:rPr>
              <a:t>1.9.0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bg1"/>
                </a:solidFill>
              </a:rPr>
              <a:t>結論</a:t>
            </a:r>
            <a:endParaRPr lang="en-US" sz="3000" dirty="0"/>
          </a:p>
        </p:txBody>
      </p:sp>
      <p:sp>
        <p:nvSpPr>
          <p:cNvPr id="3" name="card-7"/>
          <p:cNvSpPr/>
          <p:nvPr/>
        </p:nvSpPr>
        <p:spPr>
          <a:xfrm>
            <a:off x="548640" y="1371600"/>
            <a:ext cx="3566160" cy="2926080"/>
          </a:xfrm>
          <a:prstGeom prst="roundRect">
            <a:avLst>
              <a:gd name="adj" fmla="val 3750"/>
            </a:avLst>
          </a:prstGeom>
          <a:solidFill>
            <a:schemeClr val="tx2"/>
          </a:solidFill>
          <a:ln w="12700">
            <a:solidFill>
              <a:schemeClr val="tx2"/>
            </a:solidFill>
            <a:prstDash val="solid"/>
          </a:ln>
        </p:spPr>
      </p:sp>
      <p:sp>
        <p:nvSpPr>
          <p:cNvPr id="4" name="text-8"/>
          <p:cNvSpPr txBox="1"/>
          <p:nvPr/>
        </p:nvSpPr>
        <p:spPr>
          <a:xfrm>
            <a:off x="822960" y="1600200"/>
            <a:ext cx="3017520" cy="914400"/>
          </a:xfrm>
          <a:prstGeom prst="rect">
            <a:avLst/>
          </a:prstGeom>
          <a:noFill/>
          <a:ln/>
        </p:spPr>
        <p:txBody>
          <a:bodyPr wrap="square" lIns="0" tIns="0" rIns="0" bIns="0" rtlCol="0" anchor="ctr"/>
          <a:lstStyle/>
          <a:p>
            <a:pPr indent="0" marL="0">
              <a:buNone/>
            </a:pPr>
            <a:r>
              <a:rPr lang="en-US" sz="4000" b="1" dirty="0">
                <a:solidFill>
                  <a:schemeClr val="accent5"/>
                </a:solidFill>
              </a:rPr>
              <a:t>+0.11 pt</a:t>
            </a:r>
            <a:endParaRPr lang="en-US" sz="4000" dirty="0"/>
          </a:p>
        </p:txBody>
      </p:sp>
      <p:sp>
        <p:nvSpPr>
          <p:cNvPr id="5" name="text-9"/>
          <p:cNvSpPr txBox="1"/>
          <p:nvPr/>
        </p:nvSpPr>
        <p:spPr>
          <a:xfrm>
            <a:off x="822960" y="2560320"/>
            <a:ext cx="3017520" cy="640080"/>
          </a:xfrm>
          <a:prstGeom prst="rect">
            <a:avLst/>
          </a:prstGeom>
          <a:noFill/>
          <a:ln/>
        </p:spPr>
        <p:txBody>
          <a:bodyPr wrap="square" lIns="0" tIns="0" rIns="0" bIns="0" rtlCol="0" anchor="t"/>
          <a:lstStyle/>
          <a:p>
            <a:pPr indent="0" marL="0">
              <a:buNone/>
            </a:pPr>
            <a:r>
              <a:rPr lang="en-US" sz="1500" b="1" dirty="0">
                <a:solidFill>
                  <a:schemeClr val="bg1"/>
                </a:solidFill>
              </a:rPr>
              <a:t>1.8.0 → 1.9.0 の衝突率の差</a:t>
            </a:r>
            <a:endParaRPr lang="en-US" sz="1500" dirty="0"/>
          </a:p>
        </p:txBody>
      </p:sp>
      <p:sp>
        <p:nvSpPr>
          <p:cNvPr id="6" name="text-10"/>
          <p:cNvSpPr txBox="1"/>
          <p:nvPr/>
        </p:nvSpPr>
        <p:spPr>
          <a:xfrm>
            <a:off x="822960" y="3200400"/>
            <a:ext cx="3017520" cy="914400"/>
          </a:xfrm>
          <a:prstGeom prst="rect">
            <a:avLst/>
          </a:prstGeom>
          <a:noFill/>
          <a:ln/>
        </p:spPr>
        <p:txBody>
          <a:bodyPr wrap="square" lIns="0" tIns="0" rIns="0" bIns="0" rtlCol="0" anchor="t"/>
          <a:lstStyle/>
          <a:p>
            <a:pPr indent="0" marL="0">
              <a:buNone/>
            </a:pPr>
            <a:r>
              <a:rPr lang="en-US" sz="1300" dirty="0">
                <a:solidFill>
                  <a:schemeClr val="bg2"/>
                </a:solidFill>
              </a:rPr>
              <a:t>38.13% → 38.25%、p = 0.53。危険な場面での衝突のしやすさは変わらない</a:t>
            </a:r>
            <a:endParaRPr lang="en-US" sz="1300" dirty="0"/>
          </a:p>
        </p:txBody>
      </p:sp>
      <p:sp>
        <p:nvSpPr>
          <p:cNvPr id="7" name="card-11"/>
          <p:cNvSpPr/>
          <p:nvPr/>
        </p:nvSpPr>
        <p:spPr>
          <a:xfrm>
            <a:off x="4297680" y="1371600"/>
            <a:ext cx="3566160" cy="2926080"/>
          </a:xfrm>
          <a:prstGeom prst="roundRect">
            <a:avLst>
              <a:gd name="adj" fmla="val 3750"/>
            </a:avLst>
          </a:prstGeom>
          <a:solidFill>
            <a:schemeClr val="tx2"/>
          </a:solidFill>
          <a:ln w="12700">
            <a:solidFill>
              <a:schemeClr val="tx2"/>
            </a:solidFill>
            <a:prstDash val="solid"/>
          </a:ln>
        </p:spPr>
      </p:sp>
      <p:sp>
        <p:nvSpPr>
          <p:cNvPr id="8" name="text-12"/>
          <p:cNvSpPr txBox="1"/>
          <p:nvPr/>
        </p:nvSpPr>
        <p:spPr>
          <a:xfrm>
            <a:off x="4572000" y="1600200"/>
            <a:ext cx="3017520" cy="914400"/>
          </a:xfrm>
          <a:prstGeom prst="rect">
            <a:avLst/>
          </a:prstGeom>
          <a:noFill/>
          <a:ln/>
        </p:spPr>
        <p:txBody>
          <a:bodyPr wrap="square" lIns="0" tIns="0" rIns="0" bIns="0" rtlCol="0" anchor="ctr"/>
          <a:lstStyle/>
          <a:p>
            <a:pPr indent="0" marL="0">
              <a:buNone/>
            </a:pPr>
            <a:r>
              <a:rPr lang="en-US" sz="4000" b="1" dirty="0">
                <a:solidFill>
                  <a:schemeClr val="accent2"/>
                </a:solidFill>
              </a:rPr>
              <a:t>+2.27 pt</a:t>
            </a:r>
            <a:endParaRPr lang="en-US" sz="4000" dirty="0"/>
          </a:p>
        </p:txBody>
      </p:sp>
      <p:sp>
        <p:nvSpPr>
          <p:cNvPr id="9" name="text-13"/>
          <p:cNvSpPr txBox="1"/>
          <p:nvPr/>
        </p:nvSpPr>
        <p:spPr>
          <a:xfrm>
            <a:off x="4572000" y="2560320"/>
            <a:ext cx="3017520" cy="640080"/>
          </a:xfrm>
          <a:prstGeom prst="rect">
            <a:avLst/>
          </a:prstGeom>
          <a:noFill/>
          <a:ln/>
        </p:spPr>
        <p:txBody>
          <a:bodyPr wrap="square" lIns="0" tIns="0" rIns="0" bIns="0" rtlCol="0" anchor="t"/>
          <a:lstStyle/>
          <a:p>
            <a:pPr indent="0" marL="0">
              <a:buNone/>
            </a:pPr>
            <a:r>
              <a:rPr lang="en-US" sz="1500" b="1" dirty="0">
                <a:solidFill>
                  <a:schemeClr val="bg1"/>
                </a:solidFill>
              </a:rPr>
              <a:t>余裕のある条件での軽い接近</a:t>
            </a:r>
            <a:endParaRPr lang="en-US" sz="1500" dirty="0"/>
          </a:p>
        </p:txBody>
      </p:sp>
      <p:sp>
        <p:nvSpPr>
          <p:cNvPr id="10" name="text-14"/>
          <p:cNvSpPr txBox="1"/>
          <p:nvPr/>
        </p:nvSpPr>
        <p:spPr>
          <a:xfrm>
            <a:off x="4572000" y="3200400"/>
            <a:ext cx="3017520" cy="914400"/>
          </a:xfrm>
          <a:prstGeom prst="rect">
            <a:avLst/>
          </a:prstGeom>
          <a:noFill/>
          <a:ln/>
        </p:spPr>
        <p:txBody>
          <a:bodyPr wrap="square" lIns="0" tIns="0" rIns="0" bIns="0" rtlCol="0" anchor="t"/>
          <a:lstStyle/>
          <a:p>
            <a:pPr indent="0" marL="0">
              <a:buNone/>
            </a:pPr>
            <a:r>
              <a:rPr lang="en-US" sz="1300" dirty="0">
                <a:solidFill>
                  <a:schemeClr val="bg2"/>
                </a:solidFill>
              </a:rPr>
              <a:t>人でも止まれる領域AでTTC 1.5秒未満が増加 (1.8.0 → 1.9.0、p = 2e-10)</a:t>
            </a:r>
            <a:endParaRPr lang="en-US" sz="1300" dirty="0"/>
          </a:p>
        </p:txBody>
      </p:sp>
      <p:sp>
        <p:nvSpPr>
          <p:cNvPr id="11" name="card-15"/>
          <p:cNvSpPr/>
          <p:nvPr/>
        </p:nvSpPr>
        <p:spPr>
          <a:xfrm>
            <a:off x="8046720" y="1371600"/>
            <a:ext cx="3566160" cy="2926080"/>
          </a:xfrm>
          <a:prstGeom prst="roundRect">
            <a:avLst>
              <a:gd name="adj" fmla="val 3750"/>
            </a:avLst>
          </a:prstGeom>
          <a:solidFill>
            <a:schemeClr val="tx2"/>
          </a:solidFill>
          <a:ln w="12700">
            <a:solidFill>
              <a:schemeClr val="tx2"/>
            </a:solidFill>
            <a:prstDash val="solid"/>
          </a:ln>
        </p:spPr>
      </p:sp>
      <p:sp>
        <p:nvSpPr>
          <p:cNvPr id="12" name="text-16"/>
          <p:cNvSpPr txBox="1"/>
          <p:nvPr/>
        </p:nvSpPr>
        <p:spPr>
          <a:xfrm>
            <a:off x="8321040" y="1600200"/>
            <a:ext cx="3017520" cy="914400"/>
          </a:xfrm>
          <a:prstGeom prst="rect">
            <a:avLst/>
          </a:prstGeom>
          <a:noFill/>
          <a:ln/>
        </p:spPr>
        <p:txBody>
          <a:bodyPr wrap="square" lIns="0" tIns="0" rIns="0" bIns="0" rtlCol="0" anchor="ctr"/>
          <a:lstStyle/>
          <a:p>
            <a:pPr indent="0" marL="0">
              <a:buNone/>
            </a:pPr>
            <a:r>
              <a:rPr lang="en-US" sz="4000" b="1" dirty="0">
                <a:solidFill>
                  <a:schemeClr val="bg2"/>
                </a:solidFill>
              </a:rPr>
              <a:t>2.4 %</a:t>
            </a:r>
            <a:endParaRPr lang="en-US" sz="4000" dirty="0"/>
          </a:p>
        </p:txBody>
      </p:sp>
      <p:sp>
        <p:nvSpPr>
          <p:cNvPr id="13" name="text-17"/>
          <p:cNvSpPr txBox="1"/>
          <p:nvPr/>
        </p:nvSpPr>
        <p:spPr>
          <a:xfrm>
            <a:off x="8321040" y="2560320"/>
            <a:ext cx="3017520" cy="640080"/>
          </a:xfrm>
          <a:prstGeom prst="rect">
            <a:avLst/>
          </a:prstGeom>
          <a:noFill/>
          <a:ln/>
        </p:spPr>
        <p:txBody>
          <a:bodyPr wrap="square" lIns="0" tIns="0" rIns="0" bIns="0" rtlCol="0" anchor="t"/>
          <a:lstStyle/>
          <a:p>
            <a:pPr indent="0" marL="0">
              <a:buNone/>
            </a:pPr>
            <a:r>
              <a:rPr lang="en-US" sz="1500" b="1" dirty="0">
                <a:solidFill>
                  <a:schemeClr val="bg1"/>
                </a:solidFill>
              </a:rPr>
              <a:t>どのバージョン間でも起きる反転</a:t>
            </a:r>
            <a:endParaRPr lang="en-US" sz="1500" dirty="0"/>
          </a:p>
        </p:txBody>
      </p:sp>
      <p:sp>
        <p:nvSpPr>
          <p:cNvPr id="14" name="text-18"/>
          <p:cNvSpPr txBox="1"/>
          <p:nvPr/>
        </p:nvSpPr>
        <p:spPr>
          <a:xfrm>
            <a:off x="8321040" y="3200400"/>
            <a:ext cx="3017520" cy="914400"/>
          </a:xfrm>
          <a:prstGeom prst="rect">
            <a:avLst/>
          </a:prstGeom>
          <a:noFill/>
          <a:ln/>
        </p:spPr>
        <p:txBody>
          <a:bodyPr wrap="square" lIns="0" tIns="0" rIns="0" bIns="0" rtlCol="0" anchor="t"/>
          <a:lstStyle/>
          <a:p>
            <a:pPr indent="0" marL="0">
              <a:buNone/>
            </a:pPr>
            <a:r>
              <a:rPr lang="en-US" sz="1300" dirty="0">
                <a:solidFill>
                  <a:schemeClr val="bg2"/>
                </a:solidFill>
              </a:rPr>
              <a:t>個別ケースの衝突結果は再実行で入れ替わる。1.7.1との差は揺れを多く含む</a:t>
            </a:r>
            <a:endParaRPr lang="en-US" sz="1300" dirty="0"/>
          </a:p>
        </p:txBody>
      </p:sp>
      <p:sp>
        <p:nvSpPr>
          <p:cNvPr id="15" name="text-19"/>
          <p:cNvSpPr txBox="1"/>
          <p:nvPr/>
        </p:nvSpPr>
        <p:spPr>
          <a:xfrm>
            <a:off x="548640" y="4572000"/>
            <a:ext cx="11064240" cy="822960"/>
          </a:xfrm>
          <a:prstGeom prst="rect">
            <a:avLst/>
          </a:prstGeom>
          <a:noFill/>
          <a:ln/>
        </p:spPr>
        <p:txBody>
          <a:bodyPr wrap="square" lIns="0" tIns="0" rIns="0" bIns="0" rtlCol="0" anchor="ctr"/>
          <a:lstStyle/>
          <a:p>
            <a:pPr indent="0" marL="0">
              <a:buNone/>
            </a:pPr>
            <a:r>
              <a:rPr lang="en-US" sz="2000" b="1" dirty="0">
                <a:solidFill>
                  <a:schemeClr val="bg1"/>
                </a:solidFill>
              </a:rPr>
              <a:t>1.9.0は衝突率・衝突境界を変えないが、1.8.0がTTC 1.5秒以上を保てた余裕のある場面で接近を許す</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Autoware更新で安全性は変わるか</a:t>
            </a:r>
            <a:endParaRPr lang="en-US" sz="3000" dirty="0"/>
          </a:p>
        </p:txBody>
      </p:sp>
      <p:sp>
        <p:nvSpPr>
          <p:cNvPr id="3" name="text-20"/>
          <p:cNvSpPr txBox="1"/>
          <p:nvPr/>
        </p:nvSpPr>
        <p:spPr>
          <a:xfrm>
            <a:off x="548640" y="1234440"/>
            <a:ext cx="11064240" cy="548640"/>
          </a:xfrm>
          <a:prstGeom prst="rect">
            <a:avLst/>
          </a:prstGeom>
          <a:noFill/>
          <a:ln/>
        </p:spPr>
        <p:txBody>
          <a:bodyPr wrap="square" lIns="0" tIns="0" rIns="0" bIns="0" rtlCol="0" anchor="t"/>
          <a:lstStyle/>
          <a:p>
            <a:pPr indent="0" marL="0">
              <a:buNone/>
            </a:pPr>
            <a:r>
              <a:rPr lang="en-US" sz="1600" dirty="0">
                <a:solidFill>
                  <a:schemeClr val="tx2"/>
                </a:solidFill>
              </a:rPr>
              <a:t>同じシナリオ入力をバージョンだけ変えて再実行し、結果をケースごとに対応づけて比べる</a:t>
            </a:r>
            <a:endParaRPr lang="en-US" sz="1600" dirty="0"/>
          </a:p>
        </p:txBody>
      </p:sp>
      <p:sp>
        <p:nvSpPr>
          <p:cNvPr id="4" name="card-21"/>
          <p:cNvSpPr/>
          <p:nvPr/>
        </p:nvSpPr>
        <p:spPr>
          <a:xfrm>
            <a:off x="548640" y="2103120"/>
            <a:ext cx="3566160" cy="3108960"/>
          </a:xfrm>
          <a:prstGeom prst="roundRect">
            <a:avLst>
              <a:gd name="adj" fmla="val 3529"/>
            </a:avLst>
          </a:prstGeom>
          <a:solidFill>
            <a:schemeClr val="bg2"/>
          </a:solidFill>
          <a:ln w="12700">
            <a:solidFill>
              <a:schemeClr val="bg2"/>
            </a:solidFill>
            <a:prstDash val="solid"/>
          </a:ln>
        </p:spPr>
      </p:sp>
      <p:sp>
        <p:nvSpPr>
          <p:cNvPr id="5" name="num-22"/>
          <p:cNvSpPr/>
          <p:nvPr/>
        </p:nvSpPr>
        <p:spPr>
          <a:xfrm>
            <a:off x="822960" y="2377440"/>
            <a:ext cx="731520" cy="731520"/>
          </a:xfrm>
          <a:prstGeom prst="ellipse">
            <a:avLst/>
          </a:prstGeom>
          <a:solidFill>
            <a:schemeClr val="tx1"/>
          </a:solidFill>
          <a:ln w="12700">
            <a:solidFill>
              <a:schemeClr val="tx1"/>
            </a:solidFill>
            <a:prstDash val="solid"/>
          </a:ln>
        </p:spPr>
      </p:sp>
      <p:sp>
        <p:nvSpPr>
          <p:cNvPr id="6" name="text-23"/>
          <p:cNvSpPr txBox="1"/>
          <p:nvPr/>
        </p:nvSpPr>
        <p:spPr>
          <a:xfrm>
            <a:off x="822960" y="2377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24"/>
          <p:cNvSpPr txBox="1"/>
          <p:nvPr/>
        </p:nvSpPr>
        <p:spPr>
          <a:xfrm>
            <a:off x="822960" y="3383280"/>
            <a:ext cx="3017520" cy="640080"/>
          </a:xfrm>
          <a:prstGeom prst="rect">
            <a:avLst/>
          </a:prstGeom>
          <a:noFill/>
          <a:ln/>
        </p:spPr>
        <p:txBody>
          <a:bodyPr wrap="square" lIns="0" tIns="0" rIns="0" bIns="0" rtlCol="0" anchor="t"/>
          <a:lstStyle/>
          <a:p>
            <a:pPr indent="0" marL="0">
              <a:buNone/>
            </a:pPr>
            <a:r>
              <a:rPr lang="en-US" sz="2000" b="1" dirty="0">
                <a:solidFill>
                  <a:schemeClr val="tx1"/>
                </a:solidFill>
              </a:rPr>
              <a:t>衝突率は変わるか</a:t>
            </a:r>
            <a:endParaRPr lang="en-US" sz="2000" dirty="0"/>
          </a:p>
        </p:txBody>
      </p:sp>
      <p:sp>
        <p:nvSpPr>
          <p:cNvPr id="8" name="text-25"/>
          <p:cNvSpPr txBox="1"/>
          <p:nvPr/>
        </p:nvSpPr>
        <p:spPr>
          <a:xfrm>
            <a:off x="822960" y="4114800"/>
            <a:ext cx="3017520" cy="1280160"/>
          </a:xfrm>
          <a:prstGeom prst="rect">
            <a:avLst/>
          </a:prstGeom>
          <a:noFill/>
          <a:ln/>
        </p:spPr>
        <p:txBody>
          <a:bodyPr wrap="square" lIns="0" tIns="0" rIns="0" bIns="0" rtlCol="0" anchor="t"/>
          <a:lstStyle/>
          <a:p>
            <a:pPr indent="0" marL="0">
              <a:buNone/>
            </a:pPr>
            <a:r>
              <a:rPr lang="en-US" sz="1500" dirty="0">
                <a:solidFill>
                  <a:schemeClr val="tx2"/>
                </a:solidFill>
              </a:rPr>
              <a:t>最終的に衝突したかの割合と、衝突境界の位置</a:t>
            </a:r>
            <a:endParaRPr lang="en-US" sz="1500" dirty="0"/>
          </a:p>
        </p:txBody>
      </p:sp>
      <p:sp>
        <p:nvSpPr>
          <p:cNvPr id="9" name="card-26"/>
          <p:cNvSpPr/>
          <p:nvPr/>
        </p:nvSpPr>
        <p:spPr>
          <a:xfrm>
            <a:off x="4297680" y="2103120"/>
            <a:ext cx="3566160" cy="3108960"/>
          </a:xfrm>
          <a:prstGeom prst="roundRect">
            <a:avLst>
              <a:gd name="adj" fmla="val 3529"/>
            </a:avLst>
          </a:prstGeom>
          <a:solidFill>
            <a:schemeClr val="bg2"/>
          </a:solidFill>
          <a:ln w="12700">
            <a:solidFill>
              <a:schemeClr val="bg2"/>
            </a:solidFill>
            <a:prstDash val="solid"/>
          </a:ln>
        </p:spPr>
      </p:sp>
      <p:sp>
        <p:nvSpPr>
          <p:cNvPr id="10" name="num-27"/>
          <p:cNvSpPr/>
          <p:nvPr/>
        </p:nvSpPr>
        <p:spPr>
          <a:xfrm>
            <a:off x="4572000" y="2377440"/>
            <a:ext cx="731520" cy="731520"/>
          </a:xfrm>
          <a:prstGeom prst="ellipse">
            <a:avLst/>
          </a:prstGeom>
          <a:solidFill>
            <a:schemeClr val="tx1"/>
          </a:solidFill>
          <a:ln w="12700">
            <a:solidFill>
              <a:schemeClr val="tx1"/>
            </a:solidFill>
            <a:prstDash val="solid"/>
          </a:ln>
        </p:spPr>
      </p:sp>
      <p:sp>
        <p:nvSpPr>
          <p:cNvPr id="11" name="text-28"/>
          <p:cNvSpPr txBox="1"/>
          <p:nvPr/>
        </p:nvSpPr>
        <p:spPr>
          <a:xfrm>
            <a:off x="4572000" y="2377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29"/>
          <p:cNvSpPr txBox="1"/>
          <p:nvPr/>
        </p:nvSpPr>
        <p:spPr>
          <a:xfrm>
            <a:off x="4572000" y="3383280"/>
            <a:ext cx="3017520" cy="640080"/>
          </a:xfrm>
          <a:prstGeom prst="rect">
            <a:avLst/>
          </a:prstGeom>
          <a:noFill/>
          <a:ln/>
        </p:spPr>
        <p:txBody>
          <a:bodyPr wrap="square" lIns="0" tIns="0" rIns="0" bIns="0" rtlCol="0" anchor="t"/>
          <a:lstStyle/>
          <a:p>
            <a:pPr indent="0" marL="0">
              <a:buNone/>
            </a:pPr>
            <a:r>
              <a:rPr lang="en-US" sz="2000" b="1" dirty="0">
                <a:solidFill>
                  <a:schemeClr val="tx1"/>
                </a:solidFill>
              </a:rPr>
              <a:t>接近の程度は変わるか</a:t>
            </a:r>
            <a:endParaRPr lang="en-US" sz="2000" dirty="0"/>
          </a:p>
        </p:txBody>
      </p:sp>
      <p:sp>
        <p:nvSpPr>
          <p:cNvPr id="13" name="text-30"/>
          <p:cNvSpPr txBox="1"/>
          <p:nvPr/>
        </p:nvSpPr>
        <p:spPr>
          <a:xfrm>
            <a:off x="4572000" y="4114800"/>
            <a:ext cx="3017520" cy="1280160"/>
          </a:xfrm>
          <a:prstGeom prst="rect">
            <a:avLst/>
          </a:prstGeom>
          <a:noFill/>
          <a:ln/>
        </p:spPr>
        <p:txBody>
          <a:bodyPr wrap="square" lIns="0" tIns="0" rIns="0" bIns="0" rtlCol="0" anchor="t"/>
          <a:lstStyle/>
          <a:p>
            <a:pPr indent="0" marL="0">
              <a:buNone/>
            </a:pPr>
            <a:r>
              <a:rPr lang="en-US" sz="1500" dirty="0">
                <a:solidFill>
                  <a:schemeClr val="tx2"/>
                </a:solidFill>
              </a:rPr>
              <a:t>TTC 1.5〜0.3秒の8段階の判定と、4m以内への接近</a:t>
            </a:r>
            <a:endParaRPr lang="en-US" sz="1500" dirty="0"/>
          </a:p>
        </p:txBody>
      </p:sp>
      <p:sp>
        <p:nvSpPr>
          <p:cNvPr id="14" name="card-31"/>
          <p:cNvSpPr/>
          <p:nvPr/>
        </p:nvSpPr>
        <p:spPr>
          <a:xfrm>
            <a:off x="8046720" y="2103120"/>
            <a:ext cx="3566160" cy="3108960"/>
          </a:xfrm>
          <a:prstGeom prst="roundRect">
            <a:avLst>
              <a:gd name="adj" fmla="val 3529"/>
            </a:avLst>
          </a:prstGeom>
          <a:solidFill>
            <a:schemeClr val="bg2"/>
          </a:solidFill>
          <a:ln w="12700">
            <a:solidFill>
              <a:schemeClr val="bg2"/>
            </a:solidFill>
            <a:prstDash val="solid"/>
          </a:ln>
        </p:spPr>
      </p:sp>
      <p:sp>
        <p:nvSpPr>
          <p:cNvPr id="15" name="num-32"/>
          <p:cNvSpPr/>
          <p:nvPr/>
        </p:nvSpPr>
        <p:spPr>
          <a:xfrm>
            <a:off x="8321040" y="2377440"/>
            <a:ext cx="731520" cy="731520"/>
          </a:xfrm>
          <a:prstGeom prst="ellipse">
            <a:avLst/>
          </a:prstGeom>
          <a:solidFill>
            <a:schemeClr val="tx1"/>
          </a:solidFill>
          <a:ln w="12700">
            <a:solidFill>
              <a:schemeClr val="tx1"/>
            </a:solidFill>
            <a:prstDash val="solid"/>
          </a:ln>
        </p:spPr>
      </p:sp>
      <p:sp>
        <p:nvSpPr>
          <p:cNvPr id="16" name="text-33"/>
          <p:cNvSpPr txBox="1"/>
          <p:nvPr/>
        </p:nvSpPr>
        <p:spPr>
          <a:xfrm>
            <a:off x="8321040" y="23774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7" name="text-34"/>
          <p:cNvSpPr txBox="1"/>
          <p:nvPr/>
        </p:nvSpPr>
        <p:spPr>
          <a:xfrm>
            <a:off x="8321040" y="3383280"/>
            <a:ext cx="3017520" cy="640080"/>
          </a:xfrm>
          <a:prstGeom prst="rect">
            <a:avLst/>
          </a:prstGeom>
          <a:noFill/>
          <a:ln/>
        </p:spPr>
        <p:txBody>
          <a:bodyPr wrap="square" lIns="0" tIns="0" rIns="0" bIns="0" rtlCol="0" anchor="t"/>
          <a:lstStyle/>
          <a:p>
            <a:pPr indent="0" marL="0">
              <a:buNone/>
            </a:pPr>
            <a:r>
              <a:rPr lang="en-US" sz="2000" b="1" dirty="0">
                <a:solidFill>
                  <a:schemeClr val="tx1"/>
                </a:solidFill>
              </a:rPr>
              <a:t>差はバージョンか揺れか</a:t>
            </a:r>
            <a:endParaRPr lang="en-US" sz="2000" dirty="0"/>
          </a:p>
        </p:txBody>
      </p:sp>
      <p:sp>
        <p:nvSpPr>
          <p:cNvPr id="18" name="text-35"/>
          <p:cNvSpPr txBox="1"/>
          <p:nvPr/>
        </p:nvSpPr>
        <p:spPr>
          <a:xfrm>
            <a:off x="8321040" y="4114800"/>
            <a:ext cx="3017520" cy="1280160"/>
          </a:xfrm>
          <a:prstGeom prst="rect">
            <a:avLst/>
          </a:prstGeom>
          <a:noFill/>
          <a:ln/>
        </p:spPr>
        <p:txBody>
          <a:bodyPr wrap="square" lIns="0" tIns="0" rIns="0" bIns="0" rtlCol="0" anchor="t"/>
          <a:lstStyle/>
          <a:p>
            <a:pPr indent="0" marL="0">
              <a:buNone/>
            </a:pPr>
            <a:r>
              <a:rPr lang="en-US" sz="1500" dirty="0">
                <a:solidFill>
                  <a:schemeClr val="tx2"/>
                </a:solidFill>
              </a:rPr>
              <a:t>同じバージョンを再実行したときの反転と比べる</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同じ入力9,066件を3バージョンで比較</a:t>
            </a:r>
            <a:endParaRPr lang="en-US" sz="3000" dirty="0"/>
          </a:p>
        </p:txBody>
      </p:sp>
      <p:sp>
        <p:nvSpPr>
          <p:cNvPr id="3" name="card-36"/>
          <p:cNvSpPr/>
          <p:nvPr/>
        </p:nvSpPr>
        <p:spPr>
          <a:xfrm>
            <a:off x="548640" y="1463040"/>
            <a:ext cx="3108960" cy="1737360"/>
          </a:xfrm>
          <a:prstGeom prst="roundRect">
            <a:avLst>
              <a:gd name="adj" fmla="val 6316"/>
            </a:avLst>
          </a:prstGeom>
          <a:solidFill>
            <a:schemeClr val="bg2"/>
          </a:solidFill>
          <a:ln w="12700">
            <a:solidFill>
              <a:schemeClr val="bg2"/>
            </a:solidFill>
            <a:prstDash val="solid"/>
          </a:ln>
        </p:spPr>
      </p:sp>
      <p:sp>
        <p:nvSpPr>
          <p:cNvPr id="4" name="text-37"/>
          <p:cNvSpPr txBox="1"/>
          <p:nvPr/>
        </p:nvSpPr>
        <p:spPr>
          <a:xfrm>
            <a:off x="777240" y="1645920"/>
            <a:ext cx="2651760" cy="457200"/>
          </a:xfrm>
          <a:prstGeom prst="rect">
            <a:avLst/>
          </a:prstGeom>
          <a:noFill/>
          <a:ln/>
        </p:spPr>
        <p:txBody>
          <a:bodyPr wrap="square" lIns="0" tIns="0" rIns="0" bIns="0" rtlCol="0" anchor="t"/>
          <a:lstStyle/>
          <a:p>
            <a:pPr indent="0" marL="0">
              <a:buNone/>
            </a:pPr>
            <a:r>
              <a:rPr lang="en-US" sz="1600" b="1" dirty="0">
                <a:solidFill>
                  <a:schemeClr val="tx1"/>
                </a:solidFill>
              </a:rPr>
              <a:t>1.7.1 二項CI実験</a:t>
            </a:r>
            <a:endParaRPr lang="en-US" sz="1600" dirty="0"/>
          </a:p>
        </p:txBody>
      </p:sp>
      <p:sp>
        <p:nvSpPr>
          <p:cNvPr id="5" name="text-38"/>
          <p:cNvSpPr txBox="1"/>
          <p:nvPr/>
        </p:nvSpPr>
        <p:spPr>
          <a:xfrm>
            <a:off x="777240" y="2148840"/>
            <a:ext cx="2651760" cy="914400"/>
          </a:xfrm>
          <a:prstGeom prst="rect">
            <a:avLst/>
          </a:prstGeom>
          <a:noFill/>
          <a:ln/>
        </p:spPr>
        <p:txBody>
          <a:bodyPr wrap="square" lIns="0" tIns="0" rIns="0" bIns="0" rtlCol="0" anchor="t"/>
          <a:lstStyle/>
          <a:p>
            <a:pPr indent="0" marL="0">
              <a:buNone/>
            </a:pPr>
            <a:r>
              <a:rPr lang="en-US" sz="1300" dirty="0">
                <a:solidFill>
                  <a:schemeClr val="tx2"/>
                </a:solidFill>
              </a:rPr>
              <a:t>18,419試行</a:t>
            </a:r>
            <a:endParaRPr lang="en-US" sz="1300" dirty="0"/>
          </a:p>
          <a:p>
            <a:pPr indent="0" marL="0">
              <a:buNone/>
            </a:pPr>
            <a:r>
              <a:rPr lang="en-US" sz="1300" dirty="0">
                <a:solidFill>
                  <a:schemeClr val="tx2"/>
                </a:solidFill>
              </a:rPr>
              <a:t>(execution_error 5,175、timeout 2,858 を含む)</a:t>
            </a:r>
            <a:endParaRPr lang="en-US" sz="1300" dirty="0"/>
          </a:p>
        </p:txBody>
      </p:sp>
      <p:sp>
        <p:nvSpPr>
          <p:cNvPr id="6" name="arrow-39"/>
          <p:cNvSpPr/>
          <p:nvPr/>
        </p:nvSpPr>
        <p:spPr>
          <a:xfrm>
            <a:off x="3749040" y="2331720"/>
            <a:ext cx="548640" cy="0"/>
          </a:xfrm>
          <a:prstGeom prst="line">
            <a:avLst/>
          </a:prstGeom>
          <a:noFill/>
          <a:ln w="25400">
            <a:solidFill>
              <a:schemeClr val="accent3"/>
            </a:solidFill>
            <a:prstDash val="solid"/>
            <a:tailEnd type="triangle"/>
          </a:ln>
        </p:spPr>
      </p:sp>
      <p:sp>
        <p:nvSpPr>
          <p:cNvPr id="7" name="card-40"/>
          <p:cNvSpPr/>
          <p:nvPr/>
        </p:nvSpPr>
        <p:spPr>
          <a:xfrm>
            <a:off x="4389120" y="1463040"/>
            <a:ext cx="3108960" cy="1737360"/>
          </a:xfrm>
          <a:prstGeom prst="roundRect">
            <a:avLst>
              <a:gd name="adj" fmla="val 6316"/>
            </a:avLst>
          </a:prstGeom>
          <a:solidFill>
            <a:schemeClr val="bg2"/>
          </a:solidFill>
          <a:ln w="12700">
            <a:solidFill>
              <a:schemeClr val="bg2"/>
            </a:solidFill>
            <a:prstDash val="solid"/>
          </a:ln>
        </p:spPr>
      </p:sp>
      <p:sp>
        <p:nvSpPr>
          <p:cNvPr id="8" name="text-41"/>
          <p:cNvSpPr txBox="1"/>
          <p:nvPr/>
        </p:nvSpPr>
        <p:spPr>
          <a:xfrm>
            <a:off x="4617720" y="1645920"/>
            <a:ext cx="2651760" cy="457200"/>
          </a:xfrm>
          <a:prstGeom prst="rect">
            <a:avLst/>
          </a:prstGeom>
          <a:noFill/>
          <a:ln/>
        </p:spPr>
        <p:txBody>
          <a:bodyPr wrap="square" lIns="0" tIns="0" rIns="0" bIns="0" rtlCol="0" anchor="t"/>
          <a:lstStyle/>
          <a:p>
            <a:pPr indent="0" marL="0">
              <a:buNone/>
            </a:pPr>
            <a:r>
              <a:rPr lang="en-US" sz="1600" b="1" dirty="0">
                <a:solidFill>
                  <a:schemeClr val="tx1"/>
                </a:solidFill>
              </a:rPr>
              <a:t>有効な二項標本 9,066件</a:t>
            </a:r>
            <a:endParaRPr lang="en-US" sz="1600" dirty="0"/>
          </a:p>
        </p:txBody>
      </p:sp>
      <p:sp>
        <p:nvSpPr>
          <p:cNvPr id="9" name="text-42"/>
          <p:cNvSpPr txBox="1"/>
          <p:nvPr/>
        </p:nvSpPr>
        <p:spPr>
          <a:xfrm>
            <a:off x="4617720" y="2148840"/>
            <a:ext cx="2651760" cy="914400"/>
          </a:xfrm>
          <a:prstGeom prst="rect">
            <a:avLst/>
          </a:prstGeom>
          <a:noFill/>
          <a:ln/>
        </p:spPr>
        <p:txBody>
          <a:bodyPr wrap="square" lIns="0" tIns="0" rIns="0" bIns="0" rtlCol="0" anchor="t"/>
          <a:lstStyle/>
          <a:p>
            <a:pPr indent="0" marL="0">
              <a:buNone/>
            </a:pPr>
            <a:r>
              <a:rPr lang="en-US" sz="1300" dirty="0">
                <a:solidFill>
                  <a:schemeClr val="tx2"/>
                </a:solidFill>
              </a:rPr>
              <a:t>status=success かつ 衝突が0/1</a:t>
            </a:r>
            <a:endParaRPr lang="en-US" sz="1300" dirty="0"/>
          </a:p>
          <a:p>
            <a:pPr indent="0" marL="0">
              <a:buNone/>
            </a:pPr>
            <a:r>
              <a:rPr lang="en-US" sz="1300" dirty="0">
                <a:solidFill>
                  <a:schemeClr val="tx2"/>
                </a:solidFill>
              </a:rPr>
              <a:t>無効な試行は対象外</a:t>
            </a:r>
            <a:endParaRPr lang="en-US" sz="1300" dirty="0"/>
          </a:p>
        </p:txBody>
      </p:sp>
      <p:sp>
        <p:nvSpPr>
          <p:cNvPr id="10" name="arrow-43"/>
          <p:cNvSpPr/>
          <p:nvPr/>
        </p:nvSpPr>
        <p:spPr>
          <a:xfrm>
            <a:off x="7589520" y="1920240"/>
            <a:ext cx="640080" cy="-274320"/>
          </a:xfrm>
          <a:prstGeom prst="line">
            <a:avLst/>
          </a:prstGeom>
          <a:noFill/>
          <a:ln w="25400">
            <a:solidFill>
              <a:schemeClr val="accent3"/>
            </a:solidFill>
            <a:prstDash val="solid"/>
            <a:tailEnd type="triangle"/>
          </a:ln>
        </p:spPr>
      </p:sp>
      <p:sp>
        <p:nvSpPr>
          <p:cNvPr id="11" name="arrow-44"/>
          <p:cNvSpPr/>
          <p:nvPr/>
        </p:nvSpPr>
        <p:spPr>
          <a:xfrm>
            <a:off x="7589520" y="2743200"/>
            <a:ext cx="640080" cy="274320"/>
          </a:xfrm>
          <a:prstGeom prst="line">
            <a:avLst/>
          </a:prstGeom>
          <a:noFill/>
          <a:ln w="25400">
            <a:solidFill>
              <a:schemeClr val="accent3"/>
            </a:solidFill>
            <a:prstDash val="solid"/>
            <a:tailEnd type="triangle"/>
          </a:ln>
        </p:spPr>
      </p:sp>
      <p:sp>
        <p:nvSpPr>
          <p:cNvPr id="12" name="card-45"/>
          <p:cNvSpPr/>
          <p:nvPr/>
        </p:nvSpPr>
        <p:spPr>
          <a:xfrm>
            <a:off x="8321040" y="1188720"/>
            <a:ext cx="3291840" cy="1051560"/>
          </a:xfrm>
          <a:prstGeom prst="roundRect">
            <a:avLst>
              <a:gd name="adj" fmla="val 10435"/>
            </a:avLst>
          </a:prstGeom>
          <a:solidFill>
            <a:schemeClr val="bg2"/>
          </a:solidFill>
          <a:ln w="12700">
            <a:solidFill>
              <a:schemeClr val="bg2"/>
            </a:solidFill>
            <a:prstDash val="solid"/>
          </a:ln>
        </p:spPr>
      </p:sp>
      <p:sp>
        <p:nvSpPr>
          <p:cNvPr id="13" name="text-46"/>
          <p:cNvSpPr txBox="1"/>
          <p:nvPr/>
        </p:nvSpPr>
        <p:spPr>
          <a:xfrm>
            <a:off x="8549640" y="1371600"/>
            <a:ext cx="2834640" cy="457200"/>
          </a:xfrm>
          <a:prstGeom prst="rect">
            <a:avLst/>
          </a:prstGeom>
          <a:noFill/>
          <a:ln/>
        </p:spPr>
        <p:txBody>
          <a:bodyPr wrap="square" lIns="0" tIns="0" rIns="0" bIns="0" rtlCol="0" anchor="t"/>
          <a:lstStyle/>
          <a:p>
            <a:pPr indent="0" marL="0">
              <a:buNone/>
            </a:pPr>
            <a:r>
              <a:rPr lang="en-US" sz="1600" b="1" dirty="0">
                <a:solidFill>
                  <a:schemeClr val="tx1"/>
                </a:solidFill>
              </a:rPr>
              <a:t>1.8.0 replay 9,066件</a:t>
            </a:r>
            <a:endParaRPr lang="en-US" sz="1600" dirty="0"/>
          </a:p>
        </p:txBody>
      </p:sp>
      <p:sp>
        <p:nvSpPr>
          <p:cNvPr id="14" name="text-47"/>
          <p:cNvSpPr txBox="1"/>
          <p:nvPr/>
        </p:nvSpPr>
        <p:spPr>
          <a:xfrm>
            <a:off x="8549640" y="1874520"/>
            <a:ext cx="2834640" cy="228600"/>
          </a:xfrm>
          <a:prstGeom prst="rect">
            <a:avLst/>
          </a:prstGeom>
          <a:noFill/>
          <a:ln/>
        </p:spPr>
        <p:txBody>
          <a:bodyPr wrap="square" lIns="0" tIns="0" rIns="0" bIns="0" rtlCol="0" anchor="t"/>
          <a:lstStyle/>
          <a:p>
            <a:pPr indent="0" marL="0">
              <a:buNone/>
            </a:pPr>
            <a:r>
              <a:rPr lang="en-US" sz="1300" dirty="0">
                <a:solidFill>
                  <a:schemeClr val="tx2"/>
                </a:solidFill>
              </a:rPr>
              <a:t>2026-09-11〜13</a:t>
            </a:r>
            <a:endParaRPr lang="en-US" sz="1300" dirty="0"/>
          </a:p>
        </p:txBody>
      </p:sp>
      <p:sp>
        <p:nvSpPr>
          <p:cNvPr id="15" name="card-48"/>
          <p:cNvSpPr/>
          <p:nvPr/>
        </p:nvSpPr>
        <p:spPr>
          <a:xfrm>
            <a:off x="8321040" y="2514600"/>
            <a:ext cx="3291840" cy="1051560"/>
          </a:xfrm>
          <a:prstGeom prst="roundRect">
            <a:avLst>
              <a:gd name="adj" fmla="val 10435"/>
            </a:avLst>
          </a:prstGeom>
          <a:solidFill>
            <a:schemeClr val="bg2"/>
          </a:solidFill>
          <a:ln w="12700">
            <a:solidFill>
              <a:schemeClr val="bg2"/>
            </a:solidFill>
            <a:prstDash val="solid"/>
          </a:ln>
        </p:spPr>
      </p:sp>
      <p:sp>
        <p:nvSpPr>
          <p:cNvPr id="16" name="text-49"/>
          <p:cNvSpPr txBox="1"/>
          <p:nvPr/>
        </p:nvSpPr>
        <p:spPr>
          <a:xfrm>
            <a:off x="8549640" y="2697480"/>
            <a:ext cx="2834640" cy="457200"/>
          </a:xfrm>
          <a:prstGeom prst="rect">
            <a:avLst/>
          </a:prstGeom>
          <a:noFill/>
          <a:ln/>
        </p:spPr>
        <p:txBody>
          <a:bodyPr wrap="square" lIns="0" tIns="0" rIns="0" bIns="0" rtlCol="0" anchor="t"/>
          <a:lstStyle/>
          <a:p>
            <a:pPr indent="0" marL="0">
              <a:buNone/>
            </a:pPr>
            <a:r>
              <a:rPr lang="en-US" sz="1600" b="1" dirty="0">
                <a:solidFill>
                  <a:schemeClr val="tx1"/>
                </a:solidFill>
              </a:rPr>
              <a:t>1.9.0 replay 9,066件</a:t>
            </a:r>
            <a:endParaRPr lang="en-US" sz="1600" dirty="0"/>
          </a:p>
        </p:txBody>
      </p:sp>
      <p:sp>
        <p:nvSpPr>
          <p:cNvPr id="17" name="text-50"/>
          <p:cNvSpPr txBox="1"/>
          <p:nvPr/>
        </p:nvSpPr>
        <p:spPr>
          <a:xfrm>
            <a:off x="8549640" y="3200400"/>
            <a:ext cx="2834640" cy="228600"/>
          </a:xfrm>
          <a:prstGeom prst="rect">
            <a:avLst/>
          </a:prstGeom>
          <a:noFill/>
          <a:ln/>
        </p:spPr>
        <p:txBody>
          <a:bodyPr wrap="square" lIns="0" tIns="0" rIns="0" bIns="0" rtlCol="0" anchor="t"/>
          <a:lstStyle/>
          <a:p>
            <a:pPr indent="0" marL="0">
              <a:buNone/>
            </a:pPr>
            <a:r>
              <a:rPr lang="en-US" sz="1300" dirty="0">
                <a:solidFill>
                  <a:schemeClr val="tx2"/>
                </a:solidFill>
              </a:rPr>
              <a:t>2026-10-02〜04</a:t>
            </a:r>
            <a:endParaRPr lang="en-US" sz="1300" dirty="0"/>
          </a:p>
        </p:txBody>
      </p:sp>
      <p:sp>
        <p:nvSpPr>
          <p:cNvPr id="18" name="dot-51"/>
          <p:cNvSpPr/>
          <p:nvPr/>
        </p:nvSpPr>
        <p:spPr>
          <a:xfrm>
            <a:off x="11201400" y="1325880"/>
            <a:ext cx="274320" cy="274320"/>
          </a:xfrm>
          <a:prstGeom prst="ellipse">
            <a:avLst/>
          </a:prstGeom>
          <a:solidFill>
            <a:schemeClr val="accent1"/>
          </a:solidFill>
          <a:ln w="12700">
            <a:solidFill>
              <a:schemeClr val="accent1"/>
            </a:solidFill>
            <a:prstDash val="solid"/>
          </a:ln>
        </p:spPr>
      </p:sp>
      <p:sp>
        <p:nvSpPr>
          <p:cNvPr id="19" name="dot-52"/>
          <p:cNvSpPr/>
          <p:nvPr/>
        </p:nvSpPr>
        <p:spPr>
          <a:xfrm>
            <a:off x="11201400" y="2651760"/>
            <a:ext cx="274320" cy="274320"/>
          </a:xfrm>
          <a:prstGeom prst="ellipse">
            <a:avLst/>
          </a:prstGeom>
          <a:solidFill>
            <a:schemeClr val="accent2"/>
          </a:solidFill>
          <a:ln w="12700">
            <a:solidFill>
              <a:schemeClr val="accent2"/>
            </a:solidFill>
            <a:prstDash val="solid"/>
          </a:ln>
        </p:spPr>
      </p:sp>
      <p:sp>
        <p:nvSpPr>
          <p:cNvPr id="20" name="card-53"/>
          <p:cNvSpPr/>
          <p:nvPr/>
        </p:nvSpPr>
        <p:spPr>
          <a:xfrm>
            <a:off x="548640" y="3931920"/>
            <a:ext cx="11064240" cy="2103120"/>
          </a:xfrm>
          <a:prstGeom prst="roundRect">
            <a:avLst>
              <a:gd name="adj" fmla="val 5217"/>
            </a:avLst>
          </a:prstGeom>
          <a:solidFill>
            <a:schemeClr val="bg2"/>
          </a:solidFill>
          <a:ln w="12700">
            <a:solidFill>
              <a:schemeClr val="bg2"/>
            </a:solidFill>
            <a:prstDash val="solid"/>
          </a:ln>
        </p:spPr>
      </p:sp>
      <p:sp>
        <p:nvSpPr>
          <p:cNvPr id="21" name="text-54"/>
          <p:cNvSpPr txBox="1"/>
          <p:nvPr/>
        </p:nvSpPr>
        <p:spPr>
          <a:xfrm>
            <a:off x="822960" y="4114800"/>
            <a:ext cx="10515600" cy="18288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比較の条件</a:t>
            </a:r>
            <a:endParaRPr lang="en-US" sz="1500" dirty="0"/>
          </a:p>
          <a:p>
            <a:pPr marL="342900" indent="-342900">
              <a:spcAft>
                <a:spcPts val="600"/>
              </a:spcAft>
              <a:buSzPct val="100000"/>
              <a:buChar char="•"/>
            </a:pPr>
            <a:r>
              <a:rPr lang="en-US" sz="1500" dirty="0">
                <a:solidFill>
                  <a:schemeClr val="tx1"/>
                </a:solidFill>
              </a:rPr>
              <a:t>入力値 (dx0、ego_speed、npc_speed、初期位置など) は全バージョンで同一。元のloop番号で1対1に対応</a:t>
            </a:r>
            <a:endParaRPr lang="en-US" sz="1500" dirty="0"/>
          </a:p>
          <a:p>
            <a:pPr marL="342900" indent="-342900">
              <a:spcAft>
                <a:spcPts val="600"/>
              </a:spcAft>
              <a:buSzPct val="100000"/>
              <a:buChar char="•"/>
            </a:pPr>
            <a:r>
              <a:rPr lang="en-US" sz="1500" dirty="0">
                <a:solidFill>
                  <a:schemeClr val="tx1"/>
                </a:solidFill>
              </a:rPr>
              <a:t>失敗した試行は再試行しない。失敗も実験結果として保持し、別に分析する</a:t>
            </a:r>
            <a:endParaRPr lang="en-US" sz="1500" dirty="0"/>
          </a:p>
          <a:p>
            <a:pPr marL="342900" indent="-342900">
              <a:spcAft>
                <a:spcPts val="600"/>
              </a:spcAft>
              <a:buSzPct val="100000"/>
              <a:buChar char="•"/>
            </a:pPr>
            <a:r>
              <a:rPr lang="en-US" sz="1500" dirty="0">
                <a:solidFill>
                  <a:schemeClr val="tx1"/>
                </a:solidFill>
              </a:rPr>
              <a:t>衝突・TTCの比較は、3バージョンすべてで有効だった8,811件で行う</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1.9.0は公式imageに互換層を重ねて構築</a:t>
            </a:r>
            <a:endParaRPr lang="en-US" sz="3000" dirty="0"/>
          </a:p>
        </p:txBody>
      </p:sp>
      <p:sp>
        <p:nvSpPr>
          <p:cNvPr id="3" name="card-55"/>
          <p:cNvSpPr/>
          <p:nvPr/>
        </p:nvSpPr>
        <p:spPr>
          <a:xfrm>
            <a:off x="548640" y="1371600"/>
            <a:ext cx="6766560" cy="1325880"/>
          </a:xfrm>
          <a:prstGeom prst="roundRect">
            <a:avLst>
              <a:gd name="adj" fmla="val 8276"/>
            </a:avLst>
          </a:prstGeom>
          <a:solidFill>
            <a:schemeClr val="accent2"/>
          </a:solidFill>
          <a:ln w="12700">
            <a:solidFill>
              <a:schemeClr val="accent2"/>
            </a:solidFill>
            <a:prstDash val="solid"/>
          </a:ln>
        </p:spPr>
      </p:sp>
      <p:sp>
        <p:nvSpPr>
          <p:cNvPr id="4" name="text-56"/>
          <p:cNvSpPr txBox="1"/>
          <p:nvPr/>
        </p:nvSpPr>
        <p:spPr>
          <a:xfrm>
            <a:off x="822960" y="1508760"/>
            <a:ext cx="6217920" cy="457200"/>
          </a:xfrm>
          <a:prstGeom prst="rect">
            <a:avLst/>
          </a:prstGeom>
          <a:noFill/>
          <a:ln/>
        </p:spPr>
        <p:txBody>
          <a:bodyPr wrap="square" lIns="0" tIns="0" rIns="0" bIns="0" rtlCol="0" anchor="t"/>
          <a:lstStyle/>
          <a:p>
            <a:pPr indent="0" marL="0">
              <a:buNone/>
            </a:pPr>
            <a:r>
              <a:rPr lang="en-US" sz="1800" b="1" dirty="0">
                <a:solidFill>
                  <a:schemeClr val="bg1"/>
                </a:solidFill>
              </a:rPr>
              <a:t>EKF診断の修正</a:t>
            </a:r>
            <a:endParaRPr lang="en-US" sz="1800" dirty="0"/>
          </a:p>
        </p:txBody>
      </p:sp>
      <p:sp>
        <p:nvSpPr>
          <p:cNvPr id="5" name="text-57"/>
          <p:cNvSpPr txBox="1"/>
          <p:nvPr/>
        </p:nvSpPr>
        <p:spPr>
          <a:xfrm>
            <a:off x="822960" y="2011680"/>
            <a:ext cx="6217920" cy="594360"/>
          </a:xfrm>
          <a:prstGeom prst="rect">
            <a:avLst/>
          </a:prstGeom>
          <a:noFill/>
          <a:ln/>
        </p:spPr>
        <p:txBody>
          <a:bodyPr wrap="square" lIns="0" tIns="0" rIns="0" bIns="0" rtlCol="0" anchor="t"/>
          <a:lstStyle/>
          <a:p>
            <a:pPr indent="0" marL="0">
              <a:buNone/>
            </a:pPr>
            <a:r>
              <a:rPr lang="en-US" sz="1300" dirty="0">
                <a:solidFill>
                  <a:schemeClr val="bg1"/>
                </a:solidFill>
              </a:rPr>
              <a:t>1.8.0と同じ修正。MRM本体・安全閾値は変更しない</a:t>
            </a:r>
            <a:endParaRPr lang="en-US" sz="1300" dirty="0"/>
          </a:p>
        </p:txBody>
      </p:sp>
      <p:sp>
        <p:nvSpPr>
          <p:cNvPr id="6" name="card-58"/>
          <p:cNvSpPr/>
          <p:nvPr/>
        </p:nvSpPr>
        <p:spPr>
          <a:xfrm>
            <a:off x="548640" y="2880360"/>
            <a:ext cx="6766560" cy="1325880"/>
          </a:xfrm>
          <a:prstGeom prst="roundRect">
            <a:avLst>
              <a:gd name="adj" fmla="val 8276"/>
            </a:avLst>
          </a:prstGeom>
          <a:solidFill>
            <a:schemeClr val="tx2"/>
          </a:solidFill>
          <a:ln w="12700">
            <a:solidFill>
              <a:schemeClr val="tx2"/>
            </a:solidFill>
            <a:prstDash val="solid"/>
          </a:ln>
        </p:spPr>
      </p:sp>
      <p:sp>
        <p:nvSpPr>
          <p:cNvPr id="7" name="text-59"/>
          <p:cNvSpPr txBox="1"/>
          <p:nvPr/>
        </p:nvSpPr>
        <p:spPr>
          <a:xfrm>
            <a:off x="822960" y="3017520"/>
            <a:ext cx="6217920" cy="457200"/>
          </a:xfrm>
          <a:prstGeom prst="rect">
            <a:avLst/>
          </a:prstGeom>
          <a:noFill/>
          <a:ln/>
        </p:spPr>
        <p:txBody>
          <a:bodyPr wrap="square" lIns="0" tIns="0" rIns="0" bIns="0" rtlCol="0" anchor="t"/>
          <a:lstStyle/>
          <a:p>
            <a:pPr indent="0" marL="0">
              <a:buNone/>
            </a:pPr>
            <a:r>
              <a:rPr lang="en-US" sz="1800" b="1" dirty="0">
                <a:solidFill>
                  <a:schemeClr val="bg1"/>
                </a:solidFill>
              </a:rPr>
              <a:t>AWSIM互換層</a:t>
            </a:r>
            <a:endParaRPr lang="en-US" sz="1800" dirty="0"/>
          </a:p>
        </p:txBody>
      </p:sp>
      <p:sp>
        <p:nvSpPr>
          <p:cNvPr id="8" name="text-60"/>
          <p:cNvSpPr txBox="1"/>
          <p:nvPr/>
        </p:nvSpPr>
        <p:spPr>
          <a:xfrm>
            <a:off x="822960" y="3520440"/>
            <a:ext cx="6217920" cy="594360"/>
          </a:xfrm>
          <a:prstGeom prst="rect">
            <a:avLst/>
          </a:prstGeom>
          <a:noFill/>
          <a:ln/>
        </p:spPr>
        <p:txBody>
          <a:bodyPr wrap="square" lIns="0" tIns="0" rIns="0" bIns="0" rtlCol="0" anchor="t"/>
          <a:lstStyle/>
          <a:p>
            <a:pPr indent="0" marL="0">
              <a:buNone/>
            </a:pPr>
            <a:r>
              <a:rPr lang="en-US" sz="1300" dirty="0">
                <a:solidFill>
                  <a:schemeClr val="bg1"/>
                </a:solidFill>
              </a:rPr>
              <a:t>user名 passd、aw_monitor、Xvfb、planning上限 max_vel 16.667、Python依存、loopback限定DDS</a:t>
            </a:r>
            <a:endParaRPr lang="en-US" sz="1300" dirty="0"/>
          </a:p>
        </p:txBody>
      </p:sp>
      <p:sp>
        <p:nvSpPr>
          <p:cNvPr id="9" name="card-61"/>
          <p:cNvSpPr/>
          <p:nvPr/>
        </p:nvSpPr>
        <p:spPr>
          <a:xfrm>
            <a:off x="548640" y="4389120"/>
            <a:ext cx="6766560" cy="1325880"/>
          </a:xfrm>
          <a:prstGeom prst="roundRect">
            <a:avLst>
              <a:gd name="adj" fmla="val 8276"/>
            </a:avLst>
          </a:prstGeom>
          <a:solidFill>
            <a:schemeClr val="bg2"/>
          </a:solidFill>
          <a:ln w="12700">
            <a:solidFill>
              <a:schemeClr val="bg2"/>
            </a:solidFill>
            <a:prstDash val="solid"/>
          </a:ln>
        </p:spPr>
      </p:sp>
      <p:sp>
        <p:nvSpPr>
          <p:cNvPr id="10" name="text-62"/>
          <p:cNvSpPr txBox="1"/>
          <p:nvPr/>
        </p:nvSpPr>
        <p:spPr>
          <a:xfrm>
            <a:off x="822960" y="4526280"/>
            <a:ext cx="6217920" cy="457200"/>
          </a:xfrm>
          <a:prstGeom prst="rect">
            <a:avLst/>
          </a:prstGeom>
          <a:noFill/>
          <a:ln/>
        </p:spPr>
        <p:txBody>
          <a:bodyPr wrap="square" lIns="0" tIns="0" rIns="0" bIns="0" rtlCol="0" anchor="t"/>
          <a:lstStyle/>
          <a:p>
            <a:pPr indent="0" marL="0">
              <a:buNone/>
            </a:pPr>
            <a:r>
              <a:rPr lang="en-US" sz="1800" b="1" dirty="0">
                <a:solidFill>
                  <a:schemeClr val="tx1"/>
                </a:solidFill>
              </a:rPr>
              <a:t>公式 image</a:t>
            </a:r>
            <a:endParaRPr lang="en-US" sz="1800" dirty="0"/>
          </a:p>
        </p:txBody>
      </p:sp>
      <p:sp>
        <p:nvSpPr>
          <p:cNvPr id="11" name="text-63"/>
          <p:cNvSpPr txBox="1"/>
          <p:nvPr/>
        </p:nvSpPr>
        <p:spPr>
          <a:xfrm>
            <a:off x="822960" y="5029200"/>
            <a:ext cx="6217920" cy="594360"/>
          </a:xfrm>
          <a:prstGeom prst="rect">
            <a:avLst/>
          </a:prstGeom>
          <a:noFill/>
          <a:ln/>
        </p:spPr>
        <p:txBody>
          <a:bodyPr wrap="square" lIns="0" tIns="0" rIns="0" bIns="0" rtlCol="0" anchor="t"/>
          <a:lstStyle/>
          <a:p>
            <a:pPr indent="0" marL="0">
              <a:buNone/>
            </a:pPr>
            <a:r>
              <a:rPr lang="en-US" sz="1300" dirty="0">
                <a:solidFill>
                  <a:schemeClr val="tx1"/>
                </a:solidFill>
              </a:rPr>
              <a:t>universe-cuda-humble-1.9.0 (digest固定、無改変)</a:t>
            </a:r>
            <a:endParaRPr lang="en-US" sz="1300" dirty="0"/>
          </a:p>
        </p:txBody>
      </p:sp>
      <p:sp>
        <p:nvSpPr>
          <p:cNvPr id="12" name="card-64"/>
          <p:cNvSpPr/>
          <p:nvPr/>
        </p:nvSpPr>
        <p:spPr>
          <a:xfrm>
            <a:off x="7680960" y="1371600"/>
            <a:ext cx="3931920" cy="4343400"/>
          </a:xfrm>
          <a:prstGeom prst="roundRect">
            <a:avLst>
              <a:gd name="adj" fmla="val 2791"/>
            </a:avLst>
          </a:prstGeom>
          <a:solidFill>
            <a:schemeClr val="bg2"/>
          </a:solidFill>
          <a:ln w="12700">
            <a:solidFill>
              <a:schemeClr val="bg2"/>
            </a:solidFill>
            <a:prstDash val="solid"/>
          </a:ln>
        </p:spPr>
      </p:sp>
      <p:sp>
        <p:nvSpPr>
          <p:cNvPr id="13" name="text-65"/>
          <p:cNvSpPr txBox="1"/>
          <p:nvPr/>
        </p:nvSpPr>
        <p:spPr>
          <a:xfrm>
            <a:off x="7955280" y="1600200"/>
            <a:ext cx="3383280" cy="393192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container設定は1.8.0と同一</a:t>
            </a:r>
            <a:endParaRPr lang="en-US" sz="1400" dirty="0"/>
          </a:p>
          <a:p>
            <a:pPr marL="342900" indent="-342900">
              <a:spcAft>
                <a:spcPts val="800"/>
              </a:spcAft>
              <a:buSzPct val="100000"/>
              <a:buChar char="•"/>
            </a:pPr>
            <a:r>
              <a:rPr lang="en-US" sz="1400" dirty="0">
                <a:solidFill>
                  <a:schemeClr val="tx1"/>
                </a:solidFill>
              </a:rPr>
              <a:t>bridge network、非privileged</a:t>
            </a:r>
            <a:endParaRPr lang="en-US" sz="1400" dirty="0"/>
          </a:p>
          <a:p>
            <a:pPr marL="342900" indent="-342900">
              <a:spcAft>
                <a:spcPts val="800"/>
              </a:spcAft>
              <a:buSzPct val="100000"/>
              <a:buChar char="•"/>
            </a:pPr>
            <a:r>
              <a:rPr lang="en-US" sz="1400" dirty="0">
                <a:solidFill>
                  <a:schemeClr val="tx1"/>
                </a:solidFill>
              </a:rPr>
              <a:t>DDSはloopbackだけ (multicastなし)</a:t>
            </a:r>
            <a:endParaRPr lang="en-US" sz="1400" dirty="0"/>
          </a:p>
          <a:p>
            <a:pPr marL="342900" indent="-342900">
              <a:spcAft>
                <a:spcPts val="800"/>
              </a:spcAft>
              <a:buSzPct val="100000"/>
              <a:buChar char="•"/>
            </a:pPr>
            <a:r>
              <a:rPr lang="en-US" sz="1400" dirty="0">
                <a:solidFill>
                  <a:schemeClr val="tx1"/>
                </a:solidFill>
              </a:rPr>
              <a:t>公式imageの既定DDS設定はmulticastを許可するため、明示的に上書き</a:t>
            </a:r>
            <a:endParaRPr lang="en-US" sz="1400" dirty="0"/>
          </a:p>
          <a:p>
            <a:pPr marL="342900" indent="-342900">
              <a:spcAft>
                <a:spcPts val="800"/>
              </a:spcAft>
              <a:buSzPct val="100000"/>
              <a:buChar char="•"/>
            </a:pPr>
            <a:r>
              <a:rPr lang="en-US" sz="1400" dirty="0">
                <a:solidFill>
                  <a:schemeClr val="tx1"/>
                </a:solidFill>
              </a:rPr>
              <a:t>学内スイッチのstorm-control停止を避けるため</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公式1.9.0でも誤った非常停止が起きた</a:t>
            </a:r>
            <a:endParaRPr lang="en-US" sz="3000" dirty="0"/>
          </a:p>
        </p:txBody>
      </p:sp>
      <p:sp>
        <p:nvSpPr>
          <p:cNvPr id="3" name="card-66"/>
          <p:cNvSpPr/>
          <p:nvPr/>
        </p:nvSpPr>
        <p:spPr>
          <a:xfrm>
            <a:off x="548640" y="1371600"/>
            <a:ext cx="5394960" cy="3566160"/>
          </a:xfrm>
          <a:prstGeom prst="roundRect">
            <a:avLst>
              <a:gd name="adj" fmla="val 3077"/>
            </a:avLst>
          </a:prstGeom>
          <a:solidFill>
            <a:schemeClr val="bg2"/>
          </a:solidFill>
          <a:ln w="12700">
            <a:solidFill>
              <a:schemeClr val="bg2"/>
            </a:solidFill>
            <a:prstDash val="solid"/>
          </a:ln>
        </p:spPr>
      </p:sp>
      <p:sp>
        <p:nvSpPr>
          <p:cNvPr id="4" name="text-67"/>
          <p:cNvSpPr txBox="1"/>
          <p:nvPr/>
        </p:nvSpPr>
        <p:spPr>
          <a:xfrm>
            <a:off x="868680" y="1600200"/>
            <a:ext cx="4754880" cy="457200"/>
          </a:xfrm>
          <a:prstGeom prst="rect">
            <a:avLst/>
          </a:prstGeom>
          <a:noFill/>
          <a:ln/>
        </p:spPr>
        <p:txBody>
          <a:bodyPr wrap="square" lIns="0" tIns="0" rIns="0" bIns="0" rtlCol="0" anchor="t"/>
          <a:lstStyle/>
          <a:p>
            <a:pPr indent="0" marL="0">
              <a:buNone/>
            </a:pPr>
            <a:r>
              <a:rPr lang="en-US" sz="1800" b="1" dirty="0">
                <a:solidFill>
                  <a:schemeClr val="tx1"/>
                </a:solidFill>
              </a:rPr>
              <a:t>修正なし (公式1.9.0 + 互換層)</a:t>
            </a:r>
            <a:endParaRPr lang="en-US" sz="1800" dirty="0"/>
          </a:p>
        </p:txBody>
      </p:sp>
      <p:sp>
        <p:nvSpPr>
          <p:cNvPr id="5" name="text-68"/>
          <p:cNvSpPr txBox="1"/>
          <p:nvPr/>
        </p:nvSpPr>
        <p:spPr>
          <a:xfrm>
            <a:off x="868680" y="2148840"/>
            <a:ext cx="4754880" cy="1005840"/>
          </a:xfrm>
          <a:prstGeom prst="rect">
            <a:avLst/>
          </a:prstGeom>
          <a:noFill/>
          <a:ln/>
        </p:spPr>
        <p:txBody>
          <a:bodyPr wrap="square" lIns="0" tIns="0" rIns="0" bIns="0" rtlCol="0" anchor="t"/>
          <a:lstStyle/>
          <a:p>
            <a:pPr indent="0" marL="0">
              <a:buNone/>
            </a:pPr>
            <a:r>
              <a:rPr lang="en-US" sz="4800" b="1" dirty="0">
                <a:solidFill>
                  <a:schemeClr val="accent4"/>
                </a:solidFill>
              </a:rPr>
              <a:t>約85秒</a:t>
            </a:r>
            <a:endParaRPr lang="en-US" sz="4800" dirty="0"/>
          </a:p>
        </p:txBody>
      </p:sp>
      <p:sp>
        <p:nvSpPr>
          <p:cNvPr id="6" name="text-69"/>
          <p:cNvSpPr txBox="1"/>
          <p:nvPr/>
        </p:nvSpPr>
        <p:spPr>
          <a:xfrm>
            <a:off x="868680" y="3154680"/>
            <a:ext cx="4754880" cy="365760"/>
          </a:xfrm>
          <a:prstGeom prst="rect">
            <a:avLst/>
          </a:prstGeom>
          <a:noFill/>
          <a:ln/>
        </p:spPr>
        <p:txBody>
          <a:bodyPr wrap="square" lIns="0" tIns="0" rIns="0" bIns="0" rtlCol="0" anchor="t"/>
          <a:lstStyle/>
          <a:p>
            <a:pPr indent="0" marL="0">
              <a:buNone/>
            </a:pPr>
            <a:r>
              <a:rPr lang="en-US" sz="1200" dirty="0">
                <a:solidFill>
                  <a:schemeClr val="tx2"/>
                </a:solidFill>
              </a:rPr>
              <a:t>自動運転の開始からNPCが動き出すまで</a:t>
            </a:r>
            <a:endParaRPr lang="en-US" sz="1200" dirty="0"/>
          </a:p>
        </p:txBody>
      </p:sp>
      <p:sp>
        <p:nvSpPr>
          <p:cNvPr id="7" name="text-70"/>
          <p:cNvSpPr txBox="1"/>
          <p:nvPr/>
        </p:nvSpPr>
        <p:spPr>
          <a:xfrm>
            <a:off x="868680" y="3657600"/>
            <a:ext cx="47548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正常な空queue周期でもEKFが delay WARN を出す</a:t>
            </a:r>
            <a:endParaRPr lang="en-US" sz="1400" dirty="0"/>
          </a:p>
          <a:p>
            <a:pPr marL="342900" indent="-342900">
              <a:spcAft>
                <a:spcPts val="600"/>
              </a:spcAft>
              <a:buSzPct val="100000"/>
              <a:buChar char="•"/>
            </a:pPr>
            <a:r>
              <a:rPr lang="en-US" sz="1400" dirty="0">
                <a:solidFill>
                  <a:schemeClr val="tx1"/>
                </a:solidFill>
              </a:rPr>
              <a:t>MRMが EMERGENCY_STOP に毎秒数回出入りする</a:t>
            </a:r>
            <a:endParaRPr lang="en-US" sz="1400" dirty="0"/>
          </a:p>
        </p:txBody>
      </p:sp>
      <p:sp>
        <p:nvSpPr>
          <p:cNvPr id="8" name="arrow-71"/>
          <p:cNvSpPr/>
          <p:nvPr/>
        </p:nvSpPr>
        <p:spPr>
          <a:xfrm>
            <a:off x="5989320" y="3566160"/>
            <a:ext cx="228600" cy="0"/>
          </a:xfrm>
          <a:prstGeom prst="line">
            <a:avLst/>
          </a:prstGeom>
          <a:noFill/>
          <a:ln w="25400">
            <a:solidFill>
              <a:schemeClr val="accent3"/>
            </a:solidFill>
            <a:prstDash val="solid"/>
            <a:tailEnd type="triangle"/>
          </a:ln>
        </p:spPr>
      </p:sp>
      <p:sp>
        <p:nvSpPr>
          <p:cNvPr id="9" name="card-72"/>
          <p:cNvSpPr/>
          <p:nvPr/>
        </p:nvSpPr>
        <p:spPr>
          <a:xfrm>
            <a:off x="6263640" y="1371600"/>
            <a:ext cx="5394960" cy="3566160"/>
          </a:xfrm>
          <a:prstGeom prst="roundRect">
            <a:avLst>
              <a:gd name="adj" fmla="val 3077"/>
            </a:avLst>
          </a:prstGeom>
          <a:solidFill>
            <a:schemeClr val="bg2"/>
          </a:solidFill>
          <a:ln w="12700">
            <a:solidFill>
              <a:schemeClr val="bg2"/>
            </a:solidFill>
            <a:prstDash val="solid"/>
          </a:ln>
        </p:spPr>
      </p:sp>
      <p:sp>
        <p:nvSpPr>
          <p:cNvPr id="10" name="text-73"/>
          <p:cNvSpPr txBox="1"/>
          <p:nvPr/>
        </p:nvSpPr>
        <p:spPr>
          <a:xfrm>
            <a:off x="6583680" y="1600200"/>
            <a:ext cx="4754880" cy="457200"/>
          </a:xfrm>
          <a:prstGeom prst="rect">
            <a:avLst/>
          </a:prstGeom>
          <a:noFill/>
          <a:ln/>
        </p:spPr>
        <p:txBody>
          <a:bodyPr wrap="square" lIns="0" tIns="0" rIns="0" bIns="0" rtlCol="0" anchor="t"/>
          <a:lstStyle/>
          <a:p>
            <a:pPr indent="0" marL="0">
              <a:buNone/>
            </a:pPr>
            <a:r>
              <a:rPr lang="en-US" sz="1800" b="1" dirty="0">
                <a:solidFill>
                  <a:schemeClr val="tx1"/>
                </a:solidFill>
              </a:rPr>
              <a:t>EKF診断を修正</a:t>
            </a:r>
            <a:endParaRPr lang="en-US" sz="1800" dirty="0"/>
          </a:p>
        </p:txBody>
      </p:sp>
      <p:sp>
        <p:nvSpPr>
          <p:cNvPr id="11" name="text-74"/>
          <p:cNvSpPr txBox="1"/>
          <p:nvPr/>
        </p:nvSpPr>
        <p:spPr>
          <a:xfrm>
            <a:off x="6583680" y="2148840"/>
            <a:ext cx="4754880" cy="1005840"/>
          </a:xfrm>
          <a:prstGeom prst="rect">
            <a:avLst/>
          </a:prstGeom>
          <a:noFill/>
          <a:ln/>
        </p:spPr>
        <p:txBody>
          <a:bodyPr wrap="square" lIns="0" tIns="0" rIns="0" bIns="0" rtlCol="0" anchor="t"/>
          <a:lstStyle/>
          <a:p>
            <a:pPr indent="0" marL="0">
              <a:buNone/>
            </a:pPr>
            <a:r>
              <a:rPr lang="en-US" sz="4800" b="1" dirty="0">
                <a:solidFill>
                  <a:schemeClr val="accent5"/>
                </a:solidFill>
              </a:rPr>
              <a:t>約5.5秒</a:t>
            </a:r>
            <a:endParaRPr lang="en-US" sz="4800" dirty="0"/>
          </a:p>
        </p:txBody>
      </p:sp>
      <p:sp>
        <p:nvSpPr>
          <p:cNvPr id="12" name="text-75"/>
          <p:cNvSpPr txBox="1"/>
          <p:nvPr/>
        </p:nvSpPr>
        <p:spPr>
          <a:xfrm>
            <a:off x="6583680" y="3154680"/>
            <a:ext cx="4754880" cy="365760"/>
          </a:xfrm>
          <a:prstGeom prst="rect">
            <a:avLst/>
          </a:prstGeom>
          <a:noFill/>
          <a:ln/>
        </p:spPr>
        <p:txBody>
          <a:bodyPr wrap="square" lIns="0" tIns="0" rIns="0" bIns="0" rtlCol="0" anchor="t"/>
          <a:lstStyle/>
          <a:p>
            <a:pPr indent="0" marL="0">
              <a:buNone/>
            </a:pPr>
            <a:r>
              <a:rPr lang="en-US" sz="1200" dirty="0">
                <a:solidFill>
                  <a:schemeClr val="tx2"/>
                </a:solidFill>
              </a:rPr>
              <a:t>自動運転の開始からNPCが動き出すまで</a:t>
            </a:r>
            <a:endParaRPr lang="en-US" sz="1200" dirty="0"/>
          </a:p>
        </p:txBody>
      </p:sp>
      <p:sp>
        <p:nvSpPr>
          <p:cNvPr id="13" name="text-76"/>
          <p:cNvSpPr txBox="1"/>
          <p:nvPr/>
        </p:nvSpPr>
        <p:spPr>
          <a:xfrm>
            <a:off x="6583680" y="3657600"/>
            <a:ext cx="47548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通常周期の診断はOK</a:t>
            </a:r>
            <a:endParaRPr lang="en-US" sz="1400" dirty="0"/>
          </a:p>
          <a:p>
            <a:pPr marL="342900" indent="-342900">
              <a:spcAft>
                <a:spcPts val="600"/>
              </a:spcAft>
              <a:buSzPct val="100000"/>
              <a:buChar char="•"/>
            </a:pPr>
            <a:r>
              <a:rPr lang="en-US" sz="1400" dirty="0">
                <a:solidFill>
                  <a:schemeClr val="tx1"/>
                </a:solidFill>
              </a:rPr>
              <a:t>非常停止はUターン時のAEB・衝突検出による1回だけ</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失敗率は1.68%から1.28%へ、再試行はしない</a:t>
            </a:r>
            <a:endParaRPr lang="en-US" sz="3000" dirty="0"/>
          </a:p>
        </p:txBody>
      </p:sp>
      <p:graphicFrame>
        <p:nvGraphicFramePr>
          <p:cNvPr id="3" name="failure-chart" descr=""/>
          <p:cNvGraphicFramePr/>
          <p:nvPr/>
        </p:nvGraphicFramePr>
        <p:xfrm>
          <a:off x="548640" y="13716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card-77"/>
          <p:cNvSpPr/>
          <p:nvPr/>
        </p:nvSpPr>
        <p:spPr>
          <a:xfrm>
            <a:off x="7863840" y="1371600"/>
            <a:ext cx="3749040" cy="2194560"/>
          </a:xfrm>
          <a:prstGeom prst="roundRect">
            <a:avLst>
              <a:gd name="adj" fmla="val 5000"/>
            </a:avLst>
          </a:prstGeom>
          <a:solidFill>
            <a:schemeClr val="bg2"/>
          </a:solidFill>
          <a:ln w="12700">
            <a:solidFill>
              <a:schemeClr val="bg2"/>
            </a:solidFill>
            <a:prstDash val="solid"/>
          </a:ln>
        </p:spPr>
      </p:sp>
      <p:sp>
        <p:nvSpPr>
          <p:cNvPr id="5" name="text-78"/>
          <p:cNvSpPr txBox="1"/>
          <p:nvPr/>
        </p:nvSpPr>
        <p:spPr>
          <a:xfrm>
            <a:off x="8138160" y="1600200"/>
            <a:ext cx="3200400" cy="914400"/>
          </a:xfrm>
          <a:prstGeom prst="rect">
            <a:avLst/>
          </a:prstGeom>
          <a:noFill/>
          <a:ln/>
        </p:spPr>
        <p:txBody>
          <a:bodyPr wrap="square" lIns="0" tIns="0" rIns="0" bIns="0" rtlCol="0" anchor="ctr"/>
          <a:lstStyle/>
          <a:p>
            <a:pPr indent="0" marL="0">
              <a:buNone/>
            </a:pPr>
            <a:r>
              <a:rPr lang="en-US" sz="4000" b="1" dirty="0">
                <a:solidFill>
                  <a:schemeClr val="tx1"/>
                </a:solidFill>
              </a:rPr>
              <a:t>152 → 116</a:t>
            </a:r>
            <a:endParaRPr lang="en-US" sz="4000" dirty="0"/>
          </a:p>
        </p:txBody>
      </p:sp>
      <p:sp>
        <p:nvSpPr>
          <p:cNvPr id="6" name="text-79"/>
          <p:cNvSpPr txBox="1"/>
          <p:nvPr/>
        </p:nvSpPr>
        <p:spPr>
          <a:xfrm>
            <a:off x="8138160" y="2560320"/>
            <a:ext cx="3200400" cy="640080"/>
          </a:xfrm>
          <a:prstGeom prst="rect">
            <a:avLst/>
          </a:prstGeom>
          <a:noFill/>
          <a:ln/>
        </p:spPr>
        <p:txBody>
          <a:bodyPr wrap="square" lIns="0" tIns="0" rIns="0" bIns="0" rtlCol="0" anchor="t"/>
          <a:lstStyle/>
          <a:p>
            <a:pPr indent="0" marL="0">
              <a:buNone/>
            </a:pPr>
            <a:r>
              <a:rPr lang="en-US" sz="1500" b="1" dirty="0">
                <a:solidFill>
                  <a:schemeClr val="tx1"/>
                </a:solidFill>
              </a:rPr>
              <a:t>失敗した試行の件数</a:t>
            </a:r>
            <a:endParaRPr lang="en-US" sz="1500" dirty="0"/>
          </a:p>
        </p:txBody>
      </p:sp>
      <p:sp>
        <p:nvSpPr>
          <p:cNvPr id="7" name="text-80"/>
          <p:cNvSpPr txBox="1"/>
          <p:nvPr/>
        </p:nvSpPr>
        <p:spPr>
          <a:xfrm>
            <a:off x="8138160" y="3200400"/>
            <a:ext cx="3200400" cy="182880"/>
          </a:xfrm>
          <a:prstGeom prst="rect">
            <a:avLst/>
          </a:prstGeom>
          <a:noFill/>
          <a:ln/>
        </p:spPr>
        <p:txBody>
          <a:bodyPr wrap="square" lIns="0" tIns="0" rIns="0" bIns="0" rtlCol="0" anchor="t"/>
          <a:lstStyle/>
          <a:p>
            <a:pPr indent="0" marL="0">
              <a:buNone/>
            </a:pPr>
            <a:r>
              <a:rPr lang="en-US" sz="1300" dirty="0">
                <a:solidFill>
                  <a:schemeClr val="tx2"/>
                </a:solidFill>
              </a:rPr>
              <a:t>1.68% → 1.28%</a:t>
            </a:r>
            <a:endParaRPr lang="en-US" sz="1300" dirty="0"/>
          </a:p>
        </p:txBody>
      </p:sp>
      <p:sp>
        <p:nvSpPr>
          <p:cNvPr id="8" name="card-81"/>
          <p:cNvSpPr/>
          <p:nvPr/>
        </p:nvSpPr>
        <p:spPr>
          <a:xfrm>
            <a:off x="7863840" y="3749040"/>
            <a:ext cx="3749040" cy="2194560"/>
          </a:xfrm>
          <a:prstGeom prst="roundRect">
            <a:avLst>
              <a:gd name="adj" fmla="val 5000"/>
            </a:avLst>
          </a:prstGeom>
          <a:solidFill>
            <a:schemeClr val="bg2"/>
          </a:solidFill>
          <a:ln w="12700">
            <a:solidFill>
              <a:schemeClr val="bg2"/>
            </a:solidFill>
            <a:prstDash val="solid"/>
          </a:ln>
        </p:spPr>
      </p:sp>
      <p:sp>
        <p:nvSpPr>
          <p:cNvPr id="9" name="text-82"/>
          <p:cNvSpPr txBox="1"/>
          <p:nvPr/>
        </p:nvSpPr>
        <p:spPr>
          <a:xfrm>
            <a:off x="8138160" y="3977640"/>
            <a:ext cx="3200400" cy="182880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失敗も結果として扱う</a:t>
            </a:r>
            <a:endParaRPr lang="en-US" sz="1400" dirty="0"/>
          </a:p>
          <a:p>
            <a:pPr indent="0" marL="0">
              <a:spcAft>
                <a:spcPts val="600"/>
              </a:spcAft>
              <a:buNone/>
            </a:pPr>
            <a:r>
              <a:rPr lang="en-US" sz="1300" dirty="0">
                <a:solidFill>
                  <a:schemeClr val="tx2"/>
                </a:solidFill>
              </a:rPr>
              <a:t>analysis_error と execution_error は2バージョンで1件も重ならない (偶発的)</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高速・短距離の条件ではどのバージョンもtimeout</a:t>
            </a:r>
            <a:endParaRPr lang="en-US" sz="3000" dirty="0"/>
          </a:p>
        </p:txBody>
      </p:sp>
      <p:pic>
        <p:nvPicPr>
          <p:cNvPr id="3" name="failure-map" descr="/home/passd/simulation_traces_version_compare_171_180_190_20261005/replay_failures.png">    </p:cNvPr>
          <p:cNvPicPr>
            <a:picLocks noChangeAspect="1"/>
          </p:cNvPicPr>
          <p:nvPr/>
        </p:nvPicPr>
        <p:blipFill>
          <a:blip r:embed="rId1"/>
          <a:stretch>
            <a:fillRect/>
          </a:stretch>
        </p:blipFill>
        <p:spPr>
          <a:xfrm>
            <a:off x="548640" y="1325880"/>
            <a:ext cx="6035040" cy="4306824"/>
          </a:xfrm>
          <a:prstGeom prst="rect">
            <a:avLst/>
          </a:prstGeom>
        </p:spPr>
      </p:pic>
      <p:sp>
        <p:nvSpPr>
          <p:cNvPr id="4" name="card-83"/>
          <p:cNvSpPr/>
          <p:nvPr/>
        </p:nvSpPr>
        <p:spPr>
          <a:xfrm>
            <a:off x="6949440" y="1325880"/>
            <a:ext cx="4663440" cy="2194560"/>
          </a:xfrm>
          <a:prstGeom prst="roundRect">
            <a:avLst>
              <a:gd name="adj" fmla="val 5000"/>
            </a:avLst>
          </a:prstGeom>
          <a:solidFill>
            <a:schemeClr val="bg2"/>
          </a:solidFill>
          <a:ln w="12700">
            <a:solidFill>
              <a:schemeClr val="bg2"/>
            </a:solidFill>
            <a:prstDash val="solid"/>
          </a:ln>
        </p:spPr>
      </p:sp>
      <p:sp>
        <p:nvSpPr>
          <p:cNvPr id="5" name="text-84"/>
          <p:cNvSpPr txBox="1"/>
          <p:nvPr/>
        </p:nvSpPr>
        <p:spPr>
          <a:xfrm>
            <a:off x="7223760" y="1554480"/>
            <a:ext cx="4114800" cy="914400"/>
          </a:xfrm>
          <a:prstGeom prst="rect">
            <a:avLst/>
          </a:prstGeom>
          <a:noFill/>
          <a:ln/>
        </p:spPr>
        <p:txBody>
          <a:bodyPr wrap="square" lIns="0" tIns="0" rIns="0" bIns="0" rtlCol="0" anchor="ctr"/>
          <a:lstStyle/>
          <a:p>
            <a:pPr indent="0" marL="0">
              <a:buNone/>
            </a:pPr>
            <a:r>
              <a:rPr lang="en-US" sz="4000" b="1" dirty="0">
                <a:solidFill>
                  <a:schemeClr val="accent4"/>
                </a:solidFill>
              </a:rPr>
              <a:t>13件</a:t>
            </a:r>
            <a:endParaRPr lang="en-US" sz="4000" dirty="0"/>
          </a:p>
        </p:txBody>
      </p:sp>
      <p:sp>
        <p:nvSpPr>
          <p:cNvPr id="6" name="text-85"/>
          <p:cNvSpPr txBox="1"/>
          <p:nvPr/>
        </p:nvSpPr>
        <p:spPr>
          <a:xfrm>
            <a:off x="7223760" y="2514600"/>
            <a:ext cx="4114800" cy="640080"/>
          </a:xfrm>
          <a:prstGeom prst="rect">
            <a:avLst/>
          </a:prstGeom>
          <a:noFill/>
          <a:ln/>
        </p:spPr>
        <p:txBody>
          <a:bodyPr wrap="square" lIns="0" tIns="0" rIns="0" bIns="0" rtlCol="0" anchor="t"/>
          <a:lstStyle/>
          <a:p>
            <a:pPr indent="0" marL="0">
              <a:buNone/>
            </a:pPr>
            <a:r>
              <a:rPr lang="en-US" sz="1500" b="1" dirty="0">
                <a:solidFill>
                  <a:schemeClr val="tx1"/>
                </a:solidFill>
              </a:rPr>
              <a:t>1.8.0と1.9.0の両方でtimeout</a:t>
            </a:r>
            <a:endParaRPr lang="en-US" sz="1500" dirty="0"/>
          </a:p>
        </p:txBody>
      </p:sp>
      <p:sp>
        <p:nvSpPr>
          <p:cNvPr id="7" name="text-86"/>
          <p:cNvSpPr txBox="1"/>
          <p:nvPr/>
        </p:nvSpPr>
        <p:spPr>
          <a:xfrm>
            <a:off x="7223760" y="3154680"/>
            <a:ext cx="4114800" cy="182880"/>
          </a:xfrm>
          <a:prstGeom prst="rect">
            <a:avLst/>
          </a:prstGeom>
          <a:noFill/>
          <a:ln/>
        </p:spPr>
        <p:txBody>
          <a:bodyPr wrap="square" lIns="0" tIns="0" rIns="0" bIns="0" rtlCol="0" anchor="t"/>
          <a:lstStyle/>
          <a:p>
            <a:pPr indent="0" marL="0">
              <a:buNone/>
            </a:pPr>
            <a:r>
              <a:rPr lang="en-US" sz="1300" dirty="0">
                <a:solidFill>
                  <a:schemeClr val="tx2"/>
                </a:solidFill>
              </a:rPr>
              <a:t>独立なら1.9件。オッズ比8.0、p = 6e-8。13件中12件は1.7.1で衝突</a:t>
            </a:r>
            <a:endParaRPr lang="en-US" sz="1300" dirty="0"/>
          </a:p>
        </p:txBody>
      </p:sp>
      <p:sp>
        <p:nvSpPr>
          <p:cNvPr id="8" name="card-87"/>
          <p:cNvSpPr/>
          <p:nvPr/>
        </p:nvSpPr>
        <p:spPr>
          <a:xfrm>
            <a:off x="6949440" y="3703320"/>
            <a:ext cx="4663440" cy="2286000"/>
          </a:xfrm>
          <a:prstGeom prst="roundRect">
            <a:avLst>
              <a:gd name="adj" fmla="val 4800"/>
            </a:avLst>
          </a:prstGeom>
          <a:solidFill>
            <a:schemeClr val="bg2"/>
          </a:solidFill>
          <a:ln w="12700">
            <a:solidFill>
              <a:schemeClr val="bg2"/>
            </a:solidFill>
            <a:prstDash val="solid"/>
          </a:ln>
        </p:spPr>
      </p:sp>
      <p:sp>
        <p:nvSpPr>
          <p:cNvPr id="9" name="text-88"/>
          <p:cNvSpPr txBox="1"/>
          <p:nvPr/>
        </p:nvSpPr>
        <p:spPr>
          <a:xfrm>
            <a:off x="7223760" y="3886200"/>
            <a:ext cx="4206240" cy="20116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ego_speed ≥ 38 かつ dx0 ≤ 14 の領域のtimeout率</a:t>
            </a:r>
            <a:endParaRPr lang="en-US" sz="1300" dirty="0"/>
          </a:p>
          <a:p>
            <a:pPr marL="342900" indent="-342900">
              <a:spcAft>
                <a:spcPts val="400"/>
              </a:spcAft>
              <a:buSzPct val="100000"/>
              <a:buChar char="•"/>
            </a:pPr>
            <a:r>
              <a:rPr lang="en-US" sz="1300" dirty="0">
                <a:solidFill>
                  <a:schemeClr val="tx1"/>
                </a:solidFill>
              </a:rPr>
              <a:t>1.7.1 元実験: 14.8% (領域外 10.2%)</a:t>
            </a:r>
            <a:endParaRPr lang="en-US" sz="1300" dirty="0"/>
          </a:p>
          <a:p>
            <a:pPr marL="342900" indent="-342900">
              <a:spcAft>
                <a:spcPts val="400"/>
              </a:spcAft>
              <a:buSzPct val="100000"/>
              <a:buChar char="•"/>
            </a:pPr>
            <a:r>
              <a:rPr lang="en-US" sz="1300" dirty="0">
                <a:solidFill>
                  <a:schemeClr val="tx1"/>
                </a:solidFill>
              </a:rPr>
              <a:t>1.8.0: 4.1% (領域外 0.5%)</a:t>
            </a:r>
            <a:endParaRPr lang="en-US" sz="1300" dirty="0"/>
          </a:p>
          <a:p>
            <a:pPr marL="342900" indent="-342900">
              <a:spcAft>
                <a:spcPts val="400"/>
              </a:spcAft>
              <a:buSzPct val="100000"/>
              <a:buChar char="•"/>
            </a:pPr>
            <a:r>
              <a:rPr lang="en-US" sz="1300" dirty="0">
                <a:solidFill>
                  <a:schemeClr val="tx1"/>
                </a:solidFill>
              </a:rPr>
              <a:t>1.9.0: 3.9% (領域外 0.4%)</a:t>
            </a:r>
            <a:endParaRPr lang="en-US" sz="1300" dirty="0"/>
          </a:p>
          <a:p>
            <a:pPr indent="0" marL="0">
              <a:spcAft>
                <a:spcPts val="400"/>
              </a:spcAft>
              <a:buNone/>
            </a:pPr>
            <a:r>
              <a:rPr lang="en-US" sz="1300" b="1" dirty="0">
                <a:solidFill>
                  <a:schemeClr val="accent4"/>
                </a:solidFill>
              </a:rPr>
              <a:t>除外すると最も危険な条件が選択的に抜ける</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最終衝突率は3バージョンでほぼ同じ</a:t>
            </a:r>
            <a:endParaRPr lang="en-US" sz="3000" dirty="0"/>
          </a:p>
        </p:txBody>
      </p:sp>
      <p:sp>
        <p:nvSpPr>
          <p:cNvPr id="3" name="card-89"/>
          <p:cNvSpPr/>
          <p:nvPr/>
        </p:nvSpPr>
        <p:spPr>
          <a:xfrm>
            <a:off x="548640" y="1325880"/>
            <a:ext cx="3566160" cy="1737360"/>
          </a:xfrm>
          <a:prstGeom prst="roundRect">
            <a:avLst>
              <a:gd name="adj" fmla="val 6316"/>
            </a:avLst>
          </a:prstGeom>
          <a:solidFill>
            <a:schemeClr val="bg2"/>
          </a:solidFill>
          <a:ln w="12700">
            <a:solidFill>
              <a:schemeClr val="bg2"/>
            </a:solidFill>
            <a:prstDash val="solid"/>
          </a:ln>
        </p:spPr>
      </p:sp>
      <p:sp>
        <p:nvSpPr>
          <p:cNvPr id="4" name="dot-90"/>
          <p:cNvSpPr/>
          <p:nvPr/>
        </p:nvSpPr>
        <p:spPr>
          <a:xfrm>
            <a:off x="822960" y="1554480"/>
            <a:ext cx="384048" cy="384048"/>
          </a:xfrm>
          <a:prstGeom prst="ellipse">
            <a:avLst/>
          </a:prstGeom>
          <a:solidFill>
            <a:schemeClr val="accent3"/>
          </a:solidFill>
          <a:ln w="12700">
            <a:solidFill>
              <a:schemeClr val="accent3"/>
            </a:solidFill>
            <a:prstDash val="solid"/>
          </a:ln>
        </p:spPr>
      </p:sp>
      <p:sp>
        <p:nvSpPr>
          <p:cNvPr id="5" name="text-91"/>
          <p:cNvSpPr txBox="1"/>
          <p:nvPr/>
        </p:nvSpPr>
        <p:spPr>
          <a:xfrm>
            <a:off x="1325880" y="1554480"/>
            <a:ext cx="2286000" cy="384048"/>
          </a:xfrm>
          <a:prstGeom prst="rect">
            <a:avLst/>
          </a:prstGeom>
          <a:noFill/>
          <a:ln/>
        </p:spPr>
        <p:txBody>
          <a:bodyPr wrap="square" lIns="0" tIns="0" rIns="0" bIns="0" rtlCol="0" anchor="ctr"/>
          <a:lstStyle/>
          <a:p>
            <a:pPr indent="0" marL="0">
              <a:buNone/>
            </a:pPr>
            <a:r>
              <a:rPr lang="en-US" sz="1800" b="1" dirty="0">
                <a:solidFill>
                  <a:schemeClr val="tx1"/>
                </a:solidFill>
              </a:rPr>
              <a:t>1.7.1</a:t>
            </a:r>
            <a:endParaRPr lang="en-US" sz="1800" dirty="0"/>
          </a:p>
        </p:txBody>
      </p:sp>
      <p:sp>
        <p:nvSpPr>
          <p:cNvPr id="6" name="text-92"/>
          <p:cNvSpPr txBox="1"/>
          <p:nvPr/>
        </p:nvSpPr>
        <p:spPr>
          <a:xfrm>
            <a:off x="822960" y="2057400"/>
            <a:ext cx="3017520" cy="822960"/>
          </a:xfrm>
          <a:prstGeom prst="rect">
            <a:avLst/>
          </a:prstGeom>
          <a:noFill/>
          <a:ln/>
        </p:spPr>
        <p:txBody>
          <a:bodyPr wrap="square" lIns="0" tIns="0" rIns="0" bIns="0" rtlCol="0" anchor="ctr"/>
          <a:lstStyle/>
          <a:p>
            <a:pPr indent="0" marL="0">
              <a:buNone/>
            </a:pPr>
            <a:r>
              <a:rPr lang="en-US" sz="4000" b="1" dirty="0">
                <a:solidFill>
                  <a:schemeClr val="accent3"/>
                </a:solidFill>
              </a:rPr>
              <a:t>37.82%</a:t>
            </a:r>
            <a:endParaRPr lang="en-US" sz="4000" dirty="0"/>
          </a:p>
        </p:txBody>
      </p:sp>
      <p:sp>
        <p:nvSpPr>
          <p:cNvPr id="7" name="card-93"/>
          <p:cNvSpPr/>
          <p:nvPr/>
        </p:nvSpPr>
        <p:spPr>
          <a:xfrm>
            <a:off x="4297680" y="1325880"/>
            <a:ext cx="3566160" cy="1737360"/>
          </a:xfrm>
          <a:prstGeom prst="roundRect">
            <a:avLst>
              <a:gd name="adj" fmla="val 6316"/>
            </a:avLst>
          </a:prstGeom>
          <a:solidFill>
            <a:schemeClr val="bg2"/>
          </a:solidFill>
          <a:ln w="12700">
            <a:solidFill>
              <a:schemeClr val="bg2"/>
            </a:solidFill>
            <a:prstDash val="solid"/>
          </a:ln>
        </p:spPr>
      </p:sp>
      <p:sp>
        <p:nvSpPr>
          <p:cNvPr id="8" name="dot-94"/>
          <p:cNvSpPr/>
          <p:nvPr/>
        </p:nvSpPr>
        <p:spPr>
          <a:xfrm>
            <a:off x="4572000" y="1554480"/>
            <a:ext cx="384048" cy="384048"/>
          </a:xfrm>
          <a:prstGeom prst="ellipse">
            <a:avLst/>
          </a:prstGeom>
          <a:solidFill>
            <a:schemeClr val="accent1"/>
          </a:solidFill>
          <a:ln w="12700">
            <a:solidFill>
              <a:schemeClr val="accent1"/>
            </a:solidFill>
            <a:prstDash val="solid"/>
          </a:ln>
        </p:spPr>
      </p:sp>
      <p:sp>
        <p:nvSpPr>
          <p:cNvPr id="9" name="text-95"/>
          <p:cNvSpPr txBox="1"/>
          <p:nvPr/>
        </p:nvSpPr>
        <p:spPr>
          <a:xfrm>
            <a:off x="5074920" y="1554480"/>
            <a:ext cx="2286000" cy="384048"/>
          </a:xfrm>
          <a:prstGeom prst="rect">
            <a:avLst/>
          </a:prstGeom>
          <a:noFill/>
          <a:ln/>
        </p:spPr>
        <p:txBody>
          <a:bodyPr wrap="square" lIns="0" tIns="0" rIns="0" bIns="0" rtlCol="0" anchor="ctr"/>
          <a:lstStyle/>
          <a:p>
            <a:pPr indent="0" marL="0">
              <a:buNone/>
            </a:pPr>
            <a:r>
              <a:rPr lang="en-US" sz="1800" b="1" dirty="0">
                <a:solidFill>
                  <a:schemeClr val="tx1"/>
                </a:solidFill>
              </a:rPr>
              <a:t>1.8.0</a:t>
            </a:r>
            <a:endParaRPr lang="en-US" sz="1800" dirty="0"/>
          </a:p>
        </p:txBody>
      </p:sp>
      <p:sp>
        <p:nvSpPr>
          <p:cNvPr id="10" name="text-96"/>
          <p:cNvSpPr txBox="1"/>
          <p:nvPr/>
        </p:nvSpPr>
        <p:spPr>
          <a:xfrm>
            <a:off x="4572000" y="2057400"/>
            <a:ext cx="3017520" cy="822960"/>
          </a:xfrm>
          <a:prstGeom prst="rect">
            <a:avLst/>
          </a:prstGeom>
          <a:noFill/>
          <a:ln/>
        </p:spPr>
        <p:txBody>
          <a:bodyPr wrap="square" lIns="0" tIns="0" rIns="0" bIns="0" rtlCol="0" anchor="ctr"/>
          <a:lstStyle/>
          <a:p>
            <a:pPr indent="0" marL="0">
              <a:buNone/>
            </a:pPr>
            <a:r>
              <a:rPr lang="en-US" sz="4000" b="1" dirty="0">
                <a:solidFill>
                  <a:schemeClr val="accent1"/>
                </a:solidFill>
              </a:rPr>
              <a:t>38.13%</a:t>
            </a:r>
            <a:endParaRPr lang="en-US" sz="4000" dirty="0"/>
          </a:p>
        </p:txBody>
      </p:sp>
      <p:sp>
        <p:nvSpPr>
          <p:cNvPr id="11" name="card-97"/>
          <p:cNvSpPr/>
          <p:nvPr/>
        </p:nvSpPr>
        <p:spPr>
          <a:xfrm>
            <a:off x="8046720" y="1325880"/>
            <a:ext cx="3566160" cy="1737360"/>
          </a:xfrm>
          <a:prstGeom prst="roundRect">
            <a:avLst>
              <a:gd name="adj" fmla="val 6316"/>
            </a:avLst>
          </a:prstGeom>
          <a:solidFill>
            <a:schemeClr val="bg2"/>
          </a:solidFill>
          <a:ln w="12700">
            <a:solidFill>
              <a:schemeClr val="bg2"/>
            </a:solidFill>
            <a:prstDash val="solid"/>
          </a:ln>
        </p:spPr>
      </p:sp>
      <p:sp>
        <p:nvSpPr>
          <p:cNvPr id="12" name="dot-98"/>
          <p:cNvSpPr/>
          <p:nvPr/>
        </p:nvSpPr>
        <p:spPr>
          <a:xfrm>
            <a:off x="8321040" y="1554480"/>
            <a:ext cx="384048" cy="384048"/>
          </a:xfrm>
          <a:prstGeom prst="ellipse">
            <a:avLst/>
          </a:prstGeom>
          <a:solidFill>
            <a:schemeClr val="accent2"/>
          </a:solidFill>
          <a:ln w="12700">
            <a:solidFill>
              <a:schemeClr val="accent2"/>
            </a:solidFill>
            <a:prstDash val="solid"/>
          </a:ln>
        </p:spPr>
      </p:sp>
      <p:sp>
        <p:nvSpPr>
          <p:cNvPr id="13" name="text-99"/>
          <p:cNvSpPr txBox="1"/>
          <p:nvPr/>
        </p:nvSpPr>
        <p:spPr>
          <a:xfrm>
            <a:off x="8823960" y="1554480"/>
            <a:ext cx="2286000" cy="384048"/>
          </a:xfrm>
          <a:prstGeom prst="rect">
            <a:avLst/>
          </a:prstGeom>
          <a:noFill/>
          <a:ln/>
        </p:spPr>
        <p:txBody>
          <a:bodyPr wrap="square" lIns="0" tIns="0" rIns="0" bIns="0" rtlCol="0" anchor="ctr"/>
          <a:lstStyle/>
          <a:p>
            <a:pPr indent="0" marL="0">
              <a:buNone/>
            </a:pPr>
            <a:r>
              <a:rPr lang="en-US" sz="1800" b="1" dirty="0">
                <a:solidFill>
                  <a:schemeClr val="tx1"/>
                </a:solidFill>
              </a:rPr>
              <a:t>1.9.0</a:t>
            </a:r>
            <a:endParaRPr lang="en-US" sz="1800" dirty="0"/>
          </a:p>
        </p:txBody>
      </p:sp>
      <p:sp>
        <p:nvSpPr>
          <p:cNvPr id="14" name="text-100"/>
          <p:cNvSpPr txBox="1"/>
          <p:nvPr/>
        </p:nvSpPr>
        <p:spPr>
          <a:xfrm>
            <a:off x="8321040" y="2057400"/>
            <a:ext cx="3017520" cy="822960"/>
          </a:xfrm>
          <a:prstGeom prst="rect">
            <a:avLst/>
          </a:prstGeom>
          <a:noFill/>
          <a:ln/>
        </p:spPr>
        <p:txBody>
          <a:bodyPr wrap="square" lIns="0" tIns="0" rIns="0" bIns="0" rtlCol="0" anchor="ctr"/>
          <a:lstStyle/>
          <a:p>
            <a:pPr indent="0" marL="0">
              <a:buNone/>
            </a:pPr>
            <a:r>
              <a:rPr lang="en-US" sz="4000" b="1" dirty="0">
                <a:solidFill>
                  <a:schemeClr val="accent2"/>
                </a:solidFill>
              </a:rPr>
              <a:t>38.25%</a:t>
            </a:r>
            <a:endParaRPr lang="en-US" sz="4000" dirty="0"/>
          </a:p>
        </p:txBody>
      </p:sp>
      <p:graphicFrame>
        <p:nvGraphicFramePr>
          <p:cNvPr id="10" name="collision-table"/>
          <p:cNvGraphicFramePr>
            <a:graphicFrameLocks noGrp="1"/>
          </p:cNvGraphicFramePr>
          <p:nvPr>
            <p:extLst>
              <p:ext uri="{D42A27DB-BD31-4B8C-83A1-F6EECF244321}">
                <p14:modId xmlns:p14="http://schemas.microsoft.com/office/powerpoint/2010/main" val="1579011935"/>
              </p:ext>
            </p:extLst>
          </p:nvPr>
        </p:nvGraphicFramePr>
        <p:xfrm>
          <a:off x="548640" y="3383280"/>
          <a:ext cx="11064240" cy="914400"/>
        </p:xfrm>
        <a:graphic>
          <a:graphicData uri="http://schemas.openxmlformats.org/drawingml/2006/table">
            <a:tbl>
              <a:tblPr/>
              <a:tblGrid>
                <a:gridCol w="2194560"/>
                <a:gridCol w="1463040"/>
                <a:gridCol w="1737360"/>
                <a:gridCol w="1737360"/>
                <a:gridCol w="1554480"/>
                <a:gridCol w="2377440"/>
              </a:tblGrid>
              <a:tr h="457200">
                <a:tc>
                  <a:txBody>
                    <a:bodyPr/>
                    <a:lstStyle/>
                    <a:p>
                      <a:pPr indent="0" marL="0">
                        <a:buNone/>
                      </a:pPr>
                      <a:r>
                        <a:rPr lang="en-US" sz="1300" b="1" dirty="0">
                          <a:solidFill>
                            <a:schemeClr val="bg1"/>
                          </a:solidFill>
                        </a:rPr>
                        <a:t>比較</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一致率</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非衝突→衝突</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衝突→非衝突</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McNemar p</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対応オッズ比 [95%CI]</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r>
              <a:tr h="457200">
                <a:tc>
                  <a:txBody>
                    <a:bodyPr/>
                    <a:lstStyle/>
                    <a:p>
                      <a:pPr indent="0" marL="0">
                        <a:buNone/>
                      </a:pPr>
                      <a:r>
                        <a:rPr lang="en-US" sz="1300" dirty="0">
                          <a:solidFill>
                            <a:schemeClr val="tx1"/>
                          </a:solidFill>
                        </a:rPr>
                        <a:t>1.7.1 → 1.8.0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97.53%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123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95</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0.067</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1.29 [0.98, 1.71]</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57200">
                <a:tc>
                  <a:txBody>
                    <a:bodyPr/>
                    <a:lstStyle/>
                    <a:p>
                      <a:pPr indent="0" marL="0">
                        <a:buNone/>
                      </a:pPr>
                      <a:r>
                        <a:rPr lang="en-US" sz="1300" dirty="0">
                          <a:solidFill>
                            <a:schemeClr val="tx1"/>
                          </a:solidFill>
                        </a:rPr>
                        <a:t>1.7.1 → 1.9.0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97.59%</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125</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87</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0.011</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1.44 [1.08, 1.91]</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57200">
                <a:tc>
                  <a:txBody>
                    <a:bodyPr/>
                    <a:lstStyle/>
                    <a:p>
                      <a:pPr indent="0" marL="0">
                        <a:buNone/>
                      </a:pPr>
                      <a:r>
                        <a:rPr lang="en-US" sz="1300" b="1" dirty="0">
                          <a:solidFill>
                            <a:schemeClr val="tx1"/>
                          </a:solidFill>
                        </a:rPr>
                        <a:t>1.8.0 → 1.9.0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97.66%</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108</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98</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b="1" dirty="0">
                          <a:solidFill>
                            <a:schemeClr val="accent5"/>
                          </a:solidFill>
                        </a:rPr>
                        <a:t>0.53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1.10 [0.83, 1.46]</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bl>
          </a:graphicData>
        </a:graphic>
      </p:graphicFrame>
      <p:sp>
        <p:nvSpPr>
          <p:cNvPr id="16" name="text-101"/>
          <p:cNvSpPr txBox="1"/>
          <p:nvPr/>
        </p:nvSpPr>
        <p:spPr>
          <a:xfrm>
            <a:off x="548640" y="5440680"/>
            <a:ext cx="11064240" cy="365760"/>
          </a:xfrm>
          <a:prstGeom prst="rect">
            <a:avLst/>
          </a:prstGeom>
          <a:noFill/>
          <a:ln/>
        </p:spPr>
        <p:txBody>
          <a:bodyPr wrap="square" lIns="0" tIns="0" rIns="0" bIns="0" rtlCol="0" anchor="t"/>
          <a:lstStyle/>
          <a:p>
            <a:pPr indent="0" marL="0">
              <a:buNone/>
            </a:pPr>
            <a:r>
              <a:rPr lang="en-US" sz="1200" dirty="0">
                <a:solidFill>
                  <a:schemeClr val="tx2"/>
                </a:solidFill>
              </a:rPr>
              <a:t>3バージョンすべてで有効だった8,811件。Cochran Q = 7.32、p = 0.026</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どのバージョンも同じくらい「1つだけ違う」</a:t>
            </a:r>
            <a:endParaRPr lang="en-US" sz="3000" dirty="0"/>
          </a:p>
        </p:txBody>
      </p:sp>
      <p:graphicFrame>
        <p:nvGraphicFramePr>
          <p:cNvPr id="3" name="pattern-chart" descr=""/>
          <p:cNvGraphicFramePr/>
          <p:nvPr/>
        </p:nvGraphicFramePr>
        <p:xfrm>
          <a:off x="548640" y="137160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card-102"/>
          <p:cNvSpPr/>
          <p:nvPr/>
        </p:nvSpPr>
        <p:spPr>
          <a:xfrm>
            <a:off x="7680960" y="1371600"/>
            <a:ext cx="3931920" cy="2286000"/>
          </a:xfrm>
          <a:prstGeom prst="roundRect">
            <a:avLst>
              <a:gd name="adj" fmla="val 4800"/>
            </a:avLst>
          </a:prstGeom>
          <a:solidFill>
            <a:schemeClr val="bg2"/>
          </a:solidFill>
          <a:ln w="12700">
            <a:solidFill>
              <a:schemeClr val="bg2"/>
            </a:solidFill>
            <a:prstDash val="solid"/>
          </a:ln>
        </p:spPr>
      </p:sp>
      <p:sp>
        <p:nvSpPr>
          <p:cNvPr id="5" name="text-103"/>
          <p:cNvSpPr txBox="1"/>
          <p:nvPr/>
        </p:nvSpPr>
        <p:spPr>
          <a:xfrm>
            <a:off x="7955280" y="1600200"/>
            <a:ext cx="3383280" cy="914400"/>
          </a:xfrm>
          <a:prstGeom prst="rect">
            <a:avLst/>
          </a:prstGeom>
          <a:noFill/>
          <a:ln/>
        </p:spPr>
        <p:txBody>
          <a:bodyPr wrap="square" lIns="0" tIns="0" rIns="0" bIns="0" rtlCol="0" anchor="ctr"/>
          <a:lstStyle/>
          <a:p>
            <a:pPr indent="0" marL="0">
              <a:buNone/>
            </a:pPr>
            <a:r>
              <a:rPr lang="en-US" sz="3000" b="1" dirty="0">
                <a:solidFill>
                  <a:schemeClr val="tx1"/>
                </a:solidFill>
              </a:rPr>
              <a:t>112 / 106 / 100</a:t>
            </a:r>
            <a:endParaRPr lang="en-US" sz="3000" dirty="0"/>
          </a:p>
        </p:txBody>
      </p:sp>
      <p:sp>
        <p:nvSpPr>
          <p:cNvPr id="6" name="text-104"/>
          <p:cNvSpPr txBox="1"/>
          <p:nvPr/>
        </p:nvSpPr>
        <p:spPr>
          <a:xfrm>
            <a:off x="7955280" y="2560320"/>
            <a:ext cx="3383280" cy="640080"/>
          </a:xfrm>
          <a:prstGeom prst="rect">
            <a:avLst/>
          </a:prstGeom>
          <a:noFill/>
          <a:ln/>
        </p:spPr>
        <p:txBody>
          <a:bodyPr wrap="square" lIns="0" tIns="0" rIns="0" bIns="0" rtlCol="0" anchor="t"/>
          <a:lstStyle/>
          <a:p>
            <a:pPr indent="0" marL="0">
              <a:buNone/>
            </a:pPr>
            <a:r>
              <a:rPr lang="en-US" sz="1500" b="1" dirty="0">
                <a:solidFill>
                  <a:schemeClr val="tx1"/>
                </a:solidFill>
              </a:rPr>
              <a:t>各バージョンが1つだけ異なる件数</a:t>
            </a:r>
            <a:endParaRPr lang="en-US" sz="1500" dirty="0"/>
          </a:p>
        </p:txBody>
      </p:sp>
      <p:sp>
        <p:nvSpPr>
          <p:cNvPr id="7" name="text-105"/>
          <p:cNvSpPr txBox="1"/>
          <p:nvPr/>
        </p:nvSpPr>
        <p:spPr>
          <a:xfrm>
            <a:off x="7955280" y="3200400"/>
            <a:ext cx="3383280" cy="274320"/>
          </a:xfrm>
          <a:prstGeom prst="rect">
            <a:avLst/>
          </a:prstGeom>
          <a:noFill/>
          <a:ln/>
        </p:spPr>
        <p:txBody>
          <a:bodyPr wrap="square" lIns="0" tIns="0" rIns="0" bIns="0" rtlCol="0" anchor="t"/>
          <a:lstStyle/>
          <a:p>
            <a:pPr indent="0" marL="0">
              <a:buNone/>
            </a:pPr>
            <a:r>
              <a:rPr lang="en-US" sz="1300" dirty="0">
                <a:solidFill>
                  <a:schemeClr val="tx2"/>
                </a:solidFill>
              </a:rPr>
              <a:t>反転の大半は特定バージョンの性質ではない</a:t>
            </a:r>
            <a:endParaRPr lang="en-US" sz="1300" dirty="0"/>
          </a:p>
        </p:txBody>
      </p:sp>
      <p:sp>
        <p:nvSpPr>
          <p:cNvPr id="8" name="card-106"/>
          <p:cNvSpPr/>
          <p:nvPr/>
        </p:nvSpPr>
        <p:spPr>
          <a:xfrm>
            <a:off x="7680960" y="3840480"/>
            <a:ext cx="3931920" cy="2103120"/>
          </a:xfrm>
          <a:prstGeom prst="roundRect">
            <a:avLst>
              <a:gd name="adj" fmla="val 5217"/>
            </a:avLst>
          </a:prstGeom>
          <a:solidFill>
            <a:schemeClr val="bg2"/>
          </a:solidFill>
          <a:ln w="12700">
            <a:solidFill>
              <a:schemeClr val="bg2"/>
            </a:solidFill>
            <a:prstDash val="solid"/>
          </a:ln>
        </p:spPr>
      </p:sp>
      <p:sp>
        <p:nvSpPr>
          <p:cNvPr id="9" name="text-107"/>
          <p:cNvSpPr txBox="1"/>
          <p:nvPr/>
        </p:nvSpPr>
        <p:spPr>
          <a:xfrm>
            <a:off x="7955280" y="4023360"/>
            <a:ext cx="3474720" cy="182880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偏りは1.7.1だけ</a:t>
            </a:r>
            <a:endParaRPr lang="en-US" sz="1300" dirty="0"/>
          </a:p>
          <a:p>
            <a:pPr marL="342900" indent="-342900">
              <a:spcAft>
                <a:spcPts val="600"/>
              </a:spcAft>
              <a:buSzPct val="100000"/>
              <a:buChar char="•"/>
            </a:pPr>
            <a:r>
              <a:rPr lang="en-US" sz="1300" dirty="0">
                <a:solidFill>
                  <a:schemeClr val="tx1"/>
                </a:solidFill>
              </a:rPr>
              <a:t>replay 2本がそろって衝突 70件、逆 42件 (p = 0.010)</a:t>
            </a:r>
            <a:endParaRPr lang="en-US" sz="1300" dirty="0"/>
          </a:p>
          <a:p>
            <a:pPr marL="342900" indent="-342900">
              <a:spcAft>
                <a:spcPts val="600"/>
              </a:spcAft>
              <a:buSzPct val="100000"/>
              <a:buChar char="•"/>
            </a:pPr>
            <a:r>
              <a:rPr lang="en-US" sz="1300" dirty="0">
                <a:solidFill>
                  <a:schemeClr val="tx1"/>
                </a:solidFill>
              </a:rPr>
              <a:t>1.8.0で反転した218件は、1.9.0で112件が1.8.0側、106件が1.7.1側</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同じ1.7.1を再実行しても同じ偏りが出る</a:t>
            </a:r>
            <a:endParaRPr lang="en-US" sz="3000" dirty="0"/>
          </a:p>
        </p:txBody>
      </p:sp>
      <p:graphicFrame>
        <p:nvGraphicFramePr>
          <p:cNvPr id="12" name="nois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2468880"/>
                <a:gridCol w="1005840"/>
                <a:gridCol w="1371600"/>
                <a:gridCol w="1645920"/>
                <a:gridCol w="1645920"/>
                <a:gridCol w="914400"/>
              </a:tblGrid>
              <a:tr h="457200">
                <a:tc>
                  <a:txBody>
                    <a:bodyPr/>
                    <a:lstStyle/>
                    <a:p>
                      <a:pPr indent="0" marL="0">
                        <a:buNone/>
                      </a:pPr>
                      <a:r>
                        <a:rPr lang="en-US" sz="1300" b="1" dirty="0">
                          <a:solidFill>
                            <a:schemeClr val="bg1"/>
                          </a:solidFill>
                        </a:rPr>
                        <a:t>群</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比較</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件数</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一致率</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非衝突→衝突</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衝突→非衝突</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r>
              <a:tr h="457200">
                <a:tc rowSpan="3">
                  <a:txBody>
                    <a:bodyPr/>
                    <a:lstStyle/>
                    <a:p>
                      <a:pPr indent="0" marL="0">
                        <a:buNone/>
                      </a:pPr>
                      <a:r>
                        <a:rPr lang="en-US" sz="1300" b="1" dirty="0">
                          <a:solidFill>
                            <a:schemeClr val="tx1"/>
                          </a:solidFill>
                        </a:rPr>
                        <a:t>無作為500件群</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b="1" dirty="0">
                          <a:solidFill>
                            <a:schemeClr val="tx1"/>
                          </a:solidFill>
                        </a:rPr>
                        <a:t>1.7.1 → 1.7.1再実行</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473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96.41%</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7</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0.63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57200">
                <a:tc vMerge="1">
                  <a:tcPr/>
                </a:tc>
                <a:tc>
                  <a:txBody>
                    <a:bodyPr/>
                    <a:lstStyle/>
                    <a:p>
                      <a:pPr indent="0" marL="0">
                        <a:buNone/>
                      </a:pPr>
                      <a:r>
                        <a:rPr lang="en-US" sz="1300" dirty="0">
                          <a:solidFill>
                            <a:schemeClr val="tx1"/>
                          </a:solidFill>
                        </a:rPr>
                        <a:t>1.7.1 → 1.9.0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473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98.31%</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6</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2</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0.29</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57200">
                <a:tc vMerge="1">
                  <a:tcPr/>
                </a:tc>
                <a:tc>
                  <a:txBody>
                    <a:bodyPr/>
                    <a:lstStyle/>
                    <a:p>
                      <a:pPr indent="0" marL="0">
                        <a:buNone/>
                      </a:pPr>
                      <a:r>
                        <a:rPr lang="en-US" sz="1300" dirty="0">
                          <a:solidFill>
                            <a:schemeClr val="tx1"/>
                          </a:solidFill>
                        </a:rPr>
                        <a:t>1.8.0 → 1.9.0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473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97.67%</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7</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0.55</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57200">
                <a:tc rowSpan="3">
                  <a:txBody>
                    <a:bodyPr/>
                    <a:lstStyle/>
                    <a:p>
                      <a:pPr indent="0" marL="0">
                        <a:buNone/>
                      </a:pPr>
                      <a:r>
                        <a:rPr lang="en-US" sz="1300" b="1" dirty="0">
                          <a:solidFill>
                            <a:schemeClr val="tx1"/>
                          </a:solidFill>
                        </a:rPr>
                        <a:t>1.8.0初回反転群</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b="1" dirty="0">
                          <a:solidFill>
                            <a:schemeClr val="tx1"/>
                          </a:solidFill>
                        </a:rPr>
                        <a:t>1.7.1 → 1.7.1再実行</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214</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43.93%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b="1" dirty="0">
                          <a:solidFill>
                            <a:schemeClr val="accent4"/>
                          </a:solidFill>
                        </a:rPr>
                        <a:t>72</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48</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b="1" dirty="0">
                          <a:solidFill>
                            <a:schemeClr val="accent4"/>
                          </a:solidFill>
                        </a:rPr>
                        <a:t>0.035</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57200">
                <a:tc vMerge="1">
                  <a:tcPr/>
                </a:tc>
                <a:tc>
                  <a:txBody>
                    <a:bodyPr/>
                    <a:lstStyle/>
                    <a:p>
                      <a:pPr indent="0" marL="0">
                        <a:buNone/>
                      </a:pPr>
                      <a:r>
                        <a:rPr lang="en-US" sz="1300" dirty="0">
                          <a:solidFill>
                            <a:schemeClr val="tx1"/>
                          </a:solidFill>
                        </a:rPr>
                        <a:t>1.7.1 → 1.9.0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214</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49.07%</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68</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41</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0.012</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57200">
                <a:tc vMerge="1">
                  <a:tcPr/>
                </a:tc>
                <a:tc>
                  <a:txBody>
                    <a:bodyPr/>
                    <a:lstStyle/>
                    <a:p>
                      <a:pPr indent="0" marL="0">
                        <a:buNone/>
                      </a:pPr>
                      <a:r>
                        <a:rPr lang="en-US" sz="1300" dirty="0">
                          <a:solidFill>
                            <a:schemeClr val="tx1"/>
                          </a:solidFill>
                        </a:rPr>
                        <a:t>1.8.0 → 1.9.0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214</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50.93%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53</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52</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300" dirty="0">
                          <a:solidFill>
                            <a:schemeClr val="tx1"/>
                          </a:solidFill>
                        </a:rPr>
                        <a:t>1.00</a:t>
                      </a:r>
                      <a:endParaRPr lang="en-US" sz="13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bl>
          </a:graphicData>
        </a:graphic>
      </p:graphicFrame>
      <p:sp>
        <p:nvSpPr>
          <p:cNvPr id="4" name="card-108"/>
          <p:cNvSpPr/>
          <p:nvPr/>
        </p:nvSpPr>
        <p:spPr>
          <a:xfrm>
            <a:off x="548640" y="4846320"/>
            <a:ext cx="11064240" cy="1188720"/>
          </a:xfrm>
          <a:prstGeom prst="roundRect">
            <a:avLst>
              <a:gd name="adj" fmla="val 9231"/>
            </a:avLst>
          </a:prstGeom>
          <a:solidFill>
            <a:schemeClr val="bg2"/>
          </a:solidFill>
          <a:ln w="12700">
            <a:solidFill>
              <a:schemeClr val="bg2"/>
            </a:solidFill>
            <a:prstDash val="solid"/>
          </a:ln>
        </p:spPr>
      </p:sp>
      <p:sp>
        <p:nvSpPr>
          <p:cNvPr id="5" name="text-109"/>
          <p:cNvSpPr txBox="1"/>
          <p:nvPr/>
        </p:nvSpPr>
        <p:spPr>
          <a:xfrm>
            <a:off x="822960" y="4983480"/>
            <a:ext cx="10515600" cy="914400"/>
          </a:xfrm>
          <a:prstGeom prst="rect">
            <a:avLst/>
          </a:prstGeom>
          <a:noFill/>
          <a:ln/>
        </p:spPr>
        <p:txBody>
          <a:bodyPr wrap="square" lIns="0" tIns="0" rIns="0" bIns="0" rtlCol="0" anchor="ctr"/>
          <a:lstStyle/>
          <a:p>
            <a:pPr indent="0" marL="0">
              <a:buNone/>
            </a:pPr>
            <a:r>
              <a:rPr lang="en-US" sz="1500" b="1" dirty="0">
                <a:solidFill>
                  <a:schemeClr val="tx1"/>
                </a:solidFill>
              </a:rPr>
              <a:t>1.7.1との差には、バージョンの違いだけでなく「元実験と再実行」(実行時期・実行経路) の違いが含まれる。最も条件がそろった比較は1.8.0 → 1.9.0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1.8.0→1.9.0で増えたのは軽い接近だけ</a:t>
            </a:r>
            <a:endParaRPr lang="en-US" sz="3000" dirty="0"/>
          </a:p>
        </p:txBody>
      </p:sp>
      <p:graphicFrame>
        <p:nvGraphicFramePr>
          <p:cNvPr id="3" name="ttc-chart" descr=""/>
          <p:cNvGraphicFramePr/>
          <p:nvPr/>
        </p:nvGraphicFramePr>
        <p:xfrm>
          <a:off x="548640" y="137160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card-110"/>
          <p:cNvSpPr/>
          <p:nvPr/>
        </p:nvSpPr>
        <p:spPr>
          <a:xfrm>
            <a:off x="8046720" y="1371600"/>
            <a:ext cx="3566160" cy="2194560"/>
          </a:xfrm>
          <a:prstGeom prst="roundRect">
            <a:avLst>
              <a:gd name="adj" fmla="val 5000"/>
            </a:avLst>
          </a:prstGeom>
          <a:solidFill>
            <a:schemeClr val="bg2"/>
          </a:solidFill>
          <a:ln w="12700">
            <a:solidFill>
              <a:schemeClr val="bg2"/>
            </a:solidFill>
            <a:prstDash val="solid"/>
          </a:ln>
        </p:spPr>
      </p:sp>
      <p:sp>
        <p:nvSpPr>
          <p:cNvPr id="5" name="text-111"/>
          <p:cNvSpPr txBox="1"/>
          <p:nvPr/>
        </p:nvSpPr>
        <p:spPr>
          <a:xfrm>
            <a:off x="8321040" y="1600200"/>
            <a:ext cx="3017520" cy="914400"/>
          </a:xfrm>
          <a:prstGeom prst="rect">
            <a:avLst/>
          </a:prstGeom>
          <a:noFill/>
          <a:ln/>
        </p:spPr>
        <p:txBody>
          <a:bodyPr wrap="square" lIns="0" tIns="0" rIns="0" bIns="0" rtlCol="0" anchor="ctr"/>
          <a:lstStyle/>
          <a:p>
            <a:pPr indent="0" marL="0">
              <a:buNone/>
            </a:pPr>
            <a:r>
              <a:rPr lang="en-US" sz="4000" b="1" dirty="0">
                <a:solidFill>
                  <a:schemeClr val="accent2"/>
                </a:solidFill>
              </a:rPr>
              <a:t>+1.29 pt</a:t>
            </a:r>
            <a:endParaRPr lang="en-US" sz="4000" dirty="0"/>
          </a:p>
        </p:txBody>
      </p:sp>
      <p:sp>
        <p:nvSpPr>
          <p:cNvPr id="6" name="text-112"/>
          <p:cNvSpPr txBox="1"/>
          <p:nvPr/>
        </p:nvSpPr>
        <p:spPr>
          <a:xfrm>
            <a:off x="8321040" y="2560320"/>
            <a:ext cx="3017520" cy="640080"/>
          </a:xfrm>
          <a:prstGeom prst="rect">
            <a:avLst/>
          </a:prstGeom>
          <a:noFill/>
          <a:ln/>
        </p:spPr>
        <p:txBody>
          <a:bodyPr wrap="square" lIns="0" tIns="0" rIns="0" bIns="0" rtlCol="0" anchor="t"/>
          <a:lstStyle/>
          <a:p>
            <a:pPr indent="0" marL="0">
              <a:buNone/>
            </a:pPr>
            <a:r>
              <a:rPr lang="en-US" sz="1500" b="1" dirty="0">
                <a:solidFill>
                  <a:schemeClr val="tx1"/>
                </a:solidFill>
              </a:rPr>
              <a:t>TTC 1.5秒未満 (1.8.0→1.9.0)</a:t>
            </a:r>
            <a:endParaRPr lang="en-US" sz="1500" dirty="0"/>
          </a:p>
        </p:txBody>
      </p:sp>
      <p:sp>
        <p:nvSpPr>
          <p:cNvPr id="7" name="text-113"/>
          <p:cNvSpPr txBox="1"/>
          <p:nvPr/>
        </p:nvSpPr>
        <p:spPr>
          <a:xfrm>
            <a:off x="8321040" y="3200400"/>
            <a:ext cx="3017520" cy="182880"/>
          </a:xfrm>
          <a:prstGeom prst="rect">
            <a:avLst/>
          </a:prstGeom>
          <a:noFill/>
          <a:ln/>
        </p:spPr>
        <p:txBody>
          <a:bodyPr wrap="square" lIns="0" tIns="0" rIns="0" bIns="0" rtlCol="0" anchor="t"/>
          <a:lstStyle/>
          <a:p>
            <a:pPr indent="0" marL="0">
              <a:buNone/>
            </a:pPr>
            <a:r>
              <a:rPr lang="en-US" sz="1300" dirty="0">
                <a:solidFill>
                  <a:schemeClr val="tx2"/>
                </a:solidFill>
              </a:rPr>
              <a:t>Holm補正後 p = 5e-9。1.3秒未満も +0.79 pt</a:t>
            </a:r>
            <a:endParaRPr lang="en-US" sz="1300" dirty="0"/>
          </a:p>
        </p:txBody>
      </p:sp>
      <p:sp>
        <p:nvSpPr>
          <p:cNvPr id="8" name="card-114"/>
          <p:cNvSpPr/>
          <p:nvPr/>
        </p:nvSpPr>
        <p:spPr>
          <a:xfrm>
            <a:off x="8046720" y="3749040"/>
            <a:ext cx="3566160" cy="2194560"/>
          </a:xfrm>
          <a:prstGeom prst="roundRect">
            <a:avLst>
              <a:gd name="adj" fmla="val 5000"/>
            </a:avLst>
          </a:prstGeom>
          <a:solidFill>
            <a:schemeClr val="bg2"/>
          </a:solidFill>
          <a:ln w="12700">
            <a:solidFill>
              <a:schemeClr val="bg2"/>
            </a:solidFill>
            <a:prstDash val="solid"/>
          </a:ln>
        </p:spPr>
      </p:sp>
      <p:sp>
        <p:nvSpPr>
          <p:cNvPr id="9" name="text-115"/>
          <p:cNvSpPr txBox="1"/>
          <p:nvPr/>
        </p:nvSpPr>
        <p:spPr>
          <a:xfrm>
            <a:off x="8321040" y="3977640"/>
            <a:ext cx="3017520" cy="914400"/>
          </a:xfrm>
          <a:prstGeom prst="rect">
            <a:avLst/>
          </a:prstGeom>
          <a:noFill/>
          <a:ln/>
        </p:spPr>
        <p:txBody>
          <a:bodyPr wrap="square" lIns="0" tIns="0" rIns="0" bIns="0" rtlCol="0" anchor="ctr"/>
          <a:lstStyle/>
          <a:p>
            <a:pPr indent="0" marL="0">
              <a:buNone/>
            </a:pPr>
            <a:r>
              <a:rPr lang="en-US" sz="4000" b="1" dirty="0">
                <a:solidFill>
                  <a:schemeClr val="accent5"/>
                </a:solidFill>
              </a:rPr>
              <a:t>差なし</a:t>
            </a:r>
            <a:endParaRPr lang="en-US" sz="4000" dirty="0"/>
          </a:p>
        </p:txBody>
      </p:sp>
      <p:sp>
        <p:nvSpPr>
          <p:cNvPr id="10" name="text-116"/>
          <p:cNvSpPr txBox="1"/>
          <p:nvPr/>
        </p:nvSpPr>
        <p:spPr>
          <a:xfrm>
            <a:off x="8321040" y="4937760"/>
            <a:ext cx="3017520" cy="640080"/>
          </a:xfrm>
          <a:prstGeom prst="rect">
            <a:avLst/>
          </a:prstGeom>
          <a:noFill/>
          <a:ln/>
        </p:spPr>
        <p:txBody>
          <a:bodyPr wrap="square" lIns="0" tIns="0" rIns="0" bIns="0" rtlCol="0" anchor="t"/>
          <a:lstStyle/>
          <a:p>
            <a:pPr indent="0" marL="0">
              <a:buNone/>
            </a:pPr>
            <a:r>
              <a:rPr lang="en-US" sz="1500" b="1" dirty="0">
                <a:solidFill>
                  <a:schemeClr val="tx1"/>
                </a:solidFill>
              </a:rPr>
              <a:t>TTC 0.9秒未満の重い接近</a:t>
            </a:r>
            <a:endParaRPr lang="en-US" sz="1500" dirty="0"/>
          </a:p>
        </p:txBody>
      </p:sp>
      <p:sp>
        <p:nvSpPr>
          <p:cNvPr id="11" name="text-117"/>
          <p:cNvSpPr txBox="1"/>
          <p:nvPr/>
        </p:nvSpPr>
        <p:spPr>
          <a:xfrm>
            <a:off x="8321040" y="5577840"/>
            <a:ext cx="3017520" cy="182880"/>
          </a:xfrm>
          <a:prstGeom prst="rect">
            <a:avLst/>
          </a:prstGeom>
          <a:noFill/>
          <a:ln/>
        </p:spPr>
        <p:txBody>
          <a:bodyPr wrap="square" lIns="0" tIns="0" rIns="0" bIns="0" rtlCol="0" anchor="t"/>
          <a:lstStyle/>
          <a:p>
            <a:pPr indent="0" marL="0">
              <a:buNone/>
            </a:pPr>
            <a:r>
              <a:rPr lang="en-US" sz="1300" dirty="0">
                <a:solidFill>
                  <a:schemeClr val="tx2"/>
                </a:solidFill>
              </a:rPr>
              <a:t>4m以内への接近も差なし (p = 0.37)</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増加は初期距離が長い余裕のある条件に集中</a:t>
            </a:r>
            <a:endParaRPr lang="en-US" sz="3000" dirty="0"/>
          </a:p>
        </p:txBody>
      </p:sp>
      <p:pic>
        <p:nvPicPr>
          <p:cNvPr id="3" name="region-map" descr="/home/passd/simulation_traces_version_compare_171_180_190_20261005/region_c_ttc_1.5_180_190.png">    </p:cNvPr>
          <p:cNvPicPr>
            <a:picLocks noChangeAspect="1"/>
          </p:cNvPicPr>
          <p:nvPr/>
        </p:nvPicPr>
        <p:blipFill>
          <a:blip r:embed="rId1"/>
          <a:stretch>
            <a:fillRect/>
          </a:stretch>
        </p:blipFill>
        <p:spPr>
          <a:xfrm>
            <a:off x="548640" y="1325880"/>
            <a:ext cx="6766560" cy="4334256"/>
          </a:xfrm>
          <a:prstGeom prst="rect">
            <a:avLst/>
          </a:prstGeom>
        </p:spPr>
      </p:pic>
      <p:graphicFrame>
        <p:nvGraphicFramePr>
          <p:cNvPr id="14" name="region-table"/>
          <p:cNvGraphicFramePr>
            <a:graphicFrameLocks noGrp="1"/>
          </p:cNvGraphicFramePr>
          <p:nvPr>
            <p:extLst>
              <p:ext uri="{D42A27DB-BD31-4B8C-83A1-F6EECF244321}">
                <p14:modId xmlns:p14="http://schemas.microsoft.com/office/powerpoint/2010/main" val="1579011935"/>
              </p:ext>
            </p:extLst>
          </p:nvPr>
        </p:nvGraphicFramePr>
        <p:xfrm>
          <a:off x="7589520" y="1325880"/>
          <a:ext cx="4023360" cy="914400"/>
        </p:xfrm>
        <a:graphic>
          <a:graphicData uri="http://schemas.openxmlformats.org/drawingml/2006/table">
            <a:tbl>
              <a:tblPr/>
              <a:tblGrid>
                <a:gridCol w="1371600"/>
                <a:gridCol w="868680"/>
                <a:gridCol w="868680"/>
                <a:gridCol w="914400"/>
              </a:tblGrid>
              <a:tr h="411480">
                <a:tc>
                  <a:txBody>
                    <a:bodyPr/>
                    <a:lstStyle/>
                    <a:p>
                      <a:pPr indent="0" marL="0">
                        <a:buNone/>
                      </a:pPr>
                      <a:r>
                        <a:rPr lang="en-US" sz="1200" b="1" dirty="0">
                          <a:solidFill>
                            <a:schemeClr val="bg1"/>
                          </a:solidFill>
                        </a:rPr>
                        <a:t>初期距離 dx0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1.8.0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1.9.0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悪化:改善</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r>
              <a:tr h="411480">
                <a:tc>
                  <a:txBody>
                    <a:bodyPr/>
                    <a:lstStyle/>
                    <a:p>
                      <a:pPr indent="0" marL="0">
                        <a:buNone/>
                      </a:pPr>
                      <a:r>
                        <a:rPr lang="en-US" sz="1200" dirty="0">
                          <a:solidFill>
                            <a:schemeClr val="tx1"/>
                          </a:solidFill>
                        </a:rPr>
                        <a:t>15〜17.5 m</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97.1%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97.8%</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25:13</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11480">
                <a:tc>
                  <a:txBody>
                    <a:bodyPr/>
                    <a:lstStyle/>
                    <a:p>
                      <a:pPr indent="0" marL="0">
                        <a:buNone/>
                      </a:pPr>
                      <a:r>
                        <a:rPr lang="en-US" sz="1200" dirty="0">
                          <a:solidFill>
                            <a:schemeClr val="tx1"/>
                          </a:solidFill>
                        </a:rPr>
                        <a:t>17.5〜20 m</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92.7%</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91.8%</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27:40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11480">
                <a:tc>
                  <a:txBody>
                    <a:bodyPr/>
                    <a:lstStyle/>
                    <a:p>
                      <a:pPr indent="0" marL="0">
                        <a:buNone/>
                      </a:pPr>
                      <a:r>
                        <a:rPr lang="en-US" sz="1200" b="1" dirty="0">
                          <a:solidFill>
                            <a:schemeClr val="tx1"/>
                          </a:solidFill>
                        </a:rPr>
                        <a:t>20〜22.5 m</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79.6%</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82.6%</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b="1" dirty="0">
                          <a:solidFill>
                            <a:schemeClr val="accent2"/>
                          </a:solidFill>
                        </a:rPr>
                        <a:t>81:37</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11480">
                <a:tc>
                  <a:txBody>
                    <a:bodyPr/>
                    <a:lstStyle/>
                    <a:p>
                      <a:pPr indent="0" marL="0">
                        <a:buNone/>
                      </a:pPr>
                      <a:r>
                        <a:rPr lang="en-US" sz="1200" b="1" dirty="0">
                          <a:solidFill>
                            <a:schemeClr val="tx1"/>
                          </a:solidFill>
                        </a:rPr>
                        <a:t>22.5〜25 m</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69.1%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73.9%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b="1" dirty="0">
                          <a:solidFill>
                            <a:schemeClr val="accent2"/>
                          </a:solidFill>
                        </a:rPr>
                        <a:t>85:15</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bl>
          </a:graphicData>
        </a:graphic>
      </p:graphicFrame>
      <p:sp>
        <p:nvSpPr>
          <p:cNvPr id="5" name="card-118"/>
          <p:cNvSpPr/>
          <p:nvPr/>
        </p:nvSpPr>
        <p:spPr>
          <a:xfrm>
            <a:off x="7589520" y="3657600"/>
            <a:ext cx="4023360" cy="2286000"/>
          </a:xfrm>
          <a:prstGeom prst="roundRect">
            <a:avLst>
              <a:gd name="adj" fmla="val 4800"/>
            </a:avLst>
          </a:prstGeom>
          <a:solidFill>
            <a:schemeClr val="bg2"/>
          </a:solidFill>
          <a:ln w="12700">
            <a:solidFill>
              <a:schemeClr val="bg2"/>
            </a:solidFill>
            <a:prstDash val="solid"/>
          </a:ln>
        </p:spPr>
      </p:sp>
      <p:sp>
        <p:nvSpPr>
          <p:cNvPr id="6" name="text-119"/>
          <p:cNvSpPr txBox="1"/>
          <p:nvPr/>
        </p:nvSpPr>
        <p:spPr>
          <a:xfrm>
            <a:off x="7818120" y="3840480"/>
            <a:ext cx="3566160" cy="201168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TTC 1.5秒未満の発生率</a:t>
            </a:r>
            <a:endParaRPr lang="en-US" sz="1300" dirty="0"/>
          </a:p>
          <a:p>
            <a:pPr marL="342900" indent="-342900">
              <a:spcAft>
                <a:spcPts val="600"/>
              </a:spcAft>
              <a:buSzPct val="100000"/>
              <a:buChar char="•"/>
            </a:pPr>
            <a:r>
              <a:rPr lang="en-US" sz="1300" dirty="0">
                <a:solidFill>
                  <a:schemeClr val="tx1"/>
                </a:solidFill>
              </a:rPr>
              <a:t>dx0 &lt; 15m や ego_speed ≥ 38km/h は両方ほぼ100%で差が出ない</a:t>
            </a:r>
            <a:endParaRPr lang="en-US" sz="1300" dirty="0"/>
          </a:p>
          <a:p>
            <a:pPr marL="342900" indent="-342900">
              <a:spcAft>
                <a:spcPts val="600"/>
              </a:spcAft>
              <a:buSzPct val="100000"/>
              <a:buChar char="•"/>
            </a:pPr>
            <a:r>
              <a:rPr lang="en-US" sz="1300" b="1" dirty="0">
                <a:solidFill>
                  <a:schemeClr val="tx1"/>
                </a:solidFill>
              </a:rPr>
              <a:t>1.8.0がTTC 1.5秒以上を保てた場面で、1.9.0は接近を許す</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悪化は人でも止まれる領域Aだけで起きている</a:t>
            </a:r>
            <a:endParaRPr lang="en-US" sz="3000" dirty="0"/>
          </a:p>
        </p:txBody>
      </p:sp>
      <p:sp>
        <p:nvSpPr>
          <p:cNvPr id="3" name="card-120"/>
          <p:cNvSpPr/>
          <p:nvPr/>
        </p:nvSpPr>
        <p:spPr>
          <a:xfrm>
            <a:off x="548640" y="1371600"/>
            <a:ext cx="5394960" cy="4023360"/>
          </a:xfrm>
          <a:prstGeom prst="roundRect">
            <a:avLst>
              <a:gd name="adj" fmla="val 2727"/>
            </a:avLst>
          </a:prstGeom>
          <a:solidFill>
            <a:schemeClr val="bg2"/>
          </a:solidFill>
          <a:ln w="12700">
            <a:solidFill>
              <a:schemeClr val="bg2"/>
            </a:solidFill>
            <a:prstDash val="solid"/>
          </a:ln>
        </p:spPr>
      </p:sp>
      <p:sp>
        <p:nvSpPr>
          <p:cNvPr id="4" name="text-121"/>
          <p:cNvSpPr txBox="1"/>
          <p:nvPr/>
        </p:nvSpPr>
        <p:spPr>
          <a:xfrm>
            <a:off x="868680" y="1554480"/>
            <a:ext cx="4754880" cy="502920"/>
          </a:xfrm>
          <a:prstGeom prst="rect">
            <a:avLst/>
          </a:prstGeom>
          <a:noFill/>
          <a:ln/>
        </p:spPr>
        <p:txBody>
          <a:bodyPr wrap="square" lIns="0" tIns="0" rIns="0" bIns="0" rtlCol="0" anchor="t"/>
          <a:lstStyle/>
          <a:p>
            <a:pPr indent="0" marL="0">
              <a:buNone/>
            </a:pPr>
            <a:r>
              <a:rPr lang="en-US" sz="2000" b="1" dirty="0">
                <a:solidFill>
                  <a:schemeClr val="tx1"/>
                </a:solidFill>
              </a:rPr>
              <a:t>領域A (5,028件)</a:t>
            </a:r>
            <a:endParaRPr lang="en-US" sz="2000" dirty="0"/>
          </a:p>
        </p:txBody>
      </p:sp>
      <p:sp>
        <p:nvSpPr>
          <p:cNvPr id="5" name="text-122"/>
          <p:cNvSpPr txBox="1"/>
          <p:nvPr/>
        </p:nvSpPr>
        <p:spPr>
          <a:xfrm>
            <a:off x="868680" y="2057400"/>
            <a:ext cx="4754880" cy="411480"/>
          </a:xfrm>
          <a:prstGeom prst="rect">
            <a:avLst/>
          </a:prstGeom>
          <a:noFill/>
          <a:ln/>
        </p:spPr>
        <p:txBody>
          <a:bodyPr wrap="square" lIns="0" tIns="0" rIns="0" bIns="0" rtlCol="0" anchor="t"/>
          <a:lstStyle/>
          <a:p>
            <a:pPr indent="0" marL="0">
              <a:buNone/>
            </a:pPr>
            <a:r>
              <a:rPr lang="en-US" sz="1300" dirty="0">
                <a:solidFill>
                  <a:schemeClr val="tx2"/>
                </a:solidFill>
              </a:rPr>
              <a:t>人もAEBも止まれる (JAMA停止距離モデル)</a:t>
            </a:r>
            <a:endParaRPr lang="en-US" sz="1300" dirty="0"/>
          </a:p>
        </p:txBody>
      </p:sp>
      <p:sp>
        <p:nvSpPr>
          <p:cNvPr id="6" name="text-123"/>
          <p:cNvSpPr txBox="1"/>
          <p:nvPr/>
        </p:nvSpPr>
        <p:spPr>
          <a:xfrm>
            <a:off x="868680" y="2651760"/>
            <a:ext cx="2194560" cy="731520"/>
          </a:xfrm>
          <a:prstGeom prst="rect">
            <a:avLst/>
          </a:prstGeom>
          <a:noFill/>
          <a:ln/>
        </p:spPr>
        <p:txBody>
          <a:bodyPr wrap="square" lIns="0" tIns="0" rIns="0" bIns="0" rtlCol="0" anchor="ctr"/>
          <a:lstStyle/>
          <a:p>
            <a:pPr indent="0" marL="0">
              <a:buNone/>
            </a:pPr>
            <a:r>
              <a:rPr lang="en-US" sz="1400" dirty="0">
                <a:solidFill>
                  <a:schemeClr val="tx1"/>
                </a:solidFill>
              </a:rPr>
              <a:t>TTC 1.5秒未満</a:t>
            </a:r>
            <a:endParaRPr lang="en-US" sz="1400" dirty="0"/>
          </a:p>
        </p:txBody>
      </p:sp>
      <p:sp>
        <p:nvSpPr>
          <p:cNvPr id="7" name="text-124"/>
          <p:cNvSpPr txBox="1"/>
          <p:nvPr/>
        </p:nvSpPr>
        <p:spPr>
          <a:xfrm>
            <a:off x="3063240" y="2651760"/>
            <a:ext cx="1554480" cy="731520"/>
          </a:xfrm>
          <a:prstGeom prst="rect">
            <a:avLst/>
          </a:prstGeom>
          <a:noFill/>
          <a:ln/>
        </p:spPr>
        <p:txBody>
          <a:bodyPr wrap="square" lIns="0" tIns="0" rIns="0" bIns="0" rtlCol="0" anchor="ctr"/>
          <a:lstStyle/>
          <a:p>
            <a:pPr indent="0" marL="0">
              <a:buNone/>
            </a:pPr>
            <a:r>
              <a:rPr lang="en-US" sz="2200" b="1" dirty="0">
                <a:solidFill>
                  <a:schemeClr val="accent2"/>
                </a:solidFill>
              </a:rPr>
              <a:t>+2.27 pt</a:t>
            </a:r>
            <a:endParaRPr lang="en-US" sz="2200" dirty="0"/>
          </a:p>
        </p:txBody>
      </p:sp>
      <p:sp>
        <p:nvSpPr>
          <p:cNvPr id="8" name="text-125"/>
          <p:cNvSpPr txBox="1"/>
          <p:nvPr/>
        </p:nvSpPr>
        <p:spPr>
          <a:xfrm>
            <a:off x="4617720" y="2651760"/>
            <a:ext cx="1188720" cy="731520"/>
          </a:xfrm>
          <a:prstGeom prst="rect">
            <a:avLst/>
          </a:prstGeom>
          <a:noFill/>
          <a:ln/>
        </p:spPr>
        <p:txBody>
          <a:bodyPr wrap="square" lIns="0" tIns="0" rIns="0" bIns="0" rtlCol="0" anchor="ctr"/>
          <a:lstStyle/>
          <a:p>
            <a:pPr indent="0" marL="0">
              <a:buNone/>
            </a:pPr>
            <a:r>
              <a:rPr lang="en-US" sz="1200" dirty="0">
                <a:solidFill>
                  <a:schemeClr val="tx2"/>
                </a:solidFill>
              </a:rPr>
              <a:t>219:105</a:t>
            </a:r>
            <a:endParaRPr lang="en-US" sz="1200" dirty="0"/>
          </a:p>
          <a:p>
            <a:pPr indent="0" marL="0">
              <a:buNone/>
            </a:pPr>
            <a:r>
              <a:rPr lang="en-US" sz="1200" dirty="0">
                <a:solidFill>
                  <a:schemeClr val="tx2"/>
                </a:solidFill>
              </a:rPr>
              <a:t>p = 2e-10</a:t>
            </a:r>
            <a:endParaRPr lang="en-US" sz="1200" dirty="0"/>
          </a:p>
        </p:txBody>
      </p:sp>
      <p:sp>
        <p:nvSpPr>
          <p:cNvPr id="9" name="text-126"/>
          <p:cNvSpPr txBox="1"/>
          <p:nvPr/>
        </p:nvSpPr>
        <p:spPr>
          <a:xfrm>
            <a:off x="868680" y="3520440"/>
            <a:ext cx="2194560" cy="731520"/>
          </a:xfrm>
          <a:prstGeom prst="rect">
            <a:avLst/>
          </a:prstGeom>
          <a:noFill/>
          <a:ln/>
        </p:spPr>
        <p:txBody>
          <a:bodyPr wrap="square" lIns="0" tIns="0" rIns="0" bIns="0" rtlCol="0" anchor="ctr"/>
          <a:lstStyle/>
          <a:p>
            <a:pPr indent="0" marL="0">
              <a:buNone/>
            </a:pPr>
            <a:r>
              <a:rPr lang="en-US" sz="1400" dirty="0">
                <a:solidFill>
                  <a:schemeClr val="tx1"/>
                </a:solidFill>
              </a:rPr>
              <a:t>危険度レベル</a:t>
            </a:r>
            <a:endParaRPr lang="en-US" sz="1400" dirty="0"/>
          </a:p>
        </p:txBody>
      </p:sp>
      <p:sp>
        <p:nvSpPr>
          <p:cNvPr id="10" name="text-127"/>
          <p:cNvSpPr txBox="1"/>
          <p:nvPr/>
        </p:nvSpPr>
        <p:spPr>
          <a:xfrm>
            <a:off x="3063240" y="3520440"/>
            <a:ext cx="1554480" cy="731520"/>
          </a:xfrm>
          <a:prstGeom prst="rect">
            <a:avLst/>
          </a:prstGeom>
          <a:noFill/>
          <a:ln/>
        </p:spPr>
        <p:txBody>
          <a:bodyPr wrap="square" lIns="0" tIns="0" rIns="0" bIns="0" rtlCol="0" anchor="ctr"/>
          <a:lstStyle/>
          <a:p>
            <a:pPr indent="0" marL="0">
              <a:buNone/>
            </a:pPr>
            <a:r>
              <a:rPr lang="en-US" sz="2200" b="1" dirty="0">
                <a:solidFill>
                  <a:schemeClr val="accent2"/>
                </a:solidFill>
              </a:rPr>
              <a:t>+0.076</a:t>
            </a:r>
            <a:endParaRPr lang="en-US" sz="2200" dirty="0"/>
          </a:p>
        </p:txBody>
      </p:sp>
      <p:sp>
        <p:nvSpPr>
          <p:cNvPr id="11" name="text-128"/>
          <p:cNvSpPr txBox="1"/>
          <p:nvPr/>
        </p:nvSpPr>
        <p:spPr>
          <a:xfrm>
            <a:off x="4617720" y="3520440"/>
            <a:ext cx="1188720" cy="731520"/>
          </a:xfrm>
          <a:prstGeom prst="rect">
            <a:avLst/>
          </a:prstGeom>
          <a:noFill/>
          <a:ln/>
        </p:spPr>
        <p:txBody>
          <a:bodyPr wrap="square" lIns="0" tIns="0" rIns="0" bIns="0" rtlCol="0" anchor="ctr"/>
          <a:lstStyle/>
          <a:p>
            <a:pPr indent="0" marL="0">
              <a:buNone/>
            </a:pPr>
            <a:r>
              <a:rPr lang="en-US" sz="1200" dirty="0">
                <a:solidFill>
                  <a:schemeClr val="tx2"/>
                </a:solidFill>
              </a:rPr>
              <a:t>p = 0.0008</a:t>
            </a:r>
            <a:endParaRPr lang="en-US" sz="1200" dirty="0"/>
          </a:p>
        </p:txBody>
      </p:sp>
      <p:sp>
        <p:nvSpPr>
          <p:cNvPr id="12" name="text-129"/>
          <p:cNvSpPr txBox="1"/>
          <p:nvPr/>
        </p:nvSpPr>
        <p:spPr>
          <a:xfrm>
            <a:off x="868680" y="4389120"/>
            <a:ext cx="2194560" cy="731520"/>
          </a:xfrm>
          <a:prstGeom prst="rect">
            <a:avLst/>
          </a:prstGeom>
          <a:noFill/>
          <a:ln/>
        </p:spPr>
        <p:txBody>
          <a:bodyPr wrap="square" lIns="0" tIns="0" rIns="0" bIns="0" rtlCol="0" anchor="ctr"/>
          <a:lstStyle/>
          <a:p>
            <a:pPr indent="0" marL="0">
              <a:buNone/>
            </a:pPr>
            <a:r>
              <a:rPr lang="en-US" sz="1400" dirty="0">
                <a:solidFill>
                  <a:schemeClr val="tx1"/>
                </a:solidFill>
              </a:rPr>
              <a:t>衝突</a:t>
            </a:r>
            <a:endParaRPr lang="en-US" sz="1400" dirty="0"/>
          </a:p>
        </p:txBody>
      </p:sp>
      <p:sp>
        <p:nvSpPr>
          <p:cNvPr id="13" name="text-130"/>
          <p:cNvSpPr txBox="1"/>
          <p:nvPr/>
        </p:nvSpPr>
        <p:spPr>
          <a:xfrm>
            <a:off x="3063240" y="4389120"/>
            <a:ext cx="1554480" cy="731520"/>
          </a:xfrm>
          <a:prstGeom prst="rect">
            <a:avLst/>
          </a:prstGeom>
          <a:noFill/>
          <a:ln/>
        </p:spPr>
        <p:txBody>
          <a:bodyPr wrap="square" lIns="0" tIns="0" rIns="0" bIns="0" rtlCol="0" anchor="ctr"/>
          <a:lstStyle/>
          <a:p>
            <a:pPr indent="0" marL="0">
              <a:buNone/>
            </a:pPr>
            <a:r>
              <a:rPr lang="en-US" sz="2200" b="1" dirty="0">
                <a:solidFill>
                  <a:schemeClr val="tx2"/>
                </a:solidFill>
              </a:rPr>
              <a:t>+0.22 pt</a:t>
            </a:r>
            <a:endParaRPr lang="en-US" sz="2200" dirty="0"/>
          </a:p>
        </p:txBody>
      </p:sp>
      <p:sp>
        <p:nvSpPr>
          <p:cNvPr id="14" name="text-131"/>
          <p:cNvSpPr txBox="1"/>
          <p:nvPr/>
        </p:nvSpPr>
        <p:spPr>
          <a:xfrm>
            <a:off x="4617720" y="4389120"/>
            <a:ext cx="1188720" cy="731520"/>
          </a:xfrm>
          <a:prstGeom prst="rect">
            <a:avLst/>
          </a:prstGeom>
          <a:noFill/>
          <a:ln/>
        </p:spPr>
        <p:txBody>
          <a:bodyPr wrap="square" lIns="0" tIns="0" rIns="0" bIns="0" rtlCol="0" anchor="ctr"/>
          <a:lstStyle/>
          <a:p>
            <a:pPr indent="0" marL="0">
              <a:buNone/>
            </a:pPr>
            <a:r>
              <a:rPr lang="en-US" sz="1200" dirty="0">
                <a:solidFill>
                  <a:schemeClr val="tx2"/>
                </a:solidFill>
              </a:rPr>
              <a:t>p = 0.31</a:t>
            </a:r>
            <a:endParaRPr lang="en-US" sz="1200" dirty="0"/>
          </a:p>
        </p:txBody>
      </p:sp>
      <p:sp>
        <p:nvSpPr>
          <p:cNvPr id="15" name="card-132"/>
          <p:cNvSpPr/>
          <p:nvPr/>
        </p:nvSpPr>
        <p:spPr>
          <a:xfrm>
            <a:off x="6217920" y="1371600"/>
            <a:ext cx="5394960" cy="4023360"/>
          </a:xfrm>
          <a:prstGeom prst="roundRect">
            <a:avLst>
              <a:gd name="adj" fmla="val 2727"/>
            </a:avLst>
          </a:prstGeom>
          <a:solidFill>
            <a:schemeClr val="bg2"/>
          </a:solidFill>
          <a:ln w="12700">
            <a:solidFill>
              <a:schemeClr val="bg2"/>
            </a:solidFill>
            <a:prstDash val="solid"/>
          </a:ln>
        </p:spPr>
      </p:sp>
      <p:sp>
        <p:nvSpPr>
          <p:cNvPr id="16" name="text-133"/>
          <p:cNvSpPr txBox="1"/>
          <p:nvPr/>
        </p:nvSpPr>
        <p:spPr>
          <a:xfrm>
            <a:off x="6537960" y="1554480"/>
            <a:ext cx="4754880" cy="502920"/>
          </a:xfrm>
          <a:prstGeom prst="rect">
            <a:avLst/>
          </a:prstGeom>
          <a:noFill/>
          <a:ln/>
        </p:spPr>
        <p:txBody>
          <a:bodyPr wrap="square" lIns="0" tIns="0" rIns="0" bIns="0" rtlCol="0" anchor="t"/>
          <a:lstStyle/>
          <a:p>
            <a:pPr indent="0" marL="0">
              <a:buNone/>
            </a:pPr>
            <a:r>
              <a:rPr lang="en-US" sz="2000" b="1" dirty="0">
                <a:solidFill>
                  <a:schemeClr val="tx1"/>
                </a:solidFill>
              </a:rPr>
              <a:t>領域B (3,783件)</a:t>
            </a:r>
            <a:endParaRPr lang="en-US" sz="2000" dirty="0"/>
          </a:p>
        </p:txBody>
      </p:sp>
      <p:sp>
        <p:nvSpPr>
          <p:cNvPr id="17" name="text-134"/>
          <p:cNvSpPr txBox="1"/>
          <p:nvPr/>
        </p:nvSpPr>
        <p:spPr>
          <a:xfrm>
            <a:off x="6537960" y="2057400"/>
            <a:ext cx="4754880" cy="411480"/>
          </a:xfrm>
          <a:prstGeom prst="rect">
            <a:avLst/>
          </a:prstGeom>
          <a:noFill/>
          <a:ln/>
        </p:spPr>
        <p:txBody>
          <a:bodyPr wrap="square" lIns="0" tIns="0" rIns="0" bIns="0" rtlCol="0" anchor="t"/>
          <a:lstStyle/>
          <a:p>
            <a:pPr indent="0" marL="0">
              <a:buNone/>
            </a:pPr>
            <a:r>
              <a:rPr lang="en-US" sz="1300" dirty="0">
                <a:solidFill>
                  <a:schemeClr val="tx2"/>
                </a:solidFill>
              </a:rPr>
              <a:t>人は止まれず、AEBだけ止まれる</a:t>
            </a:r>
            <a:endParaRPr lang="en-US" sz="1300" dirty="0"/>
          </a:p>
        </p:txBody>
      </p:sp>
      <p:sp>
        <p:nvSpPr>
          <p:cNvPr id="18" name="text-135"/>
          <p:cNvSpPr txBox="1"/>
          <p:nvPr/>
        </p:nvSpPr>
        <p:spPr>
          <a:xfrm>
            <a:off x="6537960" y="2651760"/>
            <a:ext cx="2194560" cy="731520"/>
          </a:xfrm>
          <a:prstGeom prst="rect">
            <a:avLst/>
          </a:prstGeom>
          <a:noFill/>
          <a:ln/>
        </p:spPr>
        <p:txBody>
          <a:bodyPr wrap="square" lIns="0" tIns="0" rIns="0" bIns="0" rtlCol="0" anchor="ctr"/>
          <a:lstStyle/>
          <a:p>
            <a:pPr indent="0" marL="0">
              <a:buNone/>
            </a:pPr>
            <a:r>
              <a:rPr lang="en-US" sz="1400" dirty="0">
                <a:solidFill>
                  <a:schemeClr val="tx1"/>
                </a:solidFill>
              </a:rPr>
              <a:t>TTC 1.5秒未満</a:t>
            </a:r>
            <a:endParaRPr lang="en-US" sz="1400" dirty="0"/>
          </a:p>
        </p:txBody>
      </p:sp>
      <p:sp>
        <p:nvSpPr>
          <p:cNvPr id="19" name="text-136"/>
          <p:cNvSpPr txBox="1"/>
          <p:nvPr/>
        </p:nvSpPr>
        <p:spPr>
          <a:xfrm>
            <a:off x="8732520" y="2651760"/>
            <a:ext cx="1554480" cy="731520"/>
          </a:xfrm>
          <a:prstGeom prst="rect">
            <a:avLst/>
          </a:prstGeom>
          <a:noFill/>
          <a:ln/>
        </p:spPr>
        <p:txBody>
          <a:bodyPr wrap="square" lIns="0" tIns="0" rIns="0" bIns="0" rtlCol="0" anchor="ctr"/>
          <a:lstStyle/>
          <a:p>
            <a:pPr indent="0" marL="0">
              <a:buNone/>
            </a:pPr>
            <a:r>
              <a:rPr lang="en-US" sz="2200" b="1" dirty="0">
                <a:solidFill>
                  <a:schemeClr val="tx2"/>
                </a:solidFill>
              </a:rPr>
              <a:t>0 pt</a:t>
            </a:r>
            <a:endParaRPr lang="en-US" sz="2200" dirty="0"/>
          </a:p>
        </p:txBody>
      </p:sp>
      <p:sp>
        <p:nvSpPr>
          <p:cNvPr id="20" name="text-137"/>
          <p:cNvSpPr txBox="1"/>
          <p:nvPr/>
        </p:nvSpPr>
        <p:spPr>
          <a:xfrm>
            <a:off x="10287000" y="2651760"/>
            <a:ext cx="1188720" cy="731520"/>
          </a:xfrm>
          <a:prstGeom prst="rect">
            <a:avLst/>
          </a:prstGeom>
          <a:noFill/>
          <a:ln/>
        </p:spPr>
        <p:txBody>
          <a:bodyPr wrap="square" lIns="0" tIns="0" rIns="0" bIns="0" rtlCol="0" anchor="ctr"/>
          <a:lstStyle/>
          <a:p>
            <a:pPr indent="0" marL="0">
              <a:buNone/>
            </a:pPr>
            <a:r>
              <a:rPr lang="en-US" sz="1200" dirty="0">
                <a:solidFill>
                  <a:schemeClr val="tx2"/>
                </a:solidFill>
              </a:rPr>
              <a:t>0:0</a:t>
            </a:r>
            <a:endParaRPr lang="en-US" sz="1200" dirty="0"/>
          </a:p>
          <a:p>
            <a:pPr indent="0" marL="0">
              <a:buNone/>
            </a:pPr>
            <a:r>
              <a:rPr lang="en-US" sz="1200" dirty="0">
                <a:solidFill>
                  <a:schemeClr val="tx2"/>
                </a:solidFill>
              </a:rPr>
              <a:t>p = 1.0</a:t>
            </a:r>
            <a:endParaRPr lang="en-US" sz="1200" dirty="0"/>
          </a:p>
        </p:txBody>
      </p:sp>
      <p:sp>
        <p:nvSpPr>
          <p:cNvPr id="21" name="text-138"/>
          <p:cNvSpPr txBox="1"/>
          <p:nvPr/>
        </p:nvSpPr>
        <p:spPr>
          <a:xfrm>
            <a:off x="6537960" y="3520440"/>
            <a:ext cx="2194560" cy="731520"/>
          </a:xfrm>
          <a:prstGeom prst="rect">
            <a:avLst/>
          </a:prstGeom>
          <a:noFill/>
          <a:ln/>
        </p:spPr>
        <p:txBody>
          <a:bodyPr wrap="square" lIns="0" tIns="0" rIns="0" bIns="0" rtlCol="0" anchor="ctr"/>
          <a:lstStyle/>
          <a:p>
            <a:pPr indent="0" marL="0">
              <a:buNone/>
            </a:pPr>
            <a:r>
              <a:rPr lang="en-US" sz="1400" dirty="0">
                <a:solidFill>
                  <a:schemeClr val="tx1"/>
                </a:solidFill>
              </a:rPr>
              <a:t>危険度レベル</a:t>
            </a:r>
            <a:endParaRPr lang="en-US" sz="1400" dirty="0"/>
          </a:p>
        </p:txBody>
      </p:sp>
      <p:sp>
        <p:nvSpPr>
          <p:cNvPr id="22" name="text-139"/>
          <p:cNvSpPr txBox="1"/>
          <p:nvPr/>
        </p:nvSpPr>
        <p:spPr>
          <a:xfrm>
            <a:off x="8732520" y="3520440"/>
            <a:ext cx="1554480" cy="731520"/>
          </a:xfrm>
          <a:prstGeom prst="rect">
            <a:avLst/>
          </a:prstGeom>
          <a:noFill/>
          <a:ln/>
        </p:spPr>
        <p:txBody>
          <a:bodyPr wrap="square" lIns="0" tIns="0" rIns="0" bIns="0" rtlCol="0" anchor="ctr"/>
          <a:lstStyle/>
          <a:p>
            <a:pPr indent="0" marL="0">
              <a:buNone/>
            </a:pPr>
            <a:r>
              <a:rPr lang="en-US" sz="2200" b="1" dirty="0">
                <a:solidFill>
                  <a:schemeClr val="accent5"/>
                </a:solidFill>
              </a:rPr>
              <a:t>−0.041</a:t>
            </a:r>
            <a:endParaRPr lang="en-US" sz="2200" dirty="0"/>
          </a:p>
        </p:txBody>
      </p:sp>
      <p:sp>
        <p:nvSpPr>
          <p:cNvPr id="23" name="text-140"/>
          <p:cNvSpPr txBox="1"/>
          <p:nvPr/>
        </p:nvSpPr>
        <p:spPr>
          <a:xfrm>
            <a:off x="10287000" y="3520440"/>
            <a:ext cx="1188720" cy="731520"/>
          </a:xfrm>
          <a:prstGeom prst="rect">
            <a:avLst/>
          </a:prstGeom>
          <a:noFill/>
          <a:ln/>
        </p:spPr>
        <p:txBody>
          <a:bodyPr wrap="square" lIns="0" tIns="0" rIns="0" bIns="0" rtlCol="0" anchor="ctr"/>
          <a:lstStyle/>
          <a:p>
            <a:pPr indent="0" marL="0">
              <a:buNone/>
            </a:pPr>
            <a:r>
              <a:rPr lang="en-US" sz="1200" dirty="0">
                <a:solidFill>
                  <a:schemeClr val="tx2"/>
                </a:solidFill>
              </a:rPr>
              <a:t>p = 0.003</a:t>
            </a:r>
            <a:endParaRPr lang="en-US" sz="1200" dirty="0"/>
          </a:p>
        </p:txBody>
      </p:sp>
      <p:sp>
        <p:nvSpPr>
          <p:cNvPr id="24" name="text-141"/>
          <p:cNvSpPr txBox="1"/>
          <p:nvPr/>
        </p:nvSpPr>
        <p:spPr>
          <a:xfrm>
            <a:off x="6537960" y="4389120"/>
            <a:ext cx="2194560" cy="731520"/>
          </a:xfrm>
          <a:prstGeom prst="rect">
            <a:avLst/>
          </a:prstGeom>
          <a:noFill/>
          <a:ln/>
        </p:spPr>
        <p:txBody>
          <a:bodyPr wrap="square" lIns="0" tIns="0" rIns="0" bIns="0" rtlCol="0" anchor="ctr"/>
          <a:lstStyle/>
          <a:p>
            <a:pPr indent="0" marL="0">
              <a:buNone/>
            </a:pPr>
            <a:r>
              <a:rPr lang="en-US" sz="1400" dirty="0">
                <a:solidFill>
                  <a:schemeClr val="tx1"/>
                </a:solidFill>
              </a:rPr>
              <a:t>衝突</a:t>
            </a:r>
            <a:endParaRPr lang="en-US" sz="1400" dirty="0"/>
          </a:p>
        </p:txBody>
      </p:sp>
      <p:sp>
        <p:nvSpPr>
          <p:cNvPr id="25" name="text-142"/>
          <p:cNvSpPr txBox="1"/>
          <p:nvPr/>
        </p:nvSpPr>
        <p:spPr>
          <a:xfrm>
            <a:off x="8732520" y="4389120"/>
            <a:ext cx="1554480" cy="731520"/>
          </a:xfrm>
          <a:prstGeom prst="rect">
            <a:avLst/>
          </a:prstGeom>
          <a:noFill/>
          <a:ln/>
        </p:spPr>
        <p:txBody>
          <a:bodyPr wrap="square" lIns="0" tIns="0" rIns="0" bIns="0" rtlCol="0" anchor="ctr"/>
          <a:lstStyle/>
          <a:p>
            <a:pPr indent="0" marL="0">
              <a:buNone/>
            </a:pPr>
            <a:r>
              <a:rPr lang="en-US" sz="2200" b="1" dirty="0">
                <a:solidFill>
                  <a:schemeClr val="tx2"/>
                </a:solidFill>
              </a:rPr>
              <a:t>−0.03 pt</a:t>
            </a:r>
            <a:endParaRPr lang="en-US" sz="2200" dirty="0"/>
          </a:p>
        </p:txBody>
      </p:sp>
      <p:sp>
        <p:nvSpPr>
          <p:cNvPr id="26" name="text-143"/>
          <p:cNvSpPr txBox="1"/>
          <p:nvPr/>
        </p:nvSpPr>
        <p:spPr>
          <a:xfrm>
            <a:off x="10287000" y="4389120"/>
            <a:ext cx="1188720" cy="731520"/>
          </a:xfrm>
          <a:prstGeom prst="rect">
            <a:avLst/>
          </a:prstGeom>
          <a:noFill/>
          <a:ln/>
        </p:spPr>
        <p:txBody>
          <a:bodyPr wrap="square" lIns="0" tIns="0" rIns="0" bIns="0" rtlCol="0" anchor="ctr"/>
          <a:lstStyle/>
          <a:p>
            <a:pPr indent="0" marL="0">
              <a:buNone/>
            </a:pPr>
            <a:r>
              <a:rPr lang="en-US" sz="1200" dirty="0">
                <a:solidFill>
                  <a:schemeClr val="tx2"/>
                </a:solidFill>
              </a:rPr>
              <a:t>p = 1.0</a:t>
            </a:r>
            <a:endParaRPr lang="en-US" sz="1200" dirty="0"/>
          </a:p>
        </p:txBody>
      </p:sp>
      <p:sp>
        <p:nvSpPr>
          <p:cNvPr id="27" name="text-144"/>
          <p:cNvSpPr txBox="1"/>
          <p:nvPr/>
        </p:nvSpPr>
        <p:spPr>
          <a:xfrm>
            <a:off x="548640" y="5577840"/>
            <a:ext cx="11064240" cy="365760"/>
          </a:xfrm>
          <a:prstGeom prst="rect">
            <a:avLst/>
          </a:prstGeom>
          <a:noFill/>
          <a:ln/>
        </p:spPr>
        <p:txBody>
          <a:bodyPr wrap="square" lIns="0" tIns="0" rIns="0" bIns="0" rtlCol="0" anchor="t"/>
          <a:lstStyle/>
          <a:p>
            <a:pPr indent="0" marL="0">
              <a:buNone/>
            </a:pPr>
            <a:r>
              <a:rPr lang="en-US" sz="1200" dirty="0">
                <a:solidFill>
                  <a:schemeClr val="tx2"/>
                </a:solidFill>
              </a:rPr>
              <a:t>1.8.0 → 1.9.0。危険度レベルは違反したTTC閾値の数 (0〜8) と衝突 (9)</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衝突境界と重い接近は変わらない</a:t>
            </a:r>
            <a:endParaRPr lang="en-US" sz="3000" dirty="0"/>
          </a:p>
        </p:txBody>
      </p:sp>
      <p:sp>
        <p:nvSpPr>
          <p:cNvPr id="3" name="card-145"/>
          <p:cNvSpPr/>
          <p:nvPr/>
        </p:nvSpPr>
        <p:spPr>
          <a:xfrm>
            <a:off x="548640" y="1463040"/>
            <a:ext cx="3566160" cy="3108960"/>
          </a:xfrm>
          <a:prstGeom prst="roundRect">
            <a:avLst>
              <a:gd name="adj" fmla="val 3529"/>
            </a:avLst>
          </a:prstGeom>
          <a:solidFill>
            <a:schemeClr val="bg2"/>
          </a:solidFill>
          <a:ln w="12700">
            <a:solidFill>
              <a:schemeClr val="bg2"/>
            </a:solidFill>
            <a:prstDash val="solid"/>
          </a:ln>
        </p:spPr>
      </p:sp>
      <p:sp>
        <p:nvSpPr>
          <p:cNvPr id="4" name="text-146"/>
          <p:cNvSpPr txBox="1"/>
          <p:nvPr/>
        </p:nvSpPr>
        <p:spPr>
          <a:xfrm>
            <a:off x="822960" y="1691640"/>
            <a:ext cx="3017520" cy="914400"/>
          </a:xfrm>
          <a:prstGeom prst="rect">
            <a:avLst/>
          </a:prstGeom>
          <a:noFill/>
          <a:ln/>
        </p:spPr>
        <p:txBody>
          <a:bodyPr wrap="square" lIns="0" tIns="0" rIns="0" bIns="0" rtlCol="0" anchor="ctr"/>
          <a:lstStyle/>
          <a:p>
            <a:pPr indent="0" marL="0">
              <a:buNone/>
            </a:pPr>
            <a:r>
              <a:rPr lang="en-US" sz="4000" b="1" dirty="0">
                <a:solidFill>
                  <a:schemeClr val="accent5"/>
                </a:solidFill>
              </a:rPr>
              <a:t>+0.01 m</a:t>
            </a:r>
            <a:endParaRPr lang="en-US" sz="4000" dirty="0"/>
          </a:p>
        </p:txBody>
      </p:sp>
      <p:sp>
        <p:nvSpPr>
          <p:cNvPr id="5" name="text-147"/>
          <p:cNvSpPr txBox="1"/>
          <p:nvPr/>
        </p:nvSpPr>
        <p:spPr>
          <a:xfrm>
            <a:off x="822960" y="2651760"/>
            <a:ext cx="3017520" cy="640080"/>
          </a:xfrm>
          <a:prstGeom prst="rect">
            <a:avLst/>
          </a:prstGeom>
          <a:noFill/>
          <a:ln/>
        </p:spPr>
        <p:txBody>
          <a:bodyPr wrap="square" lIns="0" tIns="0" rIns="0" bIns="0" rtlCol="0" anchor="t"/>
          <a:lstStyle/>
          <a:p>
            <a:pPr indent="0" marL="0">
              <a:buNone/>
            </a:pPr>
            <a:r>
              <a:rPr lang="en-US" sz="1500" b="1" dirty="0">
                <a:solidFill>
                  <a:schemeClr val="tx1"/>
                </a:solidFill>
              </a:rPr>
              <a:t>衝突境界の移動 (ego 35km/h)</a:t>
            </a:r>
            <a:endParaRPr lang="en-US" sz="1500" dirty="0"/>
          </a:p>
        </p:txBody>
      </p:sp>
      <p:sp>
        <p:nvSpPr>
          <p:cNvPr id="6" name="text-148"/>
          <p:cNvSpPr txBox="1"/>
          <p:nvPr/>
        </p:nvSpPr>
        <p:spPr>
          <a:xfrm>
            <a:off x="822960" y="3291840"/>
            <a:ext cx="3017520" cy="1097280"/>
          </a:xfrm>
          <a:prstGeom prst="rect">
            <a:avLst/>
          </a:prstGeom>
          <a:noFill/>
          <a:ln/>
        </p:spPr>
        <p:txBody>
          <a:bodyPr wrap="square" lIns="0" tIns="0" rIns="0" bIns="0" rtlCol="0" anchor="t"/>
          <a:lstStyle/>
          <a:p>
            <a:pPr indent="0" marL="0">
              <a:buNone/>
            </a:pPr>
            <a:r>
              <a:rPr lang="en-US" sz="1300" dirty="0">
                <a:solidFill>
                  <a:schemeClr val="tx2"/>
                </a:solidFill>
              </a:rPr>
              <a:t>衝突確率50%となるdx0の差。95%区間 −0.04〜+0.06 m (ブートストラップ200回)</a:t>
            </a:r>
            <a:endParaRPr lang="en-US" sz="1300" dirty="0"/>
          </a:p>
        </p:txBody>
      </p:sp>
      <p:sp>
        <p:nvSpPr>
          <p:cNvPr id="7" name="card-149"/>
          <p:cNvSpPr/>
          <p:nvPr/>
        </p:nvSpPr>
        <p:spPr>
          <a:xfrm>
            <a:off x="4297680" y="1463040"/>
            <a:ext cx="3566160" cy="3108960"/>
          </a:xfrm>
          <a:prstGeom prst="roundRect">
            <a:avLst>
              <a:gd name="adj" fmla="val 3529"/>
            </a:avLst>
          </a:prstGeom>
          <a:solidFill>
            <a:schemeClr val="bg2"/>
          </a:solidFill>
          <a:ln w="12700">
            <a:solidFill>
              <a:schemeClr val="bg2"/>
            </a:solidFill>
            <a:prstDash val="solid"/>
          </a:ln>
        </p:spPr>
      </p:sp>
      <p:sp>
        <p:nvSpPr>
          <p:cNvPr id="8" name="text-150"/>
          <p:cNvSpPr txBox="1"/>
          <p:nvPr/>
        </p:nvSpPr>
        <p:spPr>
          <a:xfrm>
            <a:off x="4572000" y="1691640"/>
            <a:ext cx="3017520" cy="914400"/>
          </a:xfrm>
          <a:prstGeom prst="rect">
            <a:avLst/>
          </a:prstGeom>
          <a:noFill/>
          <a:ln/>
        </p:spPr>
        <p:txBody>
          <a:bodyPr wrap="square" lIns="0" tIns="0" rIns="0" bIns="0" rtlCol="0" anchor="ctr"/>
          <a:lstStyle/>
          <a:p>
            <a:pPr indent="0" marL="0">
              <a:buNone/>
            </a:pPr>
            <a:r>
              <a:rPr lang="en-US" sz="4000" b="1" dirty="0">
                <a:solidFill>
                  <a:schemeClr val="accent5"/>
                </a:solidFill>
              </a:rPr>
              <a:t>p = 0.37</a:t>
            </a:r>
            <a:endParaRPr lang="en-US" sz="4000" dirty="0"/>
          </a:p>
        </p:txBody>
      </p:sp>
      <p:sp>
        <p:nvSpPr>
          <p:cNvPr id="9" name="text-151"/>
          <p:cNvSpPr txBox="1"/>
          <p:nvPr/>
        </p:nvSpPr>
        <p:spPr>
          <a:xfrm>
            <a:off x="4572000" y="2651760"/>
            <a:ext cx="3017520" cy="640080"/>
          </a:xfrm>
          <a:prstGeom prst="rect">
            <a:avLst/>
          </a:prstGeom>
          <a:noFill/>
          <a:ln/>
        </p:spPr>
        <p:txBody>
          <a:bodyPr wrap="square" lIns="0" tIns="0" rIns="0" bIns="0" rtlCol="0" anchor="t"/>
          <a:lstStyle/>
          <a:p>
            <a:pPr indent="0" marL="0">
              <a:buNone/>
            </a:pPr>
            <a:r>
              <a:rPr lang="en-US" sz="1500" b="1" dirty="0">
                <a:solidFill>
                  <a:schemeClr val="tx1"/>
                </a:solidFill>
              </a:rPr>
              <a:t>4m以内への接近</a:t>
            </a:r>
            <a:endParaRPr lang="en-US" sz="1500" dirty="0"/>
          </a:p>
        </p:txBody>
      </p:sp>
      <p:sp>
        <p:nvSpPr>
          <p:cNvPr id="10" name="text-152"/>
          <p:cNvSpPr txBox="1"/>
          <p:nvPr/>
        </p:nvSpPr>
        <p:spPr>
          <a:xfrm>
            <a:off x="4572000" y="3291840"/>
            <a:ext cx="3017520" cy="1097280"/>
          </a:xfrm>
          <a:prstGeom prst="rect">
            <a:avLst/>
          </a:prstGeom>
          <a:noFill/>
          <a:ln/>
        </p:spPr>
        <p:txBody>
          <a:bodyPr wrap="square" lIns="0" tIns="0" rIns="0" bIns="0" rtlCol="0" anchor="t"/>
          <a:lstStyle/>
          <a:p>
            <a:pPr indent="0" marL="0">
              <a:buNone/>
            </a:pPr>
            <a:r>
              <a:rPr lang="en-US" sz="1300" dirty="0">
                <a:solidFill>
                  <a:schemeClr val="tx2"/>
                </a:solidFill>
              </a:rPr>
              <a:t>71.23% → 70.89%。距離で見た接近は増えていない</a:t>
            </a:r>
            <a:endParaRPr lang="en-US" sz="1300" dirty="0"/>
          </a:p>
        </p:txBody>
      </p:sp>
      <p:sp>
        <p:nvSpPr>
          <p:cNvPr id="11" name="card-153"/>
          <p:cNvSpPr/>
          <p:nvPr/>
        </p:nvSpPr>
        <p:spPr>
          <a:xfrm>
            <a:off x="8046720" y="1463040"/>
            <a:ext cx="3566160" cy="3108960"/>
          </a:xfrm>
          <a:prstGeom prst="roundRect">
            <a:avLst>
              <a:gd name="adj" fmla="val 3529"/>
            </a:avLst>
          </a:prstGeom>
          <a:solidFill>
            <a:schemeClr val="bg2"/>
          </a:solidFill>
          <a:ln w="12700">
            <a:solidFill>
              <a:schemeClr val="bg2"/>
            </a:solidFill>
            <a:prstDash val="solid"/>
          </a:ln>
        </p:spPr>
      </p:sp>
      <p:sp>
        <p:nvSpPr>
          <p:cNvPr id="12" name="text-154"/>
          <p:cNvSpPr txBox="1"/>
          <p:nvPr/>
        </p:nvSpPr>
        <p:spPr>
          <a:xfrm>
            <a:off x="8321040" y="1691640"/>
            <a:ext cx="3017520" cy="914400"/>
          </a:xfrm>
          <a:prstGeom prst="rect">
            <a:avLst/>
          </a:prstGeom>
          <a:noFill/>
          <a:ln/>
        </p:spPr>
        <p:txBody>
          <a:bodyPr wrap="square" lIns="0" tIns="0" rIns="0" bIns="0" rtlCol="0" anchor="ctr"/>
          <a:lstStyle/>
          <a:p>
            <a:pPr indent="0" marL="0">
              <a:buNone/>
            </a:pPr>
            <a:r>
              <a:rPr lang="en-US" sz="4000" b="1" dirty="0">
                <a:solidFill>
                  <a:schemeClr val="accent5"/>
                </a:solidFill>
              </a:rPr>
              <a:t>0件</a:t>
            </a:r>
            <a:endParaRPr lang="en-US" sz="4000" dirty="0"/>
          </a:p>
        </p:txBody>
      </p:sp>
      <p:sp>
        <p:nvSpPr>
          <p:cNvPr id="13" name="text-155"/>
          <p:cNvSpPr txBox="1"/>
          <p:nvPr/>
        </p:nvSpPr>
        <p:spPr>
          <a:xfrm>
            <a:off x="8321040" y="2651760"/>
            <a:ext cx="3017520" cy="640080"/>
          </a:xfrm>
          <a:prstGeom prst="rect">
            <a:avLst/>
          </a:prstGeom>
          <a:noFill/>
          <a:ln/>
        </p:spPr>
        <p:txBody>
          <a:bodyPr wrap="square" lIns="0" tIns="0" rIns="0" bIns="0" rtlCol="0" anchor="t"/>
          <a:lstStyle/>
          <a:p>
            <a:pPr indent="0" marL="0">
              <a:buNone/>
            </a:pPr>
            <a:r>
              <a:rPr lang="en-US" sz="1500" b="1" dirty="0">
                <a:solidFill>
                  <a:schemeClr val="tx1"/>
                </a:solidFill>
              </a:rPr>
              <a:t>安全→衝突への悪化</a:t>
            </a:r>
            <a:endParaRPr lang="en-US" sz="1500" dirty="0"/>
          </a:p>
        </p:txBody>
      </p:sp>
      <p:sp>
        <p:nvSpPr>
          <p:cNvPr id="14" name="text-156"/>
          <p:cNvSpPr txBox="1"/>
          <p:nvPr/>
        </p:nvSpPr>
        <p:spPr>
          <a:xfrm>
            <a:off x="8321040" y="3291840"/>
            <a:ext cx="3017520" cy="1097280"/>
          </a:xfrm>
          <a:prstGeom prst="rect">
            <a:avLst/>
          </a:prstGeom>
          <a:noFill/>
          <a:ln/>
        </p:spPr>
        <p:txBody>
          <a:bodyPr wrap="square" lIns="0" tIns="0" rIns="0" bIns="0" rtlCol="0" anchor="t"/>
          <a:lstStyle/>
          <a:p>
            <a:pPr indent="0" marL="0">
              <a:buNone/>
            </a:pPr>
            <a:r>
              <a:rPr lang="en-US" sz="1300" dirty="0">
                <a:solidFill>
                  <a:schemeClr val="tx2"/>
                </a:solidFill>
              </a:rPr>
              <a:t>危険度0から悪化した219件の内訳: 軽い接近105件、レベル2〜7が114件、衝突0件</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分析中に見つかった記録の欠落と修正</a:t>
            </a:r>
            <a:endParaRPr lang="en-US" sz="3000" dirty="0"/>
          </a:p>
        </p:txBody>
      </p:sp>
      <p:sp>
        <p:nvSpPr>
          <p:cNvPr id="3" name="text-157"/>
          <p:cNvSpPr txBox="1"/>
          <p:nvPr/>
        </p:nvSpPr>
        <p:spPr>
          <a:xfrm>
            <a:off x="548640" y="1325880"/>
            <a:ext cx="2560320" cy="365760"/>
          </a:xfrm>
          <a:prstGeom prst="rect">
            <a:avLst/>
          </a:prstGeom>
          <a:noFill/>
          <a:ln/>
        </p:spPr>
        <p:txBody>
          <a:bodyPr wrap="square" lIns="0" tIns="0" rIns="0" bIns="0" rtlCol="0" anchor="t"/>
          <a:lstStyle/>
          <a:p>
            <a:pPr indent="0" marL="0">
              <a:buNone/>
            </a:pPr>
            <a:r>
              <a:rPr lang="en-US" sz="1400" b="1" dirty="0">
                <a:solidFill>
                  <a:schemeClr val="tx2"/>
                </a:solidFill>
              </a:rPr>
              <a:t>問題</a:t>
            </a:r>
            <a:endParaRPr lang="en-US" sz="1400" dirty="0"/>
          </a:p>
        </p:txBody>
      </p:sp>
      <p:sp>
        <p:nvSpPr>
          <p:cNvPr id="4" name="text-158"/>
          <p:cNvSpPr txBox="1"/>
          <p:nvPr/>
        </p:nvSpPr>
        <p:spPr>
          <a:xfrm>
            <a:off x="3291840" y="1325880"/>
            <a:ext cx="2651760" cy="365760"/>
          </a:xfrm>
          <a:prstGeom prst="rect">
            <a:avLst/>
          </a:prstGeom>
          <a:noFill/>
          <a:ln/>
        </p:spPr>
        <p:txBody>
          <a:bodyPr wrap="square" lIns="0" tIns="0" rIns="0" bIns="0" rtlCol="0" anchor="t"/>
          <a:lstStyle/>
          <a:p>
            <a:pPr indent="0" marL="0">
              <a:buNone/>
            </a:pPr>
            <a:r>
              <a:rPr lang="en-US" sz="1400" b="1" dirty="0">
                <a:solidFill>
                  <a:schemeClr val="tx2"/>
                </a:solidFill>
              </a:rPr>
              <a:t>原因</a:t>
            </a:r>
            <a:endParaRPr lang="en-US" sz="1400" dirty="0"/>
          </a:p>
        </p:txBody>
      </p:sp>
      <p:sp>
        <p:nvSpPr>
          <p:cNvPr id="5" name="text-159"/>
          <p:cNvSpPr txBox="1"/>
          <p:nvPr/>
        </p:nvSpPr>
        <p:spPr>
          <a:xfrm>
            <a:off x="6126480" y="1325880"/>
            <a:ext cx="2651760" cy="365760"/>
          </a:xfrm>
          <a:prstGeom prst="rect">
            <a:avLst/>
          </a:prstGeom>
          <a:noFill/>
          <a:ln/>
        </p:spPr>
        <p:txBody>
          <a:bodyPr wrap="square" lIns="0" tIns="0" rIns="0" bIns="0" rtlCol="0" anchor="t"/>
          <a:lstStyle/>
          <a:p>
            <a:pPr indent="0" marL="0">
              <a:buNone/>
            </a:pPr>
            <a:r>
              <a:rPr lang="en-US" sz="1400" b="1" dirty="0">
                <a:solidFill>
                  <a:schemeClr val="tx2"/>
                </a:solidFill>
              </a:rPr>
              <a:t>影響</a:t>
            </a:r>
            <a:endParaRPr lang="en-US" sz="1400" dirty="0"/>
          </a:p>
        </p:txBody>
      </p:sp>
      <p:sp>
        <p:nvSpPr>
          <p:cNvPr id="6" name="text-160"/>
          <p:cNvSpPr txBox="1"/>
          <p:nvPr/>
        </p:nvSpPr>
        <p:spPr>
          <a:xfrm>
            <a:off x="8961120" y="1325880"/>
            <a:ext cx="2651760" cy="365760"/>
          </a:xfrm>
          <a:prstGeom prst="rect">
            <a:avLst/>
          </a:prstGeom>
          <a:noFill/>
          <a:ln/>
        </p:spPr>
        <p:txBody>
          <a:bodyPr wrap="square" lIns="0" tIns="0" rIns="0" bIns="0" rtlCol="0" anchor="t"/>
          <a:lstStyle/>
          <a:p>
            <a:pPr indent="0" marL="0">
              <a:buNone/>
            </a:pPr>
            <a:r>
              <a:rPr lang="en-US" sz="1400" b="1" dirty="0">
                <a:solidFill>
                  <a:schemeClr val="tx2"/>
                </a:solidFill>
              </a:rPr>
              <a:t>修正</a:t>
            </a:r>
            <a:endParaRPr lang="en-US" sz="1400" dirty="0"/>
          </a:p>
        </p:txBody>
      </p:sp>
      <p:sp>
        <p:nvSpPr>
          <p:cNvPr id="7" name="card-161"/>
          <p:cNvSpPr/>
          <p:nvPr/>
        </p:nvSpPr>
        <p:spPr>
          <a:xfrm>
            <a:off x="548640" y="1783080"/>
            <a:ext cx="2560320" cy="1691640"/>
          </a:xfrm>
          <a:prstGeom prst="roundRect">
            <a:avLst>
              <a:gd name="adj" fmla="val 6486"/>
            </a:avLst>
          </a:prstGeom>
          <a:solidFill>
            <a:schemeClr val="tx2"/>
          </a:solidFill>
          <a:ln w="12700">
            <a:solidFill>
              <a:schemeClr val="tx2"/>
            </a:solidFill>
            <a:prstDash val="solid"/>
          </a:ln>
        </p:spPr>
      </p:sp>
      <p:sp>
        <p:nvSpPr>
          <p:cNvPr id="8" name="text-162"/>
          <p:cNvSpPr txBox="1"/>
          <p:nvPr/>
        </p:nvSpPr>
        <p:spPr>
          <a:xfrm>
            <a:off x="731520" y="1920240"/>
            <a:ext cx="2194560" cy="1417320"/>
          </a:xfrm>
          <a:prstGeom prst="rect">
            <a:avLst/>
          </a:prstGeom>
          <a:noFill/>
          <a:ln/>
        </p:spPr>
        <p:txBody>
          <a:bodyPr wrap="square" lIns="0" tIns="0" rIns="0" bIns="0" rtlCol="0" anchor="ctr"/>
          <a:lstStyle/>
          <a:p>
            <a:pPr indent="0" marL="0">
              <a:buNone/>
            </a:pPr>
            <a:r>
              <a:rPr lang="en-US" sz="1600" b="1" dirty="0">
                <a:solidFill>
                  <a:schemeClr val="bg1"/>
                </a:solidFill>
              </a:rPr>
              <a:t>連続値 min_ttc 等が未記録</a:t>
            </a:r>
            <a:endParaRPr lang="en-US" sz="1600" dirty="0"/>
          </a:p>
        </p:txBody>
      </p:sp>
      <p:sp>
        <p:nvSpPr>
          <p:cNvPr id="9" name="card-163"/>
          <p:cNvSpPr/>
          <p:nvPr/>
        </p:nvSpPr>
        <p:spPr>
          <a:xfrm>
            <a:off x="3291840" y="1783080"/>
            <a:ext cx="2651760" cy="1691640"/>
          </a:xfrm>
          <a:prstGeom prst="roundRect">
            <a:avLst>
              <a:gd name="adj" fmla="val 6486"/>
            </a:avLst>
          </a:prstGeom>
          <a:solidFill>
            <a:schemeClr val="bg2"/>
          </a:solidFill>
          <a:ln w="12700">
            <a:solidFill>
              <a:schemeClr val="bg2"/>
            </a:solidFill>
            <a:prstDash val="solid"/>
          </a:ln>
        </p:spPr>
      </p:sp>
      <p:sp>
        <p:nvSpPr>
          <p:cNvPr id="10" name="text-164"/>
          <p:cNvSpPr txBox="1"/>
          <p:nvPr/>
        </p:nvSpPr>
        <p:spPr>
          <a:xfrm>
            <a:off x="3474720" y="1920240"/>
            <a:ext cx="2286000" cy="1417320"/>
          </a:xfrm>
          <a:prstGeom prst="rect">
            <a:avLst/>
          </a:prstGeom>
          <a:noFill/>
          <a:ln/>
        </p:spPr>
        <p:txBody>
          <a:bodyPr wrap="square" lIns="0" tIns="0" rIns="0" bIns="0" rtlCol="0" anchor="ctr"/>
          <a:lstStyle/>
          <a:p>
            <a:pPr indent="0" marL="0">
              <a:buNone/>
            </a:pPr>
            <a:r>
              <a:rPr lang="en-US" sz="1300" dirty="0">
                <a:solidFill>
                  <a:schemeClr val="tx1"/>
                </a:solidFill>
              </a:rPr>
              <a:t>v2移行時に抽出処理が呼ばれていなかった (3バージョン共通)</a:t>
            </a:r>
            <a:endParaRPr lang="en-US" sz="1300" dirty="0"/>
          </a:p>
        </p:txBody>
      </p:sp>
      <p:sp>
        <p:nvSpPr>
          <p:cNvPr id="11" name="card-165"/>
          <p:cNvSpPr/>
          <p:nvPr/>
        </p:nvSpPr>
        <p:spPr>
          <a:xfrm>
            <a:off x="6126480" y="1783080"/>
            <a:ext cx="2651760" cy="1691640"/>
          </a:xfrm>
          <a:prstGeom prst="roundRect">
            <a:avLst>
              <a:gd name="adj" fmla="val 6486"/>
            </a:avLst>
          </a:prstGeom>
          <a:solidFill>
            <a:schemeClr val="bg2"/>
          </a:solidFill>
          <a:ln w="12700">
            <a:solidFill>
              <a:schemeClr val="bg2"/>
            </a:solidFill>
            <a:prstDash val="solid"/>
          </a:ln>
        </p:spPr>
      </p:sp>
      <p:sp>
        <p:nvSpPr>
          <p:cNvPr id="12" name="text-166"/>
          <p:cNvSpPr txBox="1"/>
          <p:nvPr/>
        </p:nvSpPr>
        <p:spPr>
          <a:xfrm>
            <a:off x="6309360" y="1920240"/>
            <a:ext cx="2286000" cy="1417320"/>
          </a:xfrm>
          <a:prstGeom prst="rect">
            <a:avLst/>
          </a:prstGeom>
          <a:noFill/>
          <a:ln/>
        </p:spPr>
        <p:txBody>
          <a:bodyPr wrap="square" lIns="0" tIns="0" rIns="0" bIns="0" rtlCol="0" anchor="ctr"/>
          <a:lstStyle/>
          <a:p>
            <a:pPr indent="0" marL="0">
              <a:buNone/>
            </a:pPr>
            <a:r>
              <a:rPr lang="en-US" sz="1300" dirty="0">
                <a:solidFill>
                  <a:schemeClr val="tx1"/>
                </a:solidFill>
              </a:rPr>
              <a:t>CSVの判定 (0/1) は有効。今回は判定だけで分析</a:t>
            </a:r>
            <a:endParaRPr lang="en-US" sz="1300" dirty="0"/>
          </a:p>
        </p:txBody>
      </p:sp>
      <p:sp>
        <p:nvSpPr>
          <p:cNvPr id="13" name="card-167"/>
          <p:cNvSpPr/>
          <p:nvPr/>
        </p:nvSpPr>
        <p:spPr>
          <a:xfrm>
            <a:off x="8961120" y="1783080"/>
            <a:ext cx="2651760" cy="1691640"/>
          </a:xfrm>
          <a:prstGeom prst="roundRect">
            <a:avLst>
              <a:gd name="adj" fmla="val 6486"/>
            </a:avLst>
          </a:prstGeom>
          <a:solidFill>
            <a:schemeClr val="bg2"/>
          </a:solidFill>
          <a:ln w="12700">
            <a:solidFill>
              <a:schemeClr val="bg2"/>
            </a:solidFill>
            <a:prstDash val="solid"/>
          </a:ln>
        </p:spPr>
      </p:sp>
      <p:sp>
        <p:nvSpPr>
          <p:cNvPr id="14" name="text-168"/>
          <p:cNvSpPr txBox="1"/>
          <p:nvPr/>
        </p:nvSpPr>
        <p:spPr>
          <a:xfrm>
            <a:off x="9144000" y="1920240"/>
            <a:ext cx="2286000" cy="1417320"/>
          </a:xfrm>
          <a:prstGeom prst="rect">
            <a:avLst/>
          </a:prstGeom>
          <a:noFill/>
          <a:ln/>
        </p:spPr>
        <p:txBody>
          <a:bodyPr wrap="square" lIns="0" tIns="0" rIns="0" bIns="0" rtlCol="0" anchor="ctr"/>
          <a:lstStyle/>
          <a:p>
            <a:pPr indent="0" marL="0">
              <a:buNone/>
            </a:pPr>
            <a:r>
              <a:rPr lang="en-US" sz="1300" dirty="0">
                <a:solidFill>
                  <a:schemeClr val="tx1"/>
                </a:solidFill>
              </a:rPr>
              <a:t>結果解析から抽出を呼ぶよう修正 (10/5)</a:t>
            </a:r>
            <a:endParaRPr lang="en-US" sz="1300" dirty="0"/>
          </a:p>
        </p:txBody>
      </p:sp>
      <p:sp>
        <p:nvSpPr>
          <p:cNvPr id="15" name="card-169"/>
          <p:cNvSpPr/>
          <p:nvPr/>
        </p:nvSpPr>
        <p:spPr>
          <a:xfrm>
            <a:off x="548640" y="3703320"/>
            <a:ext cx="2560320" cy="1691640"/>
          </a:xfrm>
          <a:prstGeom prst="roundRect">
            <a:avLst>
              <a:gd name="adj" fmla="val 6486"/>
            </a:avLst>
          </a:prstGeom>
          <a:solidFill>
            <a:schemeClr val="tx2"/>
          </a:solidFill>
          <a:ln w="12700">
            <a:solidFill>
              <a:schemeClr val="tx2"/>
            </a:solidFill>
            <a:prstDash val="solid"/>
          </a:ln>
        </p:spPr>
      </p:sp>
      <p:sp>
        <p:nvSpPr>
          <p:cNvPr id="16" name="text-170"/>
          <p:cNvSpPr txBox="1"/>
          <p:nvPr/>
        </p:nvSpPr>
        <p:spPr>
          <a:xfrm>
            <a:off x="731520" y="3840480"/>
            <a:ext cx="2194560" cy="1417320"/>
          </a:xfrm>
          <a:prstGeom prst="rect">
            <a:avLst/>
          </a:prstGeom>
          <a:noFill/>
          <a:ln/>
        </p:spPr>
        <p:txBody>
          <a:bodyPr wrap="square" lIns="0" tIns="0" rIns="0" bIns="0" rtlCol="0" anchor="ctr"/>
          <a:lstStyle/>
          <a:p>
            <a:pPr indent="0" marL="0">
              <a:buNone/>
            </a:pPr>
            <a:r>
              <a:rPr lang="en-US" sz="1600" b="1" dirty="0">
                <a:solidFill>
                  <a:schemeClr val="bg1"/>
                </a:solidFill>
              </a:rPr>
              <a:t>1.9.0の計画軌道が空</a:t>
            </a:r>
            <a:endParaRPr lang="en-US" sz="1600" dirty="0"/>
          </a:p>
        </p:txBody>
      </p:sp>
      <p:sp>
        <p:nvSpPr>
          <p:cNvPr id="17" name="card-171"/>
          <p:cNvSpPr/>
          <p:nvPr/>
        </p:nvSpPr>
        <p:spPr>
          <a:xfrm>
            <a:off x="3291840" y="3703320"/>
            <a:ext cx="2651760" cy="1691640"/>
          </a:xfrm>
          <a:prstGeom prst="roundRect">
            <a:avLst>
              <a:gd name="adj" fmla="val 6486"/>
            </a:avLst>
          </a:prstGeom>
          <a:solidFill>
            <a:schemeClr val="bg2"/>
          </a:solidFill>
          <a:ln w="12700">
            <a:solidFill>
              <a:schemeClr val="bg2"/>
            </a:solidFill>
            <a:prstDash val="solid"/>
          </a:ln>
        </p:spPr>
      </p:sp>
      <p:sp>
        <p:nvSpPr>
          <p:cNvPr id="18" name="text-172"/>
          <p:cNvSpPr txBox="1"/>
          <p:nvPr/>
        </p:nvSpPr>
        <p:spPr>
          <a:xfrm>
            <a:off x="3474720" y="3840480"/>
            <a:ext cx="2286000" cy="1417320"/>
          </a:xfrm>
          <a:prstGeom prst="rect">
            <a:avLst/>
          </a:prstGeom>
          <a:noFill/>
          <a:ln/>
        </p:spPr>
        <p:txBody>
          <a:bodyPr wrap="square" lIns="0" tIns="0" rIns="0" bIns="0" rtlCol="0" anchor="ctr"/>
          <a:lstStyle/>
          <a:p>
            <a:pPr indent="0" marL="0">
              <a:buNone/>
            </a:pPr>
            <a:r>
              <a:rPr lang="en-US" sz="1300" dirty="0">
                <a:solidFill>
                  <a:schemeClr val="tx1"/>
                </a:solidFill>
              </a:rPr>
              <a:t>1.9.0で旧topicの中継が削除され、Runtime Monitorが旧名を購読していた</a:t>
            </a:r>
            <a:endParaRPr lang="en-US" sz="1300" dirty="0"/>
          </a:p>
        </p:txBody>
      </p:sp>
      <p:sp>
        <p:nvSpPr>
          <p:cNvPr id="19" name="card-173"/>
          <p:cNvSpPr/>
          <p:nvPr/>
        </p:nvSpPr>
        <p:spPr>
          <a:xfrm>
            <a:off x="6126480" y="3703320"/>
            <a:ext cx="2651760" cy="1691640"/>
          </a:xfrm>
          <a:prstGeom prst="roundRect">
            <a:avLst>
              <a:gd name="adj" fmla="val 6486"/>
            </a:avLst>
          </a:prstGeom>
          <a:solidFill>
            <a:schemeClr val="bg2"/>
          </a:solidFill>
          <a:ln w="12700">
            <a:solidFill>
              <a:schemeClr val="bg2"/>
            </a:solidFill>
            <a:prstDash val="solid"/>
          </a:ln>
        </p:spPr>
      </p:sp>
      <p:sp>
        <p:nvSpPr>
          <p:cNvPr id="20" name="text-174"/>
          <p:cNvSpPr txBox="1"/>
          <p:nvPr/>
        </p:nvSpPr>
        <p:spPr>
          <a:xfrm>
            <a:off x="6309360" y="3840480"/>
            <a:ext cx="2286000" cy="1417320"/>
          </a:xfrm>
          <a:prstGeom prst="rect">
            <a:avLst/>
          </a:prstGeom>
          <a:noFill/>
          <a:ln/>
        </p:spPr>
        <p:txBody>
          <a:bodyPr wrap="square" lIns="0" tIns="0" rIns="0" bIns="0" rtlCol="0" anchor="ctr"/>
          <a:lstStyle/>
          <a:p>
            <a:pPr indent="0" marL="0">
              <a:buNone/>
            </a:pPr>
            <a:r>
              <a:rPr lang="en-US" sz="1300" dirty="0">
                <a:solidFill>
                  <a:schemeClr val="tx1"/>
                </a:solidFill>
              </a:rPr>
              <a:t>衝突・TTC判定には使わないので比較は有効</a:t>
            </a:r>
            <a:endParaRPr lang="en-US" sz="1300" dirty="0"/>
          </a:p>
        </p:txBody>
      </p:sp>
      <p:sp>
        <p:nvSpPr>
          <p:cNvPr id="21" name="card-175"/>
          <p:cNvSpPr/>
          <p:nvPr/>
        </p:nvSpPr>
        <p:spPr>
          <a:xfrm>
            <a:off x="8961120" y="3703320"/>
            <a:ext cx="2651760" cy="1691640"/>
          </a:xfrm>
          <a:prstGeom prst="roundRect">
            <a:avLst>
              <a:gd name="adj" fmla="val 6486"/>
            </a:avLst>
          </a:prstGeom>
          <a:solidFill>
            <a:schemeClr val="bg2"/>
          </a:solidFill>
          <a:ln w="12700">
            <a:solidFill>
              <a:schemeClr val="bg2"/>
            </a:solidFill>
            <a:prstDash val="solid"/>
          </a:ln>
        </p:spPr>
      </p:sp>
      <p:sp>
        <p:nvSpPr>
          <p:cNvPr id="22" name="text-176"/>
          <p:cNvSpPr txBox="1"/>
          <p:nvPr/>
        </p:nvSpPr>
        <p:spPr>
          <a:xfrm>
            <a:off x="9144000" y="3840480"/>
            <a:ext cx="2286000" cy="1417320"/>
          </a:xfrm>
          <a:prstGeom prst="rect">
            <a:avLst/>
          </a:prstGeom>
          <a:noFill/>
          <a:ln/>
        </p:spPr>
        <p:txBody>
          <a:bodyPr wrap="square" lIns="0" tIns="0" rIns="0" bIns="0" rtlCol="0" anchor="ctr"/>
          <a:lstStyle/>
          <a:p>
            <a:pPr indent="0" marL="0">
              <a:buNone/>
            </a:pPr>
            <a:r>
              <a:rPr lang="en-US" sz="1300" dirty="0">
                <a:solidFill>
                  <a:schemeClr val="tx1"/>
                </a:solidFill>
              </a:rPr>
              <a:t>/planning/trajectory を記録。1.7.1・1.8.0でも同じ内容を実機確認</a:t>
            </a:r>
            <a:endParaRPr lang="en-US" sz="1300" dirty="0"/>
          </a:p>
        </p:txBody>
      </p:sp>
      <p:sp>
        <p:nvSpPr>
          <p:cNvPr id="23" name="text-177"/>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300" dirty="0">
                <a:solidFill>
                  <a:schemeClr val="tx2"/>
                </a:solidFill>
              </a:rPr>
              <a:t>再発防止: traceの必須項目が空なら meta_empty_trace_keys に記録する</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bg1"/>
                </a:solidFill>
              </a:rPr>
              <a:t>まとめと今後</a:t>
            </a:r>
            <a:endParaRPr lang="en-US" sz="3000" dirty="0"/>
          </a:p>
        </p:txBody>
      </p:sp>
      <p:sp>
        <p:nvSpPr>
          <p:cNvPr id="3" name="card-178"/>
          <p:cNvSpPr/>
          <p:nvPr/>
        </p:nvSpPr>
        <p:spPr>
          <a:xfrm>
            <a:off x="548640" y="1371600"/>
            <a:ext cx="5943600" cy="3931920"/>
          </a:xfrm>
          <a:prstGeom prst="roundRect">
            <a:avLst>
              <a:gd name="adj" fmla="val 2791"/>
            </a:avLst>
          </a:prstGeom>
          <a:solidFill>
            <a:schemeClr val="tx2"/>
          </a:solidFill>
          <a:ln w="12700">
            <a:solidFill>
              <a:schemeClr val="tx2"/>
            </a:solidFill>
            <a:prstDash val="solid"/>
          </a:ln>
        </p:spPr>
      </p:sp>
      <p:sp>
        <p:nvSpPr>
          <p:cNvPr id="4" name="text-179"/>
          <p:cNvSpPr txBox="1"/>
          <p:nvPr/>
        </p:nvSpPr>
        <p:spPr>
          <a:xfrm>
            <a:off x="822960" y="1600200"/>
            <a:ext cx="5486400" cy="3566160"/>
          </a:xfrm>
          <a:prstGeom prst="rect">
            <a:avLst/>
          </a:prstGeom>
          <a:noFill/>
          <a:ln/>
        </p:spPr>
        <p:txBody>
          <a:bodyPr wrap="square" lIns="0" tIns="0" rIns="0" bIns="0" rtlCol="0" anchor="t"/>
          <a:lstStyle/>
          <a:p>
            <a:pPr indent="0" marL="0">
              <a:spcAft>
                <a:spcPts val="800"/>
              </a:spcAft>
              <a:buNone/>
            </a:pPr>
            <a:r>
              <a:rPr lang="en-US" sz="1800" b="1" dirty="0">
                <a:solidFill>
                  <a:schemeClr val="bg1"/>
                </a:solidFill>
              </a:rPr>
              <a:t>まとめ</a:t>
            </a:r>
            <a:endParaRPr lang="en-US" sz="1500" dirty="0"/>
          </a:p>
          <a:p>
            <a:pPr marL="342900" indent="-342900">
              <a:spcAft>
                <a:spcPts val="800"/>
              </a:spcAft>
              <a:buSzPct val="100000"/>
              <a:buChar char="•"/>
            </a:pPr>
            <a:r>
              <a:rPr lang="en-US" sz="1500" dirty="0">
                <a:solidFill>
                  <a:schemeClr val="bg1"/>
                </a:solidFill>
              </a:rPr>
              <a:t>1.8.0と1.9.0の衝突率・衝突境界に差はない</a:t>
            </a:r>
            <a:endParaRPr lang="en-US" sz="1500" dirty="0"/>
          </a:p>
          <a:p>
            <a:pPr marL="342900" indent="-342900">
              <a:spcAft>
                <a:spcPts val="800"/>
              </a:spcAft>
              <a:buSzPct val="100000"/>
              <a:buChar char="•"/>
            </a:pPr>
            <a:r>
              <a:rPr lang="en-US" sz="1500" dirty="0">
                <a:solidFill>
                  <a:schemeClr val="bg1"/>
                </a:solidFill>
              </a:rPr>
              <a:t>1.9.0は余裕のある条件 (領域A、dx0 20〜25m) で軽い接近が増える</a:t>
            </a:r>
            <a:endParaRPr lang="en-US" sz="1500" dirty="0"/>
          </a:p>
          <a:p>
            <a:pPr marL="342900" indent="-342900">
              <a:spcAft>
                <a:spcPts val="800"/>
              </a:spcAft>
              <a:buSzPct val="100000"/>
              <a:buChar char="•"/>
            </a:pPr>
            <a:r>
              <a:rPr lang="en-US" sz="1500" dirty="0">
                <a:solidFill>
                  <a:schemeClr val="bg1"/>
                </a:solidFill>
              </a:rPr>
              <a:t>個別ケースの反転は約2.4%で、どのバージョンでも同程度</a:t>
            </a:r>
            <a:endParaRPr lang="en-US" sz="1500" dirty="0"/>
          </a:p>
          <a:p>
            <a:pPr marL="342900" indent="-342900">
              <a:spcAft>
                <a:spcPts val="800"/>
              </a:spcAft>
              <a:buSzPct val="100000"/>
              <a:buChar char="•"/>
            </a:pPr>
            <a:r>
              <a:rPr lang="en-US" sz="1500" dirty="0">
                <a:solidFill>
                  <a:schemeClr val="bg1"/>
                </a:solidFill>
              </a:rPr>
              <a:t>1.7.1との差は元実験と再実行の違いを多く含む</a:t>
            </a:r>
            <a:endParaRPr lang="en-US" sz="1500" dirty="0"/>
          </a:p>
          <a:p>
            <a:pPr marL="342900" indent="-342900">
              <a:spcAft>
                <a:spcPts val="800"/>
              </a:spcAft>
              <a:buSzPct val="100000"/>
              <a:buChar char="•"/>
            </a:pPr>
            <a:r>
              <a:rPr lang="en-US" sz="1500" dirty="0">
                <a:solidFill>
                  <a:schemeClr val="bg1"/>
                </a:solidFill>
              </a:rPr>
              <a:t>高速・短距離の共通timeoutは除外せず幅を併記する</a:t>
            </a:r>
            <a:endParaRPr lang="en-US" sz="1500" dirty="0"/>
          </a:p>
        </p:txBody>
      </p:sp>
      <p:sp>
        <p:nvSpPr>
          <p:cNvPr id="5" name="num-180"/>
          <p:cNvSpPr/>
          <p:nvPr/>
        </p:nvSpPr>
        <p:spPr>
          <a:xfrm>
            <a:off x="6858000" y="1463040"/>
            <a:ext cx="640080" cy="640080"/>
          </a:xfrm>
          <a:prstGeom prst="ellipse">
            <a:avLst/>
          </a:prstGeom>
          <a:solidFill>
            <a:schemeClr val="accent2"/>
          </a:solidFill>
          <a:ln w="12700">
            <a:solidFill>
              <a:schemeClr val="accent2"/>
            </a:solidFill>
            <a:prstDash val="solid"/>
          </a:ln>
        </p:spPr>
      </p:sp>
      <p:sp>
        <p:nvSpPr>
          <p:cNvPr id="6" name="text-181"/>
          <p:cNvSpPr txBox="1"/>
          <p:nvPr/>
        </p:nvSpPr>
        <p:spPr>
          <a:xfrm>
            <a:off x="6858000"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182"/>
          <p:cNvSpPr txBox="1"/>
          <p:nvPr/>
        </p:nvSpPr>
        <p:spPr>
          <a:xfrm>
            <a:off x="7680960" y="1371600"/>
            <a:ext cx="3931920" cy="548640"/>
          </a:xfrm>
          <a:prstGeom prst="rect">
            <a:avLst/>
          </a:prstGeom>
          <a:noFill/>
          <a:ln/>
        </p:spPr>
        <p:txBody>
          <a:bodyPr wrap="square" lIns="0" tIns="0" rIns="0" bIns="0" rtlCol="0" anchor="t"/>
          <a:lstStyle/>
          <a:p>
            <a:pPr indent="0" marL="0">
              <a:buNone/>
            </a:pPr>
            <a:r>
              <a:rPr lang="en-US" sz="1600" b="1" dirty="0">
                <a:solidFill>
                  <a:schemeClr val="bg1"/>
                </a:solidFill>
              </a:rPr>
              <a:t>3バージョンを同じ時期に反復実行</a:t>
            </a:r>
            <a:endParaRPr lang="en-US" sz="1600" dirty="0"/>
          </a:p>
        </p:txBody>
      </p:sp>
      <p:sp>
        <p:nvSpPr>
          <p:cNvPr id="8" name="text-183"/>
          <p:cNvSpPr txBox="1"/>
          <p:nvPr/>
        </p:nvSpPr>
        <p:spPr>
          <a:xfrm>
            <a:off x="7680960" y="1920240"/>
            <a:ext cx="3931920" cy="822960"/>
          </a:xfrm>
          <a:prstGeom prst="rect">
            <a:avLst/>
          </a:prstGeom>
          <a:noFill/>
          <a:ln/>
        </p:spPr>
        <p:txBody>
          <a:bodyPr wrap="square" lIns="0" tIns="0" rIns="0" bIns="0" rtlCol="0" anchor="t"/>
          <a:lstStyle/>
          <a:p>
            <a:pPr indent="0" marL="0">
              <a:buNone/>
            </a:pPr>
            <a:r>
              <a:rPr lang="en-US" sz="1300" dirty="0">
                <a:solidFill>
                  <a:schemeClr val="bg2"/>
                </a:solidFill>
              </a:rPr>
              <a:t>元実験と再実行の違いを切り分ける</a:t>
            </a:r>
            <a:endParaRPr lang="en-US" sz="1300" dirty="0"/>
          </a:p>
        </p:txBody>
      </p:sp>
      <p:sp>
        <p:nvSpPr>
          <p:cNvPr id="9" name="num-184"/>
          <p:cNvSpPr/>
          <p:nvPr/>
        </p:nvSpPr>
        <p:spPr>
          <a:xfrm>
            <a:off x="6858000" y="3017520"/>
            <a:ext cx="640080" cy="640080"/>
          </a:xfrm>
          <a:prstGeom prst="ellipse">
            <a:avLst/>
          </a:prstGeom>
          <a:solidFill>
            <a:schemeClr val="accent2"/>
          </a:solidFill>
          <a:ln w="12700">
            <a:solidFill>
              <a:schemeClr val="accent2"/>
            </a:solidFill>
            <a:prstDash val="solid"/>
          </a:ln>
        </p:spPr>
      </p:sp>
      <p:sp>
        <p:nvSpPr>
          <p:cNvPr id="10" name="text-185"/>
          <p:cNvSpPr txBox="1"/>
          <p:nvPr/>
        </p:nvSpPr>
        <p:spPr>
          <a:xfrm>
            <a:off x="6858000" y="30175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186"/>
          <p:cNvSpPr txBox="1"/>
          <p:nvPr/>
        </p:nvSpPr>
        <p:spPr>
          <a:xfrm>
            <a:off x="7680960" y="2926080"/>
            <a:ext cx="3931920" cy="548640"/>
          </a:xfrm>
          <a:prstGeom prst="rect">
            <a:avLst/>
          </a:prstGeom>
          <a:noFill/>
          <a:ln/>
        </p:spPr>
        <p:txBody>
          <a:bodyPr wrap="square" lIns="0" tIns="0" rIns="0" bIns="0" rtlCol="0" anchor="t"/>
          <a:lstStyle/>
          <a:p>
            <a:pPr indent="0" marL="0">
              <a:buNone/>
            </a:pPr>
            <a:r>
              <a:rPr lang="en-US" sz="1600" b="1" dirty="0">
                <a:solidFill>
                  <a:schemeClr val="bg1"/>
                </a:solidFill>
              </a:rPr>
              <a:t>余裕のある条件を1.9.0で再実行</a:t>
            </a:r>
            <a:endParaRPr lang="en-US" sz="1600" dirty="0"/>
          </a:p>
        </p:txBody>
      </p:sp>
      <p:sp>
        <p:nvSpPr>
          <p:cNvPr id="12" name="text-187"/>
          <p:cNvSpPr txBox="1"/>
          <p:nvPr/>
        </p:nvSpPr>
        <p:spPr>
          <a:xfrm>
            <a:off x="7680960" y="3474720"/>
            <a:ext cx="3931920" cy="822960"/>
          </a:xfrm>
          <a:prstGeom prst="rect">
            <a:avLst/>
          </a:prstGeom>
          <a:noFill/>
          <a:ln/>
        </p:spPr>
        <p:txBody>
          <a:bodyPr wrap="square" lIns="0" tIns="0" rIns="0" bIns="0" rtlCol="0" anchor="t"/>
          <a:lstStyle/>
          <a:p>
            <a:pPr indent="0" marL="0">
              <a:buNone/>
            </a:pPr>
            <a:r>
              <a:rPr lang="en-US" sz="1300" dirty="0">
                <a:solidFill>
                  <a:schemeClr val="bg2"/>
                </a:solidFill>
              </a:rPr>
              <a:t>修正後の環境で計画軌道を記録し、減速計画を比べる</a:t>
            </a:r>
            <a:endParaRPr lang="en-US" sz="1300" dirty="0"/>
          </a:p>
        </p:txBody>
      </p:sp>
      <p:sp>
        <p:nvSpPr>
          <p:cNvPr id="13" name="num-188"/>
          <p:cNvSpPr/>
          <p:nvPr/>
        </p:nvSpPr>
        <p:spPr>
          <a:xfrm>
            <a:off x="6858000" y="4572000"/>
            <a:ext cx="640080" cy="640080"/>
          </a:xfrm>
          <a:prstGeom prst="ellipse">
            <a:avLst/>
          </a:prstGeom>
          <a:solidFill>
            <a:schemeClr val="accent2"/>
          </a:solidFill>
          <a:ln w="12700">
            <a:solidFill>
              <a:schemeClr val="accent2"/>
            </a:solidFill>
            <a:prstDash val="solid"/>
          </a:ln>
        </p:spPr>
      </p:sp>
      <p:sp>
        <p:nvSpPr>
          <p:cNvPr id="14" name="text-189"/>
          <p:cNvSpPr txBox="1"/>
          <p:nvPr/>
        </p:nvSpPr>
        <p:spPr>
          <a:xfrm>
            <a:off x="6858000" y="45720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190"/>
          <p:cNvSpPr txBox="1"/>
          <p:nvPr/>
        </p:nvSpPr>
        <p:spPr>
          <a:xfrm>
            <a:off x="7680960" y="4480560"/>
            <a:ext cx="3931920" cy="548640"/>
          </a:xfrm>
          <a:prstGeom prst="rect">
            <a:avLst/>
          </a:prstGeom>
          <a:noFill/>
          <a:ln/>
        </p:spPr>
        <p:txBody>
          <a:bodyPr wrap="square" lIns="0" tIns="0" rIns="0" bIns="0" rtlCol="0" anchor="t"/>
          <a:lstStyle/>
          <a:p>
            <a:pPr indent="0" marL="0">
              <a:buNone/>
            </a:pPr>
            <a:r>
              <a:rPr lang="en-US" sz="1600" b="1" dirty="0">
                <a:solidFill>
                  <a:schemeClr val="bg1"/>
                </a:solidFill>
              </a:rPr>
              <a:t>共通timeout 13件の原因調査</a:t>
            </a:r>
            <a:endParaRPr lang="en-US" sz="1600" dirty="0"/>
          </a:p>
        </p:txBody>
      </p:sp>
      <p:sp>
        <p:nvSpPr>
          <p:cNvPr id="16" name="text-191"/>
          <p:cNvSpPr txBox="1"/>
          <p:nvPr/>
        </p:nvSpPr>
        <p:spPr>
          <a:xfrm>
            <a:off x="7680960" y="5029200"/>
            <a:ext cx="3931920" cy="822960"/>
          </a:xfrm>
          <a:prstGeom prst="rect">
            <a:avLst/>
          </a:prstGeom>
          <a:noFill/>
          <a:ln/>
        </p:spPr>
        <p:txBody>
          <a:bodyPr wrap="square" lIns="0" tIns="0" rIns="0" bIns="0" rtlCol="0" anchor="t"/>
          <a:lstStyle/>
          <a:p>
            <a:pPr indent="0" marL="0">
              <a:buNone/>
            </a:pPr>
            <a:r>
              <a:rPr lang="en-US" sz="1300" dirty="0">
                <a:solidFill>
                  <a:schemeClr val="bg2"/>
                </a:solidFill>
              </a:rPr>
              <a:t>trace JSONが出ない理由をログから調べる</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付録A: TTC判定の検定結果 (8,811件)</a:t>
            </a:r>
            <a:endParaRPr lang="en-US" sz="3000" dirty="0"/>
          </a:p>
        </p:txBody>
      </p:sp>
      <p:graphicFrame>
        <p:nvGraphicFramePr>
          <p:cNvPr id="19" name="ttc-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737360"/>
                <a:gridCol w="1554480"/>
                <a:gridCol w="1554480"/>
                <a:gridCol w="1554480"/>
                <a:gridCol w="1554480"/>
                <a:gridCol w="1554480"/>
                <a:gridCol w="1554480"/>
              </a:tblGrid>
              <a:tr h="438912">
                <a:tc>
                  <a:txBody>
                    <a:bodyPr/>
                    <a:lstStyle/>
                    <a:p>
                      <a:pPr indent="0" marL="0">
                        <a:buNone/>
                      </a:pPr>
                      <a:r>
                        <a:rPr lang="en-US" sz="1200" b="1" dirty="0">
                          <a:solidFill>
                            <a:schemeClr val="bg1"/>
                          </a:solidFill>
                        </a:rPr>
                        <a:t>TTC条件</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1.8.0 − 1.7.1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 (Holm)</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1.9.0 − 1.7.1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 (Holm)</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1.9.0 − 1.8.0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 (Holm)</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r>
              <a:tr h="438912">
                <a:tc>
                  <a:txBody>
                    <a:bodyPr/>
                    <a:lstStyle/>
                    <a:p>
                      <a:pPr indent="0" marL="0">
                        <a:buNone/>
                      </a:pPr>
                      <a:r>
                        <a:rPr lang="en-US" sz="1200" dirty="0">
                          <a:solidFill>
                            <a:schemeClr val="tx1"/>
                          </a:solidFill>
                        </a:rPr>
                        <a:t>&lt; 1.5秒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+0.59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0.050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+1.88</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1.5e-16</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+1.29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5.0e-09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38912">
                <a:tc>
                  <a:txBody>
                    <a:bodyPr/>
                    <a:lstStyle/>
                    <a:p>
                      <a:pPr indent="0" marL="0">
                        <a:buNone/>
                      </a:pPr>
                      <a:r>
                        <a:rPr lang="en-US" sz="1200" dirty="0">
                          <a:solidFill>
                            <a:schemeClr val="tx1"/>
                          </a:solidFill>
                        </a:rPr>
                        <a:t>&lt; 1.3秒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+0.84</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0.0099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+1.63</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3.0e-10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+0.79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0.0099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38912">
                <a:tc>
                  <a:txBody>
                    <a:bodyPr/>
                    <a:lstStyle/>
                    <a:p>
                      <a:pPr indent="0" marL="0">
                        <a:buNone/>
                      </a:pPr>
                      <a:r>
                        <a:rPr lang="en-US" sz="1200" dirty="0">
                          <a:solidFill>
                            <a:schemeClr val="tx1"/>
                          </a:solidFill>
                        </a:rPr>
                        <a:t>&lt; 1.2秒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+0.92</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0.0061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+1.59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7.6e-09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+0.67</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0.059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38912">
                <a:tc>
                  <a:txBody>
                    <a:bodyPr/>
                    <a:lstStyle/>
                    <a:p>
                      <a:pPr indent="0" marL="0">
                        <a:buNone/>
                      </a:pPr>
                      <a:r>
                        <a:rPr lang="en-US" sz="1200" dirty="0">
                          <a:solidFill>
                            <a:schemeClr val="tx1"/>
                          </a:solidFill>
                        </a:rPr>
                        <a:t>&lt; 1.1秒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+0.79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0.030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+1.34</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1.3e-05</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+0.55</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0.24</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38912">
                <a:tc>
                  <a:txBody>
                    <a:bodyPr/>
                    <a:lstStyle/>
                    <a:p>
                      <a:pPr indent="0" marL="0">
                        <a:buNone/>
                      </a:pPr>
                      <a:r>
                        <a:rPr lang="en-US" sz="1200" dirty="0">
                          <a:solidFill>
                            <a:schemeClr val="tx1"/>
                          </a:solidFill>
                        </a:rPr>
                        <a:t>&lt; 0.9秒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+1.17</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0.0019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+1.36</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0.00023</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+0.19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38912">
                <a:tc>
                  <a:txBody>
                    <a:bodyPr/>
                    <a:lstStyle/>
                    <a:p>
                      <a:pPr indent="0" marL="0">
                        <a:buNone/>
                      </a:pPr>
                      <a:r>
                        <a:rPr lang="en-US" sz="1200" dirty="0">
                          <a:solidFill>
                            <a:schemeClr val="tx1"/>
                          </a:solidFill>
                        </a:rPr>
                        <a:t>&lt; 0.7秒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+1.44</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0.0011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+1.35</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0.0040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38912">
                <a:tc>
                  <a:txBody>
                    <a:bodyPr/>
                    <a:lstStyle/>
                    <a:p>
                      <a:pPr indent="0" marL="0">
                        <a:buNone/>
                      </a:pPr>
                      <a:r>
                        <a:rPr lang="en-US" sz="1200" dirty="0">
                          <a:solidFill>
                            <a:schemeClr val="tx1"/>
                          </a:solidFill>
                        </a:rPr>
                        <a:t>&lt; 0.5秒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+1.68</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0.00042</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+1.01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0.091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−0.67</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0.59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38912">
                <a:tc>
                  <a:txBody>
                    <a:bodyPr/>
                    <a:lstStyle/>
                    <a:p>
                      <a:pPr indent="0" marL="0">
                        <a:buNone/>
                      </a:pPr>
                      <a:r>
                        <a:rPr lang="en-US" sz="1200" dirty="0">
                          <a:solidFill>
                            <a:schemeClr val="tx1"/>
                          </a:solidFill>
                        </a:rPr>
                        <a:t>&lt; 0.3秒</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+0.41</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0.59</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+0.14</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−0.27</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bl>
          </a:graphicData>
        </a:graphic>
      </p:graphicFrame>
      <p:sp>
        <p:nvSpPr>
          <p:cNvPr id="4" name="text-192"/>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200" dirty="0">
                <a:solidFill>
                  <a:schemeClr val="tx2"/>
                </a:solidFill>
              </a:rPr>
              <a:t>差は後のバージョンの発生率から前のバージョンの発生率を引いた値 [ポイント]。8閾値×3ペア=24検定にHolm補正</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付録B: データと再現方法</a:t>
            </a:r>
            <a:endParaRPr lang="en-US" sz="3000" dirty="0"/>
          </a:p>
        </p:txBody>
      </p:sp>
      <p:graphicFrame>
        <p:nvGraphicFramePr>
          <p:cNvPr id="20" name="packag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7772400"/>
              </a:tblGrid>
              <a:tr h="411480">
                <a:tc>
                  <a:txBody>
                    <a:bodyPr/>
                    <a:lstStyle/>
                    <a:p>
                      <a:pPr indent="0" marL="0">
                        <a:buNone/>
                      </a:pPr>
                      <a:r>
                        <a:rPr lang="en-US" sz="1200" b="1" dirty="0">
                          <a:solidFill>
                            <a:schemeClr val="bg1"/>
                          </a:solidFill>
                        </a:rPr>
                        <a:t>SSDパッケージ内の場所</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内容</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1"/>
                    </a:solidFill>
                  </a:tcPr>
                </a:tc>
              </a:tr>
              <a:tr h="411480">
                <a:tc>
                  <a:txBody>
                    <a:bodyPr/>
                    <a:lstStyle/>
                    <a:p>
                      <a:pPr indent="0" marL="0">
                        <a:buNone/>
                      </a:pPr>
                      <a:r>
                        <a:rPr lang="en-US" sz="1200" dirty="0">
                          <a:solidFill>
                            <a:schemeClr val="tx1"/>
                          </a:solidFill>
                        </a:rPr>
                        <a:t>data/autoware171・180・190/</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各バージョンのdataset CSV (1.9.0はrecords.jsonlとreplay入力も)</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11480">
                <a:tc>
                  <a:txBody>
                    <a:bodyPr/>
                    <a:lstStyle/>
                    <a:p>
                      <a:pPr indent="0" marL="0">
                        <a:buNone/>
                      </a:pPr>
                      <a:r>
                        <a:rPr lang="en-US" sz="1200" dirty="0">
                          <a:solidFill>
                            <a:schemeClr val="tx1"/>
                          </a:solidFill>
                        </a:rPr>
                        <a:t>analysis/</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3バージョン比較レポート、比較データ、統計値、図</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11480">
                <a:tc>
                  <a:txBody>
                    <a:bodyPr/>
                    <a:lstStyle/>
                    <a:p>
                      <a:pPr indent="0" marL="0">
                        <a:buNone/>
                      </a:pPr>
                      <a:r>
                        <a:rPr lang="en-US" sz="1200" dirty="0">
                          <a:solidFill>
                            <a:schemeClr val="tx1"/>
                          </a:solidFill>
                        </a:rPr>
                        <a:t>json_traces/</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Runtime Monitorのtrace JSON (1.7.1: 9,066件、1.8.0: 9,056件、1.9.0: 9,057件)</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11480">
                <a:tc>
                  <a:txBody>
                    <a:bodyPr/>
                    <a:lstStyle/>
                    <a:p>
                      <a:pPr indent="0" marL="0">
                        <a:buNone/>
                      </a:pPr>
                      <a:r>
                        <a:rPr lang="en-US" sz="1200" dirty="0">
                          <a:solidFill>
                            <a:schemeClr val="tx1"/>
                          </a:solidFill>
                        </a:rPr>
                        <a:t>images/</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3バージョンのDocker image (zstd圧縮) と再現用Dockerfile</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r h="411480">
                <a:tc>
                  <a:txBody>
                    <a:bodyPr/>
                    <a:lstStyle/>
                    <a:p>
                      <a:pPr indent="0" marL="0">
                        <a:buNone/>
                      </a:pPr>
                      <a:r>
                        <a:rPr lang="en-US" sz="1200" dirty="0">
                          <a:solidFill>
                            <a:schemeClr val="tx1"/>
                          </a:solidFill>
                        </a:rPr>
                        <a:t>SHA256SUMS</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c>
                  <a:txBody>
                    <a:bodyPr/>
                    <a:lstStyle/>
                    <a:p>
                      <a:pPr indent="0" marL="0">
                        <a:buNone/>
                      </a:pPr>
                      <a:r>
                        <a:rPr lang="en-US" sz="1200" dirty="0">
                          <a:solidFill>
                            <a:schemeClr val="tx1"/>
                          </a:solidFill>
                        </a:rPr>
                        <a:t>パッケージ内の全ファイルの整合性確認値</a:t>
                      </a:r>
                      <a:endParaRPr lang="en-US" sz="1200" dirty="0"/>
                    </a:p>
                  </a:txBody>
                  <a:tcPr marL="91440" marR="91440" marT="45720" marB="4572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tcPr>
                </a:tc>
              </a:tr>
            </a:tbl>
          </a:graphicData>
        </a:graphic>
      </p:graphicFrame>
      <p:sp>
        <p:nvSpPr>
          <p:cNvPr id="4" name="card-193"/>
          <p:cNvSpPr/>
          <p:nvPr/>
        </p:nvSpPr>
        <p:spPr>
          <a:xfrm>
            <a:off x="548640" y="4023360"/>
            <a:ext cx="11064240" cy="1554480"/>
          </a:xfrm>
          <a:prstGeom prst="roundRect">
            <a:avLst>
              <a:gd name="adj" fmla="val 7059"/>
            </a:avLst>
          </a:prstGeom>
          <a:solidFill>
            <a:schemeClr val="bg2"/>
          </a:solidFill>
          <a:ln w="12700">
            <a:solidFill>
              <a:schemeClr val="bg2"/>
            </a:solidFill>
            <a:prstDash val="solid"/>
          </a:ln>
        </p:spPr>
      </p:sp>
      <p:sp>
        <p:nvSpPr>
          <p:cNvPr id="5" name="text-194"/>
          <p:cNvSpPr txBox="1"/>
          <p:nvPr/>
        </p:nvSpPr>
        <p:spPr>
          <a:xfrm>
            <a:off x="822960" y="4206240"/>
            <a:ext cx="10515600" cy="128016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パッケージ: autoware171_vs_180_vs_190_experiment_package_20261005 (外付けSSD)</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分析の再現: python3 -m tools.analysis.compare_autoware_versions</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--base-csv &lt;1.7.1 success CSV&gt; --replay 180=&lt;1.8.0 CSV&gt; --replay 190=&lt;1.9.0 CSV&gt;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--repeat-csv &lt;r01 CSV&gt; --repeat-manifest-csv &lt;manifest&gt; --output-dir &lt;出力先&gt;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utoware Version Compare">
  <a:themeElements>
    <a:clrScheme name="Autoware Version Compare">
      <a:dk1>
        <a:srgbClr val="1D2B3A"/>
      </a:dk1>
      <a:lt1>
        <a:srgbClr val="FFFFFF"/>
      </a:lt1>
      <a:dk2>
        <a:srgbClr val="2F4A5E"/>
      </a:dk2>
      <a:lt2>
        <a:srgbClr val="EEF3F6"/>
      </a:lt2>
      <a:accent1>
        <a:srgbClr val="1B8A8F"/>
      </a:accent1>
      <a:accent2>
        <a:srgbClr val="E07A1F"/>
      </a:accent2>
      <a:accent3>
        <a:srgbClr val="7A8590"/>
      </a:accent3>
      <a:accent4>
        <a:srgbClr val="C0392B"/>
      </a:accent4>
      <a:accent5>
        <a:srgbClr val="2E7D4F"/>
      </a:accent5>
      <a:accent6>
        <a:srgbClr val="4A6FA5"/>
      </a:accent6>
      <a:hlink>
        <a:srgbClr val="1B8A8F"/>
      </a:hlink>
      <a:folHlink>
        <a:srgbClr val="7A8590"/>
      </a:folHlink>
    </a:clrScheme>
    <a:fontScheme name="Autoware Version Compar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Autoware 1.7.1 / 1.8.0 / 1.9.0 AWSIM比較実験</dc:title>
  <dc:subject>PptxGenJS Presentation</dc:subject>
  <dc:creator>AWSIM_launch</dc:creator>
  <cp:lastModifiedBy>AWSIM_launch</cp:lastModifiedBy>
  <cp:revision>1</cp:revision>
  <dcterms:created xsi:type="dcterms:W3CDTF">2026-10-05T03:08:06Z</dcterms:created>
  <dcterms:modified xsi:type="dcterms:W3CDTF">2026-10-05T03:08:06Z</dcterms:modified>
</cp:coreProperties>
</file>