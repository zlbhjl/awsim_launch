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Yu Gothic"/>
              </a:rPr>
              <a:t>そもそも何をしたい話なのか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418320" cy="475488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737360"/>
            <a:ext cx="86868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B0B0B"/>
                </a:solidFill>
                <a:latin typeface="Yu Gothic"/>
              </a:rPr>
              <a:t>AWSIM_launchは、シミュレーションを何度も実行して</a:t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Yu Gothic"/>
              </a:rPr>
              <a:t>「min_ttc(最小TTC)の平均的な値」のような指標を知りたい。</a:t>
            </a:r>
          </a:p>
          <a:p>
            <a:pPr algn="l"/>
            <a:r>
              <a:rPr sz="10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800" b="1">
                <a:solidFill>
                  <a:srgbClr val="0B0B0B"/>
                </a:solidFill>
                <a:latin typeface="Yu Gothic"/>
              </a:rPr>
              <a:t>しかし全パターンを試すことはできない</a:t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Yu Gothic"/>
              </a:rPr>
              <a:t>(1回のシミュレーションが高コストなため)。</a:t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2000" b="1">
                <a:solidFill>
                  <a:srgbClr val="2A78D6"/>
                </a:solidFill>
                <a:latin typeface="Yu Gothic"/>
              </a:rPr>
              <a:t>では、何回サンプルを集めれば</a:t>
            </a:r>
          </a:p>
          <a:p>
            <a:pPr algn="l"/>
            <a:r>
              <a:rPr sz="2000" b="1">
                <a:solidFill>
                  <a:srgbClr val="2A78D6"/>
                </a:solidFill>
                <a:latin typeface="Yu Gothic"/>
              </a:rPr>
              <a:t>「これはもう十分正確」と言えるのか?</a:t>
            </a:r>
          </a:p>
          <a:p>
            <a:pPr algn="l"/>
            <a:r>
              <a:rPr sz="10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600" b="0">
                <a:solidFill>
                  <a:srgbClr val="52514E"/>
                </a:solidFill>
                <a:latin typeface="Yu Gothic"/>
              </a:rPr>
              <a:t>→ これが今回のテーマです。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Yu Gothic"/>
              </a:rPr>
              <a:t>「止めるタイミング」がなぜ重要か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03B3B"/>
                </a:solidFill>
                <a:latin typeface="Yu Gothic"/>
              </a:rPr>
              <a:t>サンプルが少なすぎる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推定値が真の値からずれている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可能性が高い。信用できない。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6834"/>
                </a:solidFill>
                <a:latin typeface="Yu Gothic"/>
              </a:rPr>
              <a:t>サンプルが多すぎる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9748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実はもう十分正確なのに、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高コストな試行を無駄に続けている。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574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A30C"/>
                </a:solidFill>
                <a:latin typeface="Yu Gothic"/>
              </a:rPr>
              <a:t>ちょうど良い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69748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「これで十分」と言える瞬間で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自動的に止めたい。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Yu Gothic"/>
              </a:rPr>
              <a:t>理想は「これで十分」を機械的・自動的に判定してくれる基準があること。</a:t>
            </a:r>
          </a:p>
          <a:p>
            <a:pPr algn="l"/>
            <a:r>
              <a:rPr sz="1400" b="0">
                <a:solidFill>
                  <a:srgbClr val="52514E"/>
                </a:solidFill>
                <a:latin typeface="Yu Gothic"/>
              </a:rPr>
              <a:t>これを「停止規則(stopping rule)」と呼ぶ。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Yu Gothic"/>
              </a:rPr>
              <a:t>既存手法(Hoeffdingの不等式)の弱点</a:t>
            </a:r>
          </a:p>
          <a:p>
            <a:r>
              <a:rPr sz="1300">
                <a:solidFill>
                  <a:srgbClr val="52514E"/>
                </a:solidFill>
                <a:latin typeface="Yu Gothic"/>
              </a:rPr>
              <a:t>R*sqrt(log(2/delta)/(2n)) を実際に計算した数値(delta=0.05, R=2.0)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B0B0B"/>
                </a:solidFill>
                <a:latin typeface="Yu Gothic"/>
              </a:rPr>
              <a:t>Hoeffdingの不等式は「試行回数nと、値が取りうる範囲Rだけ」を見て区間の広さを決める。</a:t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Yu Gothic"/>
              </a:rPr>
              <a:t>実際のデータがどれだけ安定していようと関係なく、同じ速さでしか縮まらない。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9418320" cy="310896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51460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同じn件でも、Hoeffdingが返す区間の半幅は全く同じ(EBStopのc_tと同じ単位=値そのものの誤差)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Yu Gothic"/>
              </a:rPr>
              <a:t>試行回数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Yu Gothic"/>
              </a:rPr>
              <a:t>大人しいデータ(σ≈0.01)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1089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Yu Gothic"/>
              </a:rPr>
              <a:t>暴れるデータ(σ≈1.0)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n=100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0.2716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5661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0.2716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690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n=200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690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0.1921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0690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0.1921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72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n=400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0.1358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572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0.1358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2920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03B3B"/>
                </a:solidFill>
                <a:latin typeface="Yu Gothic"/>
              </a:rPr>
              <a:t>→ 分散が100倍違っても、Hoeffdingの区間幅は寸分違わず同じ(データの中身を全く見ていない)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Yu Gothic"/>
              </a:rPr>
              <a:t>(注: DKWはCDF=確率の誤差を保証する手法で単位が異なるため、EBStopと同じ「値の誤差」を保証するHoeffdingと比較する)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Yu Gothic"/>
              </a:rPr>
              <a:t>EBStopのアイデア(ここが核心)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0B0B"/>
                </a:solidFill>
                <a:latin typeface="Yu Gothic"/>
              </a:rPr>
              <a:t>「実際に観測しているデータのばらつきぐあいそのものを見て、</a:t>
            </a:r>
          </a:p>
          <a:p>
            <a:pPr algn="l"/>
            <a:r>
              <a:rPr sz="1700" b="1">
                <a:solidFill>
                  <a:srgbClr val="0B0B0B"/>
                </a:solidFill>
                <a:latin typeface="Yu Gothic"/>
              </a:rPr>
              <a:t>大人しいデータならもっと早く止まっていいはずでは?」という発想の転換。</a:t>
            </a:r>
          </a:p>
        </p:txBody>
      </p:sp>
      <p:pic>
        <p:nvPicPr>
          <p:cNvPr id="6" name="Picture 5" descr="slide4_calm_w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920240"/>
            <a:ext cx="8869680" cy="26815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5760720"/>
            <a:ext cx="8869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同じ30件のサンプルでも、左のように値がほぼ一定なら「もう平均は分かった」と早めに自信を持てる。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右のように暴れているなら、まだ判断するのは危険。EBStopはこの違いを区間の幅に直接反映する。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Yu Gothic"/>
              </a:rPr>
              <a:t>疑問: 実測した分散を丸ごと信じていいのか?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自然な疑問: 「まだ数件しか見ていないのに、その時点の分散を信じて早合点していいのか?」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→ 危険。序盤の分散推定はそれ自体が不正確なことがある。EBStopの式はこれに備えている。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Yu Gothic"/>
              </a:rPr>
              <a:t>記号: X_t = t件までのサンプル平均、σ_t = t件までの標本標準偏差(実測値)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5394960" cy="356616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78D6"/>
                </a:solidFill>
                <a:latin typeface="Yu Gothic"/>
              </a:rPr>
              <a:t>項1: 実測した分散の項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sigma_t * sqrt(2*log(3/d_t)/t)</a:t>
            </a:r>
          </a:p>
          <a:p>
            <a:pPr algn="l"/>
            <a:r>
              <a:rPr sz="8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「平均のばらつき」そのもの。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標準誤差は試行数の平方根√tに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反比例して縮む、という統計の基本。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真の分散が小さいほど、この項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自体が最初から小さい。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34640"/>
            <a:ext cx="5394960" cy="356616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017520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6834"/>
                </a:solidFill>
                <a:latin typeface="Yu Gothic"/>
              </a:rPr>
              <a:t>項2: 保険の項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3 * R * log(3/d_t) / t</a:t>
            </a:r>
          </a:p>
          <a:p>
            <a:pPr algn="l"/>
            <a:r>
              <a:rPr sz="8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「実測した分散σ_t自体が、まだ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不正確かもしれない」ことへの保険。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1/t で項1(1/√t)よりずっと速く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縮むので、データが増えるほど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すぐに無視できるほど小さくなる。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0B0B"/>
                </a:solidFill>
                <a:latin typeface="Yu Gothic"/>
              </a:rPr>
              <a:t>2つを足したものが c_t (区間の半幅)。これが次のスライドの区間更新に使われる。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Yu Gothic"/>
              </a:rPr>
              <a:t>もう一つの問題: 何度も判定を繰り返すこと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EBStopは1件増えるたびに「もう十分か」を毎回チェックする。</a:t>
            </a:r>
          </a:p>
          <a:p>
            <a:pPr algn="l"/>
            <a:r>
              <a:rPr sz="1400" b="0">
                <a:solidFill>
                  <a:srgbClr val="52514E"/>
                </a:solidFill>
                <a:latin typeface="Yu Gothic"/>
              </a:rPr>
              <a:t>何度も判定を繰り返すと、たまたま『良く見える瞬間』を拾ってしまう危険がある</a:t>
            </a:r>
          </a:p>
          <a:p>
            <a:pPr algn="l"/>
            <a:r>
              <a:rPr sz="1400" b="0">
                <a:solidFill>
                  <a:srgbClr val="52514E"/>
                </a:solidFill>
                <a:latin typeface="Yu Gothic"/>
              </a:rPr>
              <a:t>(コインを何度も投げれば、たまたま連続で表が出る瞬間もあるのと同じ)。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106070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78D6"/>
                </a:solidFill>
                <a:latin typeface="Yu Gothic"/>
              </a:rPr>
              <a:t>解決策: 誤り率をあらかじめ細かく配分しておく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d_t = c / t^1.1   (各時点tに割り当てる、小さな『許容誤り率』)</a:t>
            </a:r>
          </a:p>
          <a:p>
            <a:pPr algn="l"/>
            <a:r>
              <a:rPr sz="8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全体の誤り率δを、1回だけ使うのではなく、t=1,2,3,...それぞれに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『少しずつ』配分する(合計してもδを超えないように)。これにより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『何回覗いても、トータルの誤り率はδを超えない』という保証を先に買っておく。</a:t>
            </a:r>
          </a:p>
          <a:p>
            <a:pPr algn="l"/>
            <a:r>
              <a:rPr sz="10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500" b="1">
                <a:solidFill>
                  <a:srgbClr val="2A78D6"/>
                </a:solidFill>
                <a:latin typeface="Yu Gothic"/>
              </a:rPr>
              <a:t>log(3/d_t) が式に出てくる理由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Bernstein型の不等式は『確率が指数関数的に減衰する』形をしている。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その確率をd_t以下に抑えたい、と逆算すると自然にlogが現れる。</a:t>
            </a:r>
          </a:p>
          <a:p>
            <a:pPr algn="l"/>
            <a:r>
              <a:rPr sz="1300" b="1">
                <a:solidFill>
                  <a:srgbClr val="0B0B0B"/>
                </a:solidFill>
                <a:latin typeface="Yu Gothic"/>
              </a:rPr>
              <a:t>この d_t と log(3/d_t) が、前のスライドの c_t の式の中身。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Yu Gothic"/>
              </a:rPr>
              <a:t>ここまでのまとめ: アルゴリズム全体像</a:t>
            </a:r>
          </a:p>
          <a:p>
            <a:r>
              <a:rPr sz="1300">
                <a:solidFill>
                  <a:srgbClr val="52514E"/>
                </a:solidFill>
                <a:latin typeface="Yu Gothic"/>
              </a:rPr>
              <a:t>Mnih, Szepesvári, Audibert (ICML 2008), Algorithm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70432"/>
            <a:ext cx="4206240" cy="539496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840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Yu Gothic"/>
              </a:rPr>
              <a:t>記号(このスライドで使うもの)</a:t>
            </a:r>
          </a:p>
          <a:p>
            <a:pPr algn="l"/>
            <a:r>
              <a:rPr sz="1100" b="0">
                <a:solidFill>
                  <a:srgbClr val="52514E"/>
                </a:solidFill>
                <a:latin typeface="Yu Gothic"/>
              </a:rPr>
              <a:t>X_t = t件までのサンプル平均</a:t>
            </a:r>
          </a:p>
          <a:p>
            <a:pPr algn="l"/>
            <a:r>
              <a:rPr sz="1100" b="0">
                <a:solidFill>
                  <a:srgbClr val="52514E"/>
                </a:solidFill>
                <a:latin typeface="Yu Gothic"/>
              </a:rPr>
              <a:t>c_t = 区間の半幅 (スライド5+6の式の合計)</a:t>
            </a:r>
          </a:p>
          <a:p>
            <a:pPr algn="l"/>
            <a:r>
              <a:rPr sz="6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400" b="1">
                <a:solidFill>
                  <a:srgbClr val="0B0B0B"/>
                </a:solidFill>
                <a:latin typeface="Yu Gothic"/>
              </a:rPr>
              <a:t>目的</a:t>
            </a:r>
          </a:p>
          <a:p>
            <a:pPr algn="l"/>
            <a:r>
              <a:rPr sz="1100" b="0">
                <a:solidFill>
                  <a:srgbClr val="2A78D6"/>
                </a:solidFill>
                <a:latin typeface="Consolas"/>
              </a:rPr>
              <a:t>P[|推定値-真の値| &lt;= eps*|真の値|] &gt;= 1-delta</a:t>
            </a:r>
          </a:p>
          <a:p>
            <a:pPr algn="l"/>
            <a:r>
              <a:rPr sz="1000" b="0">
                <a:solidFill>
                  <a:srgbClr val="52514E"/>
                </a:solidFill>
                <a:latin typeface="Yu Gothic"/>
              </a:rPr>
              <a:t>(相対誤差eps以内で真の平均を推定)</a:t>
            </a:r>
          </a:p>
          <a:p>
            <a:pPr algn="l"/>
            <a:r>
              <a:rPr sz="6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400" b="1">
                <a:solidFill>
                  <a:srgbClr val="0B0B0B"/>
                </a:solidFill>
                <a:latin typeface="Yu Gothic"/>
              </a:rPr>
              <a:t>アルゴリズム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LB=0, UB=無限大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t件ごとに: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  LB = max(LB, |X_t| - c_t)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  UB = min(UB, |X_t| + c_t)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(1+eps)*LB &gt;= (1-eps)*UB で停止</a:t>
            </a:r>
          </a:p>
          <a:p>
            <a:pPr algn="l"/>
            <a:r>
              <a:rPr sz="6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400" b="1">
                <a:solidFill>
                  <a:srgbClr val="0B0B0B"/>
                </a:solidFill>
                <a:latin typeface="Yu Gothic"/>
              </a:rPr>
              <a:t>停止時の最終推定値</a:t>
            </a:r>
          </a:p>
          <a:p>
            <a:pPr algn="l"/>
            <a:r>
              <a:rPr sz="1000" b="0">
                <a:solidFill>
                  <a:srgbClr val="0B0B0B"/>
                </a:solidFill>
                <a:latin typeface="Consolas"/>
              </a:rPr>
              <a:t>推定値 = sgn(X_t) * [(1+eps)LB+(1-eps)UB]/2</a:t>
            </a:r>
          </a:p>
          <a:p>
            <a:pPr algn="l"/>
            <a:r>
              <a:rPr sz="6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400" b="1">
                <a:solidFill>
                  <a:srgbClr val="0B0B0B"/>
                </a:solidFill>
                <a:latin typeface="Yu Gothic"/>
              </a:rPr>
              <a:t>なぜmax/minで更新するか</a:t>
            </a:r>
          </a:p>
          <a:p>
            <a:pPr algn="l"/>
            <a:r>
              <a:rPr sz="1100" b="0">
                <a:solidFill>
                  <a:srgbClr val="52514E"/>
                </a:solidFill>
                <a:latin typeface="Yu Gothic"/>
              </a:rPr>
              <a:t>『いつ止めても良い』保証を作るため</a:t>
            </a:r>
          </a:p>
          <a:p>
            <a:pPr algn="l"/>
            <a:r>
              <a:rPr sz="1100" b="0">
                <a:solidFill>
                  <a:srgbClr val="52514E"/>
                </a:solidFill>
                <a:latin typeface="Yu Gothic"/>
              </a:rPr>
              <a:t>(スライド6の問題と同じ発想)。</a:t>
            </a:r>
          </a:p>
        </p:txBody>
      </p:sp>
      <p:pic>
        <p:nvPicPr>
          <p:cNvPr id="7" name="Picture 6" descr="slide1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34440"/>
            <a:ext cx="6858000" cy="398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608076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Yu Gothic"/>
              </a:rPr>
              <a:t>LB(下限)は単調増加、UB(上限)は単調減少 = 「はさみうち」で真の値に収束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Yu Gothic"/>
              </a:rPr>
              <a:t>実例で計算を最初から最後まで追う(t=100)</a:t>
            </a:r>
          </a:p>
          <a:p>
            <a:r>
              <a:rPr sz="1300">
                <a:solidFill>
                  <a:srgbClr val="52514E"/>
                </a:solidFill>
                <a:latin typeface="Yu Gothic"/>
              </a:rPr>
              <a:t>実データ: X_100(平均)=1.9995, sigma_100(標準偏差)=0.0077, R=2.0, eps=0.1, delta=0.05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47120" cy="384048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783080"/>
            <a:ext cx="3474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計算(数式+実数値)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783080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何をしていて、なぜそうするか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114300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31136"/>
            <a:ext cx="1737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Yu Gothic"/>
              </a:rPr>
              <a:t>① 誤り率の配分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2194560"/>
            <a:ext cx="3383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d_t = c/t^1.1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= 0.004545/100^1.1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= 0.0000287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2212848"/>
            <a:ext cx="3337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Yu Gothic"/>
              </a:rPr>
              <a:t>何度も判定するので、各時点tに割り当てる誤り率をあらかじめ細かく配分し、合計がδを超えないようにしている(alpha-spending)。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64408"/>
            <a:ext cx="11247120" cy="1143000"/>
          </a:xfrm>
          <a:prstGeom prst="roundRect">
            <a:avLst>
              <a:gd name="adj" fmla="val 4000"/>
            </a:avLst>
          </a:prstGeom>
          <a:solidFill>
            <a:srgbClr val="ECEBE7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74136"/>
            <a:ext cx="1737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Yu Gothic"/>
              </a:rPr>
              <a:t>② log項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337560"/>
            <a:ext cx="3383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log(3/d_t)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= log(3/0.0000287)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= 11.558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3355848"/>
            <a:ext cx="3337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Yu Gothic"/>
              </a:rPr>
              <a:t>Bernstein型の不等式は確率が指数関数的に減衰する形。その確率をd_t以下に抑えたいと逆算すると自然にlogが現れる。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07408"/>
            <a:ext cx="11247120" cy="114300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517136"/>
            <a:ext cx="1737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Yu Gothic"/>
              </a:rPr>
              <a:t>③ c_t (2つの項)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480560"/>
            <a:ext cx="3383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分散項=0.0037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範囲項=0.6935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c_t=0.6972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498848"/>
            <a:ext cx="3337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Yu Gothic"/>
              </a:rPr>
              <a:t>分散項=実測したばらつき(σ_tに比例)。範囲項=その分散推定自体への保険。分散項が支配的なので、分散が小さいほどc_t全体が小さい。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50408"/>
            <a:ext cx="11247120" cy="1143000"/>
          </a:xfrm>
          <a:prstGeom prst="roundRect">
            <a:avLst>
              <a:gd name="adj" fmla="val 4000"/>
            </a:avLst>
          </a:prstGeom>
          <a:solidFill>
            <a:srgbClr val="ECEBE7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660136"/>
            <a:ext cx="1737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Yu Gothic"/>
              </a:rPr>
              <a:t>④ LB/UB更新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5623560"/>
            <a:ext cx="3383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LB=max(...)=1.302</a:t>
            </a:r>
          </a:p>
          <a:p>
            <a:pPr algn="l"/>
            <a:r>
              <a:rPr sz="1100" b="0">
                <a:solidFill>
                  <a:srgbClr val="0B0B0B"/>
                </a:solidFill>
                <a:latin typeface="Consolas"/>
              </a:rPr>
              <a:t>UB=min(...)=2.697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5641848"/>
            <a:ext cx="3337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Yu Gothic"/>
              </a:rPr>
              <a:t>これまでの下限候補の最大値・上限候補の最小値を追跡することで、『いつ止めても良い』という保証を区間そのものに持たせている。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Yu Gothic"/>
              </a:rPr>
              <a:t>結果の実証とまとめ</a:t>
            </a:r>
          </a:p>
          <a:p>
            <a:r>
              <a:rPr sz="1300">
                <a:solidFill>
                  <a:srgbClr val="52514E"/>
                </a:solidFill>
                <a:latin typeface="Yu Gothic"/>
              </a:rPr>
              <a:t>同一の eps=0.1, R=2.0 条件での比較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Yu Gothic"/>
              </a:rPr>
              <a:t>何と何を比べているか: 同じEBStopアルゴリズム・同じ目標設定(eps=0.1, delta=0.05, R=2.0)を、</a:t>
            </a:r>
          </a:p>
          <a:p>
            <a:pPr algn="l"/>
            <a:r>
              <a:rPr sz="1300" b="1">
                <a:solidFill>
                  <a:srgbClr val="0B0B0B"/>
                </a:solidFill>
                <a:latin typeface="Yu Gothic"/>
              </a:rPr>
              <a:t>分散だけが違う2つの独立したデータ(低分散/高分散)にそれぞれ適用し、必要なサンプル数を比較。</a:t>
            </a:r>
          </a:p>
        </p:txBody>
      </p:sp>
      <p:pic>
        <p:nvPicPr>
          <p:cNvPr id="6" name="Picture 5" descr="slide3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7040880" cy="4091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965960"/>
            <a:ext cx="4023360" cy="443484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148840"/>
            <a:ext cx="3657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結果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Yu Gothic"/>
              </a:rPr>
              <a:t>大人しいデータ(σ≈0.01): n=398 で停止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Yu Gothic"/>
              </a:rPr>
              <a:t>暴れるデータ(σ≈1.0): n=450 でも未停止</a:t>
            </a:r>
          </a:p>
          <a:p>
            <a:pPr algn="l"/>
            <a:r>
              <a:rPr sz="8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スライド3との対比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Yu Gothic"/>
              </a:rPr>
              <a:t>Hoeffdingなら分散に関わらず同じ幅・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Yu Gothic"/>
              </a:rPr>
              <a:t>同じ速さでしか縮まらない(スライド3)。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Yu Gothic"/>
              </a:rPr>
              <a:t>EBStopはデータが大人しい時だけ、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Yu Gothic"/>
              </a:rPr>
              <a:t>その分だけ早く止まれる。</a:t>
            </a:r>
          </a:p>
          <a:p>
            <a:pPr algn="l"/>
            <a:r>
              <a:rPr sz="8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AWSIM_launchでの意味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Yu Gothic"/>
              </a:rPr>
              <a:t>min_ttc等の分散が小さい指標では、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Yu Gothic"/>
              </a:rPr>
              <a:t>高コストなシミュレーションの回数を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Yu Gothic"/>
              </a:rPr>
              <a:t>DKWより減らせる可能性がある。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