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経緯" id="{19d547f4-265b-bde5-aff4-31ca55bd8557}">
          <p14:sldIdLst>
            <p14:sldId id="256"/>
            <p14:sldId id="257"/>
            <p14:sldId id="258"/>
          </p14:sldIdLst>
        </p14:section>
        <p14:section name="汎用モデル" id="{25919c09-2c52-cc2c-55ac-678e3d3607a4}">
          <p14:sldIdLst>
            <p14:sldId id="259"/>
            <p14:sldId id="260"/>
            <p14:sldId id="261"/>
          </p14:sldIdLst>
        </p14:section>
        <p14:section name="Uターンへの具体化" id="{ae4f7ec7-2e3c-c357-f949-8bb1f02424e8}">
          <p14:sldIdLst>
            <p14:sldId id="262"/>
            <p14:sldId id="263"/>
            <p14:sldId id="264"/>
            <p14:sldId id="265"/>
          </p14:sldIdLst>
        </p14:section>
        <p14:section name="校正" id="{41520df7-f36c-27f2-178e-bf18ec487612}">
          <p14:sldIdLst>
            <p14:sldId id="266"/>
            <p14:sldId id="267"/>
          </p14:sldIdLst>
        </p14:section>
        <p14:section name="最終結果" id="{3b125132-db9d-9d9e-643e-ae8d29cd1f82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まとめ" id="{6fc9d942-99d2-b08c-69f8-e473cf6a4252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B1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B1B"/>
                </a:solidFill>
                <a:latin typeface="+mn-lt"/>
              </a:rPr>
              <a:t>制動判断からの停止距離 [m]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Autoware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30 km/h</c:v>
                  </c:pt>
                  <c:pt idx="1">
                    <c:v>35 km/h</c:v>
                  </c:pt>
                  <c:pt idx="2">
                    <c:v>40 km/h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17.1</c:v>
                </c:pt>
                <c:pt idx="1">
                  <c:v>22.1</c:v>
                </c:pt>
                <c:pt idx="2">
                  <c:v>27.9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JAMA 人間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30 km/h</c:v>
                  </c:pt>
                  <c:pt idx="1">
                    <c:v>35 km/h</c:v>
                  </c:pt>
                  <c:pt idx="2">
                    <c:v>40 km/h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13.2</c:v>
                </c:pt>
                <c:pt idx="1">
                  <c:v>16.3</c:v>
                </c:pt>
                <c:pt idx="2">
                  <c:v>19.7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JAMA AEBの値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30 km/h</c:v>
                  </c:pt>
                  <c:pt idx="1">
                    <c:v>35 km/h</c:v>
                  </c:pt>
                  <c:pt idx="2">
                    <c:v>40 km/h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5.4</c:v>
                </c:pt>
                <c:pt idx="1">
                  <c:v>7.1</c:v>
                </c:pt>
                <c:pt idx="2">
                  <c:v>9.1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6350" cap="flat">
              <a:solidFill>
                <a:srgbClr val="E6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251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前回の汎用統計的検証器（0903）の続き。微分方程式の対象を追加し、既存のUターンに適用、AWSIMと比較した結果を報告する。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3層の位置づけ。PRISMは統計手法の検算、ODE/SDEは高速な連続系、AWSIMは高忠実度。共通部分（契約・統計評価・並列実行）はそのまま再利用する。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流れは4段階。ポイントは、汎用の枠組みを先に作り、Uターンはその一実装であること。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一般形。ODEは拡散0の特別な場合。モードとガードで制御の切替を表す。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左がモデルの契約、右がデータの流れ。青い部分だけが今回の新規。前後の契約・統計評価・保存はAWSIM/PRISMと共通。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固定刻みEMでノイズ0にすると、イベントの離散化で境界がずれる。それを避けるためODEに委譲している。解析解のある例題モデルで一致を確認済み。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9次元、3モード。ガード①が既存シナリオのdx0条件そのもの。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waypointの半円は半径約4.9mだが、AWSIMの追従は内側を走る。実際の経路から半径・旋回角を測った。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制動は3パラメータの区分線形。同じ式にJAMAの値を入れれば人間モデルとの比較ができる。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判定は4つの出力。SDEは枠組みとして実装済みだが、ノイズ量は未校正なので結果はODEで出している。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トレース末尾は道路のカーブまで含むので、旋回角は16-25m区間で測る。誤差はすべて確認用の別トレース24件。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速度そのものに当てはめるとノイズに強い。減速度のばらつきが極めて小さく、Autowareの計画上の上限が出ていると考えられる（未確認）。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評価に使った集合は、その時点で一度も結果を見ていない。評価後に見た集合は開発用に回し、次の評価には使わない。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評価集合Aでの結果。正解率95%、TTCは80件が完全一致。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同じ軌跡から2つの判定を同時に出す。スクリーニングはODEで広めに拾い、AWSIMで確かめる使い方。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評価集合Bで1回だけ評価。スクリーニングは50/50を拾い、非衝突の72%はAWSIMに回さなくてよい。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同じODE、同じ開始状態・旋回で、制動の3パラメータだけを差し替えた比較。Autowareは反応は速いが、減速度の上限が低い。3.0 m/s²がAutowareのどの設定から来ているかは未確認。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ODE同士の比較なので差は制動だけ。Autoware衝突・人間回避が132件、その逆は20件。合計件数が近くても、劣る領域ははっきり分かれる。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限界は主に検証範囲とSDEの未校正。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4点のまとめ。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109441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6E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45920"/>
            <a:ext cx="11094415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連続ダイナミクス（ODE/SDE）対象の統計的検証と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Uターンシナリオへの適用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6E3"/>
                </a:solidFill>
              </a:rPr>
              <a:t>汎用統計的検証器の拡張：ハイブリッド確率微分方程式の対象化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6E3"/>
                </a:solidFill>
              </a:rPr>
              <a:t>AWSIM（Autoware 1.7.1）との比較と2つの判定モード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6E3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FB3C8"/>
                </a:solidFill>
              </a:rPr>
              <a:t>2026-10-05　研究進捗報告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背景：検証器が扱う対象を連続系へ広げる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前回までの汎用統計的検証器は、対象の実行・判定・統計評価を分離し、複数の対象を同じ統計手法で評価できる構成にした。指導教員から「微分方程式で表される対象も扱うべき」という助言を受けた。</a:t>
            </a:r>
            <a:endParaRPr lang="en-US" sz="1600" dirty="0"/>
          </a:p>
        </p:txBody>
      </p:sp>
      <p:sp>
        <p:nvSpPr>
          <p:cNvPr id="4" name="layer_card"/>
          <p:cNvSpPr/>
          <p:nvPr/>
        </p:nvSpPr>
        <p:spPr>
          <a:xfrm>
            <a:off x="548640" y="224028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0EFEC"/>
          </a:solidFill>
          <a:ln w="12700">
            <a:solidFill>
              <a:srgbClr val="F0EF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PRISM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620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離散の確率系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918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DTMCのランダム経路を生成し、Maudeで判定。厳密な確率と照合して統計手法の正しさを確認できる</a:t>
            </a:r>
            <a:endParaRPr lang="en-US" sz="1400" dirty="0"/>
          </a:p>
        </p:txBody>
      </p:sp>
      <p:sp>
        <p:nvSpPr>
          <p:cNvPr id="8" name="layer_card"/>
          <p:cNvSpPr/>
          <p:nvPr/>
        </p:nvSpPr>
        <p:spPr>
          <a:xfrm>
            <a:off x="4251960" y="224028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ODE / SDE（今回追加）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8620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連続の力学系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2918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微分方程式で軌跡を計算。軽量で大量に試行でき、AWSIMと同じ入力で比べられる</a:t>
            </a:r>
            <a:endParaRPr lang="en-US" sz="1400" dirty="0"/>
          </a:p>
        </p:txBody>
      </p:sp>
      <p:sp>
        <p:nvSpPr>
          <p:cNvPr id="12" name="layer_card"/>
          <p:cNvSpPr/>
          <p:nvPr/>
        </p:nvSpPr>
        <p:spPr>
          <a:xfrm>
            <a:off x="7955280" y="224028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0EFEC"/>
          </a:solidFill>
          <a:ln w="12700">
            <a:solidFill>
              <a:srgbClr val="F0EF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2423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AWSIM + Autoware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8620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高忠実度のブラックボックス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32918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実際の自動運転ソフトをシミュレータ上で実行。1件あたりのコストが大きい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94415" cy="5486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6B778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892040"/>
            <a:ext cx="11094415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共通部分：TestCase → 実行 → RawRunResult → 判定 → EvaluationRecord → 統計評価（二項CI・SPRT・DKW・EBStop）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方針：汎用の枠組みを作り、Uターンに具体化する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737360"/>
            <a:ext cx="251460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77240" y="1965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9385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汎用モデル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対象をハイブリッド確率微分方程式として定義する枠組みと、汎用ソルバー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99816" y="2926080"/>
            <a:ext cx="265176" cy="914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9" name="card"/>
          <p:cNvSpPr/>
          <p:nvPr/>
        </p:nvSpPr>
        <p:spPr>
          <a:xfrm>
            <a:off x="3401568" y="1737360"/>
            <a:ext cx="251460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badge"/>
          <p:cNvSpPr/>
          <p:nvPr/>
        </p:nvSpPr>
        <p:spPr>
          <a:xfrm>
            <a:off x="3630168" y="1965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016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9385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Uターンに具体化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2606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既存のUターン条件（dx0・ego速度・NPC速度）をそのまま入力に使う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52744" y="2926080"/>
            <a:ext cx="265176" cy="914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5" name="card"/>
          <p:cNvSpPr/>
          <p:nvPr/>
        </p:nvSpPr>
        <p:spPr>
          <a:xfrm>
            <a:off x="6254496" y="1737360"/>
            <a:ext cx="251460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6483096" y="1965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8309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67728" y="19385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AWSIMで校正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83096" y="2606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開始状態・NPC旋回・制動をAWSIMの走行記録から推定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05672" y="2926080"/>
            <a:ext cx="265176" cy="914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1" name="card"/>
          <p:cNvSpPr/>
          <p:nvPr/>
        </p:nvSpPr>
        <p:spPr>
          <a:xfrm>
            <a:off x="9107424" y="1737360"/>
            <a:ext cx="251460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badge"/>
          <p:cNvSpPr/>
          <p:nvPr/>
        </p:nvSpPr>
        <p:spPr>
          <a:xfrm>
            <a:off x="9336024" y="1965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36024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820656" y="19385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比較と判定モード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336024" y="2606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未使用の記録で一致を評価し、判定／スクリーニングの2モードを用意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4805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Uターンは既存のAWSIM実験と同じ入力空間（dx0 10–25 m、ego 30–40 km/h、NPC 10–25 km/h）を持つため、ODEとAWSIMを1件ずつ直接比較できる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新しいシナリオは同じ枠組みにモデルを1つ追加するだけで扱える（ソルバー・統計評価・保存経路は共通）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汎用モデル：ハイブリッド確率微分方程式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188720"/>
            <a:ext cx="6035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pic>
        <p:nvPicPr>
          <p:cNvPr id="4" name="eq_eq_hybrid" descr="数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3185541" cy="349758"/>
          </a:xfrm>
          <a:prstGeom prst="rect">
            <a:avLst/>
          </a:prstGeom>
        </p:spPr>
      </p:pic>
      <p:pic>
        <p:nvPicPr>
          <p:cNvPr id="5" name="eq_eq_guard" descr="数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03120"/>
            <a:ext cx="3956792" cy="34235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6868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2514E"/>
                </a:solidFill>
              </a:rPr>
              <a:t>G_q ≡ 0 のとき常微分方程式（ODE）になる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84048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x：連続状態（位置・速度・方位など）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q：離散モード（制御の切替・走行フェーズ）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f_q：ドリフト（決定論的な運動）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G_q：拡散（ノイズの大きさ）、W_t：ブラウン運動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g：ガード関数。0を横切るとモード q → q′ に切り替わり、リセット写像 r を適用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223760" y="1920240"/>
            <a:ext cx="1005840" cy="10058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223760" y="1920240"/>
            <a:ext cx="10058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q₁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8915400" y="1920240"/>
            <a:ext cx="1005840" cy="10058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915400" y="1920240"/>
            <a:ext cx="10058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q₂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10607040" y="1920240"/>
            <a:ext cx="1005840" cy="10058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0607040" y="1920240"/>
            <a:ext cx="10058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q₃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8229600" y="2423160"/>
            <a:ext cx="685800" cy="914"/>
          </a:xfrm>
          <a:prstGeom prst="line">
            <a:avLst/>
          </a:prstGeom>
          <a:noFill/>
          <a:ln w="22225">
            <a:solidFill>
              <a:srgbClr val="EB6834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9921240" y="2423160"/>
            <a:ext cx="685800" cy="914"/>
          </a:xfrm>
          <a:prstGeom prst="line">
            <a:avLst/>
          </a:prstGeom>
          <a:noFill/>
          <a:ln w="22225">
            <a:solidFill>
              <a:srgbClr val="EB6834"/>
            </a:solidFill>
            <a:prstDash val="solid"/>
            <a:tailEnd type="triangle"/>
          </a:ln>
        </p:spPr>
      </p:sp>
      <p:sp>
        <p:nvSpPr>
          <p:cNvPr id="16" name="Text 12"/>
          <p:cNvSpPr txBox="1"/>
          <p:nvPr/>
        </p:nvSpPr>
        <p:spPr>
          <a:xfrm>
            <a:off x="8183880" y="18288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B6834"/>
                </a:solidFill>
              </a:rPr>
              <a:t>g₁ = 0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9875520" y="18288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B6834"/>
                </a:solidFill>
              </a:rPr>
              <a:t>g₂ = 0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223760" y="32918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2514E"/>
                </a:solidFill>
              </a:rPr>
              <a:t>各モードの中では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2514E"/>
                </a:solidFill>
              </a:rPr>
              <a:t>dx = f_q dt + G_q dW で連続に発展し、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2514E"/>
                </a:solidFill>
              </a:rPr>
              <a:t>ガードを横切った瞬間に離散的に切り替わる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7223760" y="46634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自動運転のように「連続の物理運動」と「離散の制御切替」が混在する対象を、1つの形式で表せる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モデルが提供するものと既存パイプラインへの接続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5852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2004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要素（HybridSystem）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意味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state_names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状態変数の名前（単位は接尾辞）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initial_mode / initial_state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初期モードと初期状態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drift(t, x, q)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ドリフト f_q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noise_channels / diffusion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ノイズの成分と拡散 G_q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transitions(q)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ガード g・切替先・リセット 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project(x)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許容範囲への射影（速度 ≥ 0 など）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720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2514E"/>
                </a:solidFill>
              </a:rPr>
              <a:t>ソルバー（runners）はモデル固有の意味を解釈しない。新しいモデルはこの要素を実装するだけでよい。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949440" y="1234440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F0EFEC"/>
          </a:solidFill>
          <a:ln w="12700">
            <a:solidFill>
              <a:srgbClr val="F0EF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49440" y="1234440"/>
            <a:ext cx="46634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TestCase（dx0, ego速度, NPC速度, seed）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281160" y="1847088"/>
            <a:ext cx="914" cy="256032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6949440" y="2121408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F0EFEC"/>
          </a:solidFill>
          <a:ln w="12700">
            <a:solidFill>
              <a:srgbClr val="F0EF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49440" y="2121408"/>
            <a:ext cx="46634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profile：入力検証・校正値の解決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281160" y="2734056"/>
            <a:ext cx="914" cy="256032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949440" y="3008376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49440" y="3008376"/>
            <a:ext cx="4663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HybridSystem（UTurnSystem）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＋ runners（ODE / SDE）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281160" y="3895344"/>
            <a:ext cx="914" cy="256032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949440" y="4169664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F0EFEC"/>
          </a:solidFill>
          <a:ln w="12700">
            <a:solidFill>
              <a:srgbClr val="F0EF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49440" y="4169664"/>
            <a:ext cx="46634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判定：衝突・車体間距離・TTC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281160" y="4782312"/>
            <a:ext cx="914" cy="256032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949440" y="5056632"/>
            <a:ext cx="4663440" cy="594360"/>
          </a:xfrm>
          <a:prstGeom prst="roundRect">
            <a:avLst>
              <a:gd name="adj" fmla="val 12308"/>
            </a:avLst>
          </a:prstGeom>
          <a:solidFill>
            <a:srgbClr val="F0EFEC"/>
          </a:solidFill>
          <a:ln w="12700">
            <a:solidFill>
              <a:srgbClr val="F0EF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49440" y="5056632"/>
            <a:ext cx="46634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EvaluationRecord → 統計評価・JSONL・CSV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数値解法：ODEとSDE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234440"/>
            <a:ext cx="5349240" cy="393192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card"/>
          <p:cNvSpPr/>
          <p:nvPr/>
        </p:nvSpPr>
        <p:spPr>
          <a:xfrm>
            <a:off x="6263640" y="1234440"/>
            <a:ext cx="5349240" cy="393192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ODE（G_q ≡ 0）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モードごとに solve_ivp（RK45）で積分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ガード g を終端イベントとして扱い、根探索で切替時刻を求める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モードに入った時点で既にガードが成り立つ場合は、その時刻で切り替える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最大刻み 0.01–0.02 s、rtol 1e-7、atol 1e-9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14173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SDE（Euler–Maruyama法）</a:t>
            </a:r>
            <a:endParaRPr lang="en-US" sz="1800" dirty="0"/>
          </a:p>
        </p:txBody>
      </p:sp>
      <p:pic>
        <p:nvPicPr>
          <p:cNvPr id="8" name="eq_eq_em" descr="数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965960"/>
            <a:ext cx="5417820" cy="34838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537960" y="2697480"/>
            <a:ext cx="4800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固定刻み Δt、ξ_k は1つのseed付き乱数列から生成（同じseedなら同じ軌跡）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P：許容範囲への射影。ガードは各格子点で判定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544068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17324A"/>
          </a:solidFill>
          <a:ln w="12700">
            <a:solidFill>
              <a:srgbClr val="1732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544068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ノイズがすべて0のSDEはODEソルバーに委譲する → 「ノイズ0の極限＝ODE」を数値誤差なしで保証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Uターン：状態とモード</a:t>
            </a:r>
            <a:endParaRPr lang="en-US" sz="2800" dirty="0"/>
          </a:p>
        </p:txBody>
      </p:sp>
      <p:pic>
        <p:nvPicPr>
          <p:cNvPr id="3" name="eq_eq_state" descr="数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882085" cy="3136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74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2514E"/>
                </a:solidFill>
              </a:rPr>
              <a:t>ego：幾何中心の位置・方位・速度　NPC：旋回の基準点（AWSIMの姿勢原点）の位置・方位・速度　θ：累積旋回角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31520" y="2743200"/>
            <a:ext cx="27432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2743200"/>
            <a:ext cx="2743200" cy="1143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両車とも直進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NPCはegoが一定速度に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達すると発進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617720" y="2743200"/>
            <a:ext cx="2743200" cy="1143000"/>
          </a:xfrm>
          <a:prstGeom prst="roundRect">
            <a:avLst>
              <a:gd name="adj" fmla="val 96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17720" y="2743200"/>
            <a:ext cx="2743200" cy="1143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NPCが一定曲率で旋回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egoは制動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503920" y="2743200"/>
            <a:ext cx="27432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03920" y="2743200"/>
            <a:ext cx="2743200" cy="1143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NPCは直進に戻る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egoは制動を継続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520440" y="3314700"/>
            <a:ext cx="1051560" cy="914"/>
          </a:xfrm>
          <a:prstGeom prst="line">
            <a:avLst/>
          </a:prstGeom>
          <a:noFill/>
          <a:ln w="22225">
            <a:solidFill>
              <a:srgbClr val="EB6834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406640" y="3314700"/>
            <a:ext cx="1051560" cy="914"/>
          </a:xfrm>
          <a:prstGeom prst="line">
            <a:avLst/>
          </a:prstGeom>
          <a:noFill/>
          <a:ln w="22225">
            <a:solidFill>
              <a:srgbClr val="EB6834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3474720" y="29032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B6834"/>
                </a:solidFill>
              </a:rPr>
              <a:t>ガード①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360920" y="29032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B6834"/>
                </a:solidFill>
              </a:rPr>
              <a:t>ガード②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548640" y="4343400"/>
            <a:ext cx="11094415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52628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ガード①（lane → turn）：NPC幾何中心とegoの縦方向の車体間距離が dx0 に達する（既存のAWSIMシナリオと同じ開始条件）。リセット θ = 0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ガード②（turn → exit）：累積旋回角 θ が旋回角に達する。リセット θ = 旋回角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時刻0はAWSIMでUターンが始まった瞬間に揃える（spawnから開始までの助走はモデル化しない）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Uターン：運動方程式</a:t>
            </a:r>
            <a:endParaRPr lang="en-US" sz="2800" dirty="0"/>
          </a:p>
        </p:txBody>
      </p:sp>
      <p:pic>
        <p:nvPicPr>
          <p:cNvPr id="3" name="eq_eq_kin" descr="数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877788" cy="10599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2514E"/>
                </a:solidFill>
              </a:rPr>
              <a:t>NPCの幾何中心（衝突判定に使う）は観測量として計算する</a:t>
            </a:r>
            <a:endParaRPr lang="en-US" sz="1400" dirty="0"/>
          </a:p>
        </p:txBody>
      </p:sp>
      <p:pic>
        <p:nvPicPr>
          <p:cNvPr id="5" name="eq_eq_center" descr="数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54680"/>
            <a:ext cx="3161812" cy="30467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393192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曲率はNPCの姿勢原点に適用する（AWSIMの経路追従はこの点で円弧を描く）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幾何中心はその d = 1.12 m 前方にあり、旋回中は外側へ振れる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egoの加速度 a_brake は次ページの制動プロファイル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406640" y="1280160"/>
            <a:ext cx="4206240" cy="457200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68096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AWSIMから校正した値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680960" y="18745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3.35 m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768096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旋回半径 R（姿勢原点）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680960" y="31546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176.6°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7680960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旋回角（180°ではない）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680960" y="4434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1.12 m</a:t>
            </a:r>
            <a:endParaRPr lang="en-US" sz="36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0" y="5166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姿勢原点から幾何中心までの距離 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ego車の制動プロファイル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Uターン開始からの経過時間 τ に対し、遅れ t_d・立ち上がり t_j・最大減速度 a_max の区分線形の加速度：</a:t>
            </a:r>
            <a:endParaRPr lang="en-US" sz="1500" dirty="0"/>
          </a:p>
        </p:txBody>
      </p:sp>
      <p:pic>
        <p:nvPicPr>
          <p:cNvPr id="4" name="eq_eq_brake_a" descr="数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4713915" cy="10599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8803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これを積分した速度（校正ではこの式を速度の実測に当てはめる）：</a:t>
            </a:r>
            <a:endParaRPr lang="en-US" sz="1500" dirty="0"/>
          </a:p>
        </p:txBody>
      </p:sp>
      <p:pic>
        <p:nvPicPr>
          <p:cNvPr id="6" name="eq_eq_brake_v" descr="数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91840"/>
            <a:ext cx="6816578" cy="47375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42519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0.616 s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4983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反応遅れ t_d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480560" y="42519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0.095 s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4480560" y="4983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立ち上がり t_j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42519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3.013 m/s²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4983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最大減速度 a_max（≈ 0.31 G）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2514E"/>
                </a:solidFill>
              </a:rPr>
              <a:t>AWSIM（Autoware 1.7.1）の56件から推定した中央値。比較用に、JAMA自動運転安全性評価フレームワークの人間ドライバーモデル（0.75 s, 0.6 s, 0.774 G）も同じ式で使える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判定と統計評価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675120"/>
                <a:gridCol w="20391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出力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定義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統計評価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c_collision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車体寸法の向き付き矩形（ego 4.886×2.186 m、NPC 4.64×1.94 m）が重なる（分離軸判定）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二項CI・SPRT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min_clearance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車体どうしの最短距離（重なれば0）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min_ttc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各時刻から等速で5秒先まで0.1秒刻みで予測し、矩形が最初に重なる時間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DKW・EBStop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c_screening_candidate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min_clearance が余裕幅 m 未満（後述）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二項CI・SPRT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548640" y="4069080"/>
            <a:ext cx="53492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4206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統計モードとの接続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663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入力を指定分布（既定は一様）から seed 付きで独立に生成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各標本の seed・分布・実際の入力値・停止理由を保存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6263640" y="4069080"/>
            <a:ext cx="5376672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3796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SDEのノイズが入る成分（G_q）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4663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ego速度（制動中）、NPC速度（発進後）、NPC方位（turn中）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大きさは現時点で未校正 → 以降の結果はすべてODE（ノイズ0）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校正①：Uターン開始状態とNPC旋回</a:t>
            </a:r>
            <a:endParaRPr lang="en-US" sz="2800" dirty="0"/>
          </a:p>
        </p:txBody>
      </p:sp>
      <p:sp>
        <p:nvSpPr>
          <p:cNvPr id="3" name="badge"/>
          <p:cNvSpPr/>
          <p:nvPr/>
        </p:nvSpPr>
        <p:spPr>
          <a:xfrm>
            <a:off x="548640" y="12801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34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トリガー検出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1848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NPC方位が直進時から0.5°以上ずれ、速度 &gt; 0.5 m/s となった最初の時刻を時刻0とする</a:t>
            </a:r>
            <a:endParaRPr lang="en-US" sz="1300" dirty="0"/>
          </a:p>
        </p:txBody>
      </p:sp>
      <p:sp>
        <p:nvSpPr>
          <p:cNvPr id="7" name="badge"/>
          <p:cNvSpPr/>
          <p:nvPr/>
        </p:nvSpPr>
        <p:spPr>
          <a:xfrm>
            <a:off x="548640" y="23042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585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開始状態の測定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642616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車体中心へ変換し、egoの向きで回転して相対位置（前後・左右）・両車速度・NPC相対方位を得る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548640" y="33284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28269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実際の旋回を測る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66744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姿勢原点の走行距離 s と方位変化 Δψ を直線で当てはめ半径 R を求め、旋回後16–25 m区間の中央値を旋回角とする</a:t>
            </a:r>
            <a:endParaRPr lang="en-US" sz="1300" dirty="0"/>
          </a:p>
        </p:txBody>
      </p:sp>
      <p:sp>
        <p:nvSpPr>
          <p:cNvPr id="15" name="badge"/>
          <p:cNvSpPr/>
          <p:nvPr/>
        </p:nvSpPr>
        <p:spPr>
          <a:xfrm>
            <a:off x="548640" y="43525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30682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入力から予測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69087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7つの量それぞれを入力の線形式として最小二乗で当てはめる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7086600" y="1234440"/>
            <a:ext cx="4553712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pic>
        <p:nvPicPr>
          <p:cNvPr id="20" name="eq_eq_arc" descr="数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63040"/>
            <a:ext cx="3212287" cy="268834"/>
          </a:xfrm>
          <a:prstGeom prst="rect">
            <a:avLst/>
          </a:prstGeom>
        </p:spPr>
      </p:pic>
      <p:pic>
        <p:nvPicPr>
          <p:cNvPr id="21" name="eq_eq_lin" descr="数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03120"/>
            <a:ext cx="2919679" cy="27496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31520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2514E"/>
                </a:solidFill>
              </a:rPr>
              <a:t>推定56件・確認24件（別トレース）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3794760"/>
          <a:ext cx="45537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249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量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確認24件の平均絶対誤差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前後位置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0.15 m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左右位置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0.019 m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ego速度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0.048 m/s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旋回半径 R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0.023 m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旋回角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0.33°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校正②：ego車の制動</a:t>
            </a:r>
            <a:endParaRPr lang="en-US" sz="2800" dirty="0"/>
          </a:p>
        </p:txBody>
      </p:sp>
      <p:pic>
        <p:nvPicPr>
          <p:cNvPr id="3" name="fig_brake_fit" descr="AWSIMのego速度と当てはめた制動曲線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309360" cy="384476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178040" y="1234440"/>
            <a:ext cx="44622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トリガーから3秒以内に持続的な減速（&gt; 0.5 m/s²、0.15 s以上）がある記録を使用（80件）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トリガー後0–2.5 sの速度に、制動プロファイルの速度式を範囲制約付き最小二乗で当てはめる</a:t>
            </a:r>
            <a:endParaRPr lang="en-US" sz="1400" dirty="0"/>
          </a:p>
        </p:txBody>
      </p:sp>
      <p:pic>
        <p:nvPicPr>
          <p:cNvPr id="5" name="eq_eq_lsq" descr="数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3200400"/>
            <a:ext cx="3722522" cy="480060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7178040" y="3977640"/>
            <a:ext cx="4462272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406640" y="4114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推定56件の中央値（確認24件で検証）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406640" y="452628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t_d = 0.616 s、t_j = 0.095 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a_max = 3.013 m/s²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（10–90%範囲 2.98–3.03 m/s²）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2514E"/>
                </a:solidFill>
              </a:rPr>
              <a:t>確認24件の a_max 中央値絶対誤差 0.004 m/s²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評価方法：結果を見ていない記録で1回だけ評価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AWSIM（Autoware 1.7.1）のUターン記録（同一配置 lane 514 / offset 38）を、用途ごとに重ならないよう分けた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F0EFE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20240"/>
            <a:ext cx="14630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校正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56件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03704" y="1920240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F0EFE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03704" y="1920240"/>
            <a:ext cx="14630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校正の確認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24件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721608" y="192024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F0EFE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21608" y="1920240"/>
            <a:ext cx="219456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モデル開発用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100件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71032" y="1920240"/>
            <a:ext cx="2377440" cy="1005840"/>
          </a:xfrm>
          <a:prstGeom prst="roundRect">
            <a:avLst>
              <a:gd name="adj" fmla="val 5455"/>
            </a:avLst>
          </a:prstGeom>
          <a:solidFill>
            <a:srgbClr val="2A78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71032" y="1920240"/>
            <a:ext cx="23774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評価集合A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100件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03336" y="1920240"/>
            <a:ext cx="2377440" cy="1005840"/>
          </a:xfrm>
          <a:prstGeom prst="roundRect">
            <a:avLst>
              <a:gd name="adj" fmla="val 5455"/>
            </a:avLst>
          </a:prstGeom>
          <a:solidFill>
            <a:srgbClr val="EB68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3336" y="1920240"/>
            <a:ext cx="23774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評価集合B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100件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548640" y="3337560"/>
            <a:ext cx="534924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4747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A78D6"/>
                </a:solidFill>
              </a:rPr>
              <a:t>評価集合A（衝突50・非衝突50）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977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モデル（校正値を含む）を確定した後に無作為抽出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1回だけ評価 → AWSIMとの一致（次ページ）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評価後は開発用データとして扱う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6263640" y="3337560"/>
            <a:ext cx="534924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34747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EB6834"/>
                </a:solidFill>
              </a:rPr>
              <a:t>評価集合B（衝突50・非衝突50）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977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スクリーニングの余裕幅を開発用280件で確定した後に抽出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1回だけ評価 → 2つの判定モードの結果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それまでの280件と重複なし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AWSIMとの一致：衝突判定95%、TTC誤差0.035秒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95%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衝突判定の正解率（100件）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337560" y="1143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96%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AWSIM衝突の検出（48/50）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143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94%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非衝突の正判定（47/50）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15400" y="1143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0.035 s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連続TTCの平均絶対誤差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060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混同行列（評価集合A）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37033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43000"/>
                <a:gridCol w="1143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</a:rPr>
                        <a:t>ODE 衝突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</a:rPr>
                        <a:t>ODE 非衝突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</a:rPr>
                        <a:t>AWSIM 衝突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48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C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</a:rPr>
                        <a:t>AWSIM 非衝突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47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50292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2514E"/>
                </a:solidFill>
              </a:rPr>
              <a:t>不一致の5件はいずれも、AWSIM・ODEとも車体間距離が0.7 m以内の衝突境界上のケース</a:t>
            </a:r>
            <a:endParaRPr lang="en-US" sz="1300" dirty="0"/>
          </a:p>
        </p:txBody>
      </p:sp>
      <p:pic>
        <p:nvPicPr>
          <p:cNvPr id="14" name="fig_ttc_error" descr="TTC誤差の分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2606040"/>
            <a:ext cx="3520440" cy="3371042"/>
          </a:xfrm>
          <a:prstGeom prst="rect">
            <a:avLst/>
          </a:prstGeom>
        </p:spPr>
      </p:pic>
      <p:sp>
        <p:nvSpPr>
          <p:cNvPr id="15" name="card"/>
          <p:cNvSpPr/>
          <p:nvPr/>
        </p:nvSpPr>
        <p:spPr>
          <a:xfrm>
            <a:off x="8275320" y="2606040"/>
            <a:ext cx="3364992" cy="3429000"/>
          </a:xfrm>
          <a:prstGeom prst="roundRect">
            <a:avLst>
              <a:gd name="adj" fmla="val 217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50392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条件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8503920" y="320040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ODE：制動・開始状態・旋回をAutoware校正値で計算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AWSIM側のTTCもODEと同じ計算式で算出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80件はTTCが完全一致（0.1 s刻み）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2つの判定モード：用途に応じて使い分ける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A78D6"/>
                </a:solidFill>
              </a:rPr>
              <a:t>判定モード（judgment）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c_collision：車体が重なれば衝突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用途：AWSIMの代わりの判定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正解率を重視（余裕なし）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0" y="1234440"/>
            <a:ext cx="53492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9050">
            <a:solidFill>
              <a:srgbClr val="EB68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3716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B6834"/>
                </a:solidFill>
              </a:rPr>
              <a:t>スクリーニングモード（screening）</a:t>
            </a:r>
            <a:endParaRPr lang="en-US" sz="1800" dirty="0"/>
          </a:p>
        </p:txBody>
      </p:sp>
      <p:pic>
        <p:nvPicPr>
          <p:cNvPr id="8" name="eq_eq_screen" descr="数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874520"/>
            <a:ext cx="3696371" cy="26362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537960" y="246888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用途：AWSIMで再検証する候補の抽出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見逃し0を重視（誤検出は許容）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41605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0EFEC"/>
          </a:solidFill>
          <a:ln w="12700">
            <a:solidFill>
              <a:srgbClr val="F0EF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4160520"/>
            <a:ext cx="2377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入力を大量に生成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962656" y="4594860"/>
            <a:ext cx="475488" cy="914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474720" y="41605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74720" y="4160520"/>
            <a:ext cx="2377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ODEで計算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（1件1秒未満）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88736" y="4594860"/>
            <a:ext cx="475488" cy="914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400800" y="41605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0" y="4160520"/>
            <a:ext cx="2377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候補だけAWSIMへ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（隙間 &lt; 1.1 m）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814816" y="4594860"/>
            <a:ext cx="475488" cy="914"/>
          </a:xfrm>
          <a:prstGeom prst="line">
            <a:avLst/>
          </a:prstGeom>
          <a:noFill/>
          <a:ln w="2222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326880" y="41605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0EFEC"/>
          </a:solidFill>
          <a:ln w="12700">
            <a:solidFill>
              <a:srgbClr val="F0EF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326880" y="4160520"/>
            <a:ext cx="2377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AWSIMで再検証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・最終判断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349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2514E"/>
                </a:solidFill>
              </a:rPr>
              <a:t>余裕幅 m の決め方：開発用280件（衝突123件）で、AWSIMが衝突したのにODEの車体間距離が最大だった値 0.996 m に 0.1 m を足して切り上げ → 1.1 m（この280件で見逃し0、誤検出34/157）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2モードの結果：スクリーニングは見逃し0/50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判定モード（評価集合B）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37033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43000"/>
                <a:gridCol w="1143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</a:rPr>
                        <a:t>ODE 衝突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</a:rPr>
                        <a:t>ODE 非衝突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</a:rPr>
                        <a:t>AWSIM 衝突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49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C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</a:rPr>
                        <a:t>AWSIM 非衝突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46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26280" y="1188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スクリーニングモード（評価集合B）</a:t>
            </a:r>
            <a:endParaRPr lang="en-US" sz="15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600200"/>
          <a:ext cx="37033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143000"/>
                <a:gridCol w="1143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</a:rPr>
                        <a:t>ODE 衝突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</a:rPr>
                        <a:t>ODE 非衝突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</a:rPr>
                        <a:t>AWSIM 衝突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50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C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2514E"/>
                          </a:solidFill>
                        </a:rPr>
                        <a:t>AWSIM 非衝突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36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754380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246888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判定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スクリーニング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正解率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95%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86%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衝突の検出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49/50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B6834"/>
                          </a:solidFill>
                        </a:rPr>
                        <a:t>50/50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見逃し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B6834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非衝突の正判定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92%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72%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card"/>
          <p:cNvSpPr/>
          <p:nvPr/>
        </p:nvSpPr>
        <p:spPr>
          <a:xfrm>
            <a:off x="8458200" y="1188720"/>
            <a:ext cx="3182112" cy="4846320"/>
          </a:xfrm>
          <a:prstGeom prst="roundRect">
            <a:avLst>
              <a:gd name="adj" fmla="val 229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686800" y="1325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≤ 約6%</a:t>
            </a:r>
            <a:endParaRPr lang="en-US" sz="3600" dirty="0"/>
          </a:p>
        </p:txBody>
      </p:sp>
      <p:sp>
        <p:nvSpPr>
          <p:cNvPr id="10" name="Text 5"/>
          <p:cNvSpPr txBox="1"/>
          <p:nvPr/>
        </p:nvSpPr>
        <p:spPr>
          <a:xfrm>
            <a:off x="8686800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見逃し率の95%上側信頼限界（0/50、片側Clopper–Pearson）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8686800" y="2971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72%</a:t>
            </a:r>
            <a:endParaRPr lang="en-US" sz="3600" dirty="0"/>
          </a:p>
        </p:txBody>
      </p:sp>
      <p:sp>
        <p:nvSpPr>
          <p:cNvPr id="12" name="Text 7"/>
          <p:cNvSpPr txBox="1"/>
          <p:nvPr/>
        </p:nvSpPr>
        <p:spPr>
          <a:xfrm>
            <a:off x="868680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AWSIMで非衝突になるケースのうち、AWSIM実行を省ける割合（36/50）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8686800" y="4709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2514E"/>
                </a:solidFill>
              </a:rPr>
              <a:t>0/50は見逃し率0を意味しない。上限を下げるには未使用の衝突ケースを追加評価する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制動モデルの比較：同じODE上で制動だけを変える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2237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192024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Autoware（校正）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JAMA 人間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JAMA AEBの値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反応遅れ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0.62 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0.75 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 s ※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立ち上がり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0.10 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0.6 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 s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最大減速度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3.0 m/s² (0.31 G)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7.6 m/s² (0.774 G)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8.3 m/s² (0.85 G)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8001000" y="1188720"/>
          <a:ext cx="3657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548640" y="3200400"/>
            <a:ext cx="72237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333756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Autowareは人間モデルより反応が速い（0.62 s vs 0.75 s、立ち上がり 0.10 s vs 0.6 s）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しかし最大減速度は人間モデルの約4割 → 停止距離は人間モデルより長い（40 km/hで27.9 m vs 19.7 m）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1663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2514E"/>
                </a:solidFill>
              </a:rPr>
              <a:t>出典：JAMA「自動運転の安全性評価フレームワーク Ver 4.0」§6.2.1、図97・98。人間ドライバー＝Competent and careful human driver。AEBの値は人間の制動を補助する機能モデルの値（0.85 G、Jerk_time 0.1 s）。※反応遅れ0.1 sはJAMAの記載になく、本比較で仮定。JAMAの作動条件（TTC_AEB）は省略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人間モデルより劣る領域：NPCが遅く、dx0が大きいとき</a:t>
            </a:r>
            <a:endParaRPr lang="en-US" sz="2800" dirty="0"/>
          </a:p>
        </p:txBody>
      </p:sp>
      <p:pic>
        <p:nvPicPr>
          <p:cNvPr id="3" name="fig_heatmap" descr="Autowareと人間モデルの衝突率の差のヒートマッ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6766560" cy="46050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80960" y="1188720"/>
            <a:ext cx="3959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2514E"/>
                </a:solidFill>
              </a:rPr>
              <a:t>各マス：太字＝衝突率の差（Autoware − 人間モデル）、下段＝Autoware / 人間モデルの衝突率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7680960" y="2103120"/>
            <a:ext cx="395935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22128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B5302F"/>
                </a:solidFill>
              </a:rPr>
              <a:t>NPCが遅く dx0 が大きい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633472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NPCが車線上に長くとどまり、止まりきれるかで決まる。人間モデルなら避けられる衝突が起きる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例：NPC 10–13 km/h・dx0 19–22 m で 0.45 vs 0.15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7680960" y="4297680"/>
            <a:ext cx="3959352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09560" y="44074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4F95"/>
                </a:solidFill>
              </a:rPr>
              <a:t>NPCが速く dx0 が小さい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4800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反応の速さで決まり、差は小さい（−0.02〜−0.05）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760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2514E"/>
                </a:solidFill>
              </a:rPr>
              <a:t>入力：AWSIM記録3,322件（能動学習で収集、一様標本ではない）。ODE＋Autoware校正はAWSIMと96.6%一致。人間モデルはODE上の計算（制動判断をUターン開始と仮定）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限界と今後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234440"/>
            <a:ext cx="11094415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77240" y="144475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23444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検証範囲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234440"/>
            <a:ext cx="798545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配置は lane 514 / offset 38 の1つ、Autoware 1.7.1 のみ。他の配置・1.8.0・1.9.0 への一般化は未検証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48640" y="2194560"/>
            <a:ext cx="11094415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777240" y="240487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19456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SDE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194560"/>
            <a:ext cx="798545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ノイズの大きさは未校正。ODEとAWSIMの軌跡の残差から拡散係数を推定するのが次の課題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3154680"/>
            <a:ext cx="11094415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777240" y="3364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1546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制動の上限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154680"/>
            <a:ext cx="798545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3.0 m/s² がAutowareのどの設定値（計画上の減速度上限など）に由来するかを確認する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48640" y="4114800"/>
            <a:ext cx="11094415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777240" y="43251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11480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統計的保証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4114800"/>
            <a:ext cx="798545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スクリーニングの見逃し率上限（約6%）を下げるため、未使用の衝突ケースを追加評価する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548640" y="5074920"/>
            <a:ext cx="11094415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777240" y="52852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507492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モデルの追加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5074920"/>
            <a:ext cx="798545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車線変更・割込みなど2つ目のモデルを同じ枠組みに追加し、汎用性を示す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まとめ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45920"/>
            <a:ext cx="110944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汎用のハイブリッド確率微分方程式の枠組み（ODE/SDEソルバー）を検証器に追加し、Uターンをその一実装として具体化した</a:t>
            </a:r>
            <a:endParaRPr lang="en-US" sz="1800" dirty="0"/>
          </a:p>
          <a:p>
            <a:pPr algn="l"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AWSIMの記録から開始状態・NPC旋回・制動を校正し、未使用の100件で衝突判定95%・TTC誤差0.035秒で一致した</a:t>
            </a:r>
            <a:endParaRPr lang="en-US" sz="1800" dirty="0"/>
          </a:p>
          <a:p>
            <a:pPr algn="l"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判定モード（AWSIMの代替）とスクリーニングモード（見逃し0/50、非衝突の72%でAWSIM実行を省略）を用意した</a:t>
            </a:r>
            <a:endParaRPr lang="en-US" sz="1800" dirty="0"/>
          </a:p>
          <a:p>
            <a:pPr algn="l"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Autowareは人間モデルより反応は速いが減速度が低く、NPCが遅く dx0 が大きい領域で人間モデルより衝突しやすい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ynamics UTurn">
  <a:themeElements>
    <a:clrScheme name="Dynamics UTurn">
      <a:dk1>
        <a:srgbClr val="1B1B1B"/>
      </a:dk1>
      <a:lt1>
        <a:srgbClr val="FFFFFF"/>
      </a:lt1>
      <a:dk2>
        <a:srgbClr val="17324A"/>
      </a:dk2>
      <a:lt2>
        <a:srgbClr val="EEF2F6"/>
      </a:lt2>
      <a:accent1>
        <a:srgbClr val="2A78D6"/>
      </a:accent1>
      <a:accent2>
        <a:srgbClr val="EB6834"/>
      </a:accent2>
      <a:accent3>
        <a:srgbClr val="1BAF7A"/>
      </a:accent3>
      <a:accent4>
        <a:srgbClr val="6B7785"/>
      </a:accent4>
      <a:accent5>
        <a:srgbClr val="184F95"/>
      </a:accent5>
      <a:accent6>
        <a:srgbClr val="B5302F"/>
      </a:accent6>
      <a:hlink>
        <a:srgbClr val="2A78D6"/>
      </a:hlink>
      <a:folHlink>
        <a:srgbClr val="6B7785"/>
      </a:folHlink>
    </a:clrScheme>
    <a:fontScheme name="Dynamics UTur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連続ダイナミクス（ODE/SDE）対象の統計的検証とUターンへの適用</dc:title>
  <dc:subject>PptxGenJS Presentation</dc:subject>
  <dc:creator>PptxGenJS</dc:creator>
  <cp:lastModifiedBy>PptxGenJS</cp:lastModifiedBy>
  <cp:revision>1</cp:revision>
  <dcterms:created xsi:type="dcterms:W3CDTF">2026-10-05T06:51:01Z</dcterms:created>
  <dcterms:modified xsi:type="dcterms:W3CDTF">2026-10-05T06:51:01Z</dcterms:modified>
</cp:coreProperties>
</file>