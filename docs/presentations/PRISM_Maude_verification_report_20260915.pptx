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>
                <a:solidFill>
                  <a:srgbClr val="1F2D3D"/>
                </a:solidFill>
              </a:defRPr>
            </a:pPr>
            <a:r>
              <a:t>PRISM / Maude 統合による検証フレームワークの汎用化</a:t>
            </a:r>
          </a:p>
          <a:p>
            <a:r>
              <a:t>と実クラスタ検証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95959"/>
                </a:solidFill>
              </a:defRPr>
            </a:pPr>
            <a:r>
              <a:t>AWSIM_launch 統計的検証基盤の拡張実験報告</a:t>
            </a:r>
          </a:p>
          <a:p>
            <a:pPr>
              <a:defRPr sz="1800">
                <a:solidFill>
                  <a:srgbClr val="595959"/>
                </a:solidFill>
              </a:defRPr>
            </a:pPr>
            <a:r>
              <a:t>2026-09-15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本日の内容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背景・目的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設計方針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検証対象モデル: 3状態マルコフ連鎖(DTMC)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PRISM / Maude の役割分担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司令塔(Orchestrator)のタスク分配設計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実装フェーズの概要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実クラスタ検証で見つかった不具合と修正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検証結果: 条件設計とねらい / 基準+4条件の結果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考察と今後の課題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背景・目的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既存フレームワークはAWSIM＋Autowareの自動運転シナリオを分散実行し、危険境界を能動学習・統計的保証で検証する基盤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課題: AWSIM専用の実験スクリプト群になっており、他の検証対象へ拡張できることを示せていなかった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目的: PRISM(確率モデル検査器)とMaude(項書換えによる形式検証)を第2のtargetとして追加し、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フレームワークの汎用性(targetを差し替えられる設計)を実証する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重要な方針転換: AWSIMの物理シミュレーションの再現・校正が目的ではなく、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「対象を差し替えても同じ統計的検証基盤(二項CI・DKW・FT4D)が使い回せること」の実証に焦点を絞った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設計方針: 実行器+判定器を1コンテナに同居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80560" y="822960"/>
            <a:ext cx="3200400" cy="1005840"/>
          </a:xfrm>
          <a:prstGeom prst="roundRect">
            <a:avLst/>
          </a:prstGeom>
          <a:solidFill>
            <a:srgbClr val="1F2D3D"/>
          </a:solidFill>
          <a:ln w="1270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司令塔 (Orchestrator)</a:t>
            </a:r>
            <a:br/>
            <a:r>
              <a:t>ケース生成・キュー管理・結果集約・停止判定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377440"/>
            <a:ext cx="3291840" cy="1463040"/>
          </a:xfrm>
          <a:prstGeom prst="roundRect">
            <a:avLst/>
          </a:prstGeom>
          <a:solidFill>
            <a:srgbClr val="2E74B5"/>
          </a:solidFill>
          <a:ln w="1270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AWSIM worker (legacy/1.7.1/1.8.0)</a:t>
            </a:r>
            <a:br/>
            <a:r>
              <a:t>Autoware + AWSIM</a:t>
            </a:r>
            <a:br/>
            <a:r>
              <a:t>AW-checker (判定)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377440"/>
            <a:ext cx="3291840" cy="1463040"/>
          </a:xfrm>
          <a:prstGeom prst="roundRect">
            <a:avLst/>
          </a:prstGeom>
          <a:solidFill>
            <a:srgbClr val="2E8B57"/>
          </a:solidFill>
          <a:ln w="1270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PRISM worker (新規)</a:t>
            </a:r>
            <a:br/>
            <a:r>
              <a:t>PRISM (確率モデル検査)</a:t>
            </a:r>
            <a:br/>
            <a:r>
              <a:t>Maude (判定)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2377440"/>
            <a:ext cx="3291840" cy="1463040"/>
          </a:xfrm>
          <a:prstGeom prst="roundRect">
            <a:avLst/>
          </a:prstGeom>
          <a:solidFill>
            <a:srgbClr val="C57A1E"/>
          </a:solidFill>
          <a:ln w="1270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BBSL worker</a:t>
            </a:r>
            <a:br/>
            <a:r>
              <a:t>(既存)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4572000"/>
            <a:ext cx="5943600" cy="1097280"/>
          </a:xfrm>
          <a:prstGeom prst="roundRect">
            <a:avLst/>
          </a:prstGeom>
          <a:solidFill>
            <a:srgbClr val="595959"/>
          </a:solidFill>
          <a:ln w="1270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共通 EvaluationRecord</a:t>
            </a:r>
            <a:br/>
            <a:r>
              <a:t>→ 二項CI / DKW / GP / FT4D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設計方針(補足)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既存のAWSIMコンテナ群(legacy / autoware171 / autoware180 / autoware180_ekfdiagfix)は無改造で流用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PRISM専用のCPUのみコンテナ(GPU・ROS・Autoware・X11不要)を新規追加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対象実行image・判定imageを分離せず、既存AWSIM運用と同じ「1コンテナ完結」方式に統一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司令塔は判定器の中身を知らず、共通契約(TestCase → RawRunResult → EvaluationRecord)だけを見る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F2D3D"/>
                </a:solidFill>
              </a:defRPr>
            </a:pPr>
            <a:r>
              <a:t>検証対象モデル: 3状態マルコフ連鎖(DTMC)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95959"/>
                </a:solidFill>
              </a:defRPr>
            </a:pPr>
            <a:r>
              <a:t>simple_reliability_dtmc: normal → degraded → failure (failureは吸収状態) / 数値は基準条件(baseline)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834640"/>
            <a:ext cx="2377440" cy="1188720"/>
          </a:xfrm>
          <a:prstGeom prst="ellipse">
            <a:avLst/>
          </a:prstGeom>
          <a:solidFill>
            <a:srgbClr val="2E8B57"/>
          </a:solidFill>
          <a:ln w="1905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5" name="Oval 4"/>
          <p:cNvSpPr/>
          <p:nvPr/>
        </p:nvSpPr>
        <p:spPr>
          <a:xfrm>
            <a:off x="5120640" y="2834640"/>
            <a:ext cx="2377440" cy="1188720"/>
          </a:xfrm>
          <a:prstGeom prst="ellipse">
            <a:avLst/>
          </a:prstGeom>
          <a:solidFill>
            <a:srgbClr val="C57A1E"/>
          </a:solidFill>
          <a:ln w="1905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degraded</a:t>
            </a:r>
          </a:p>
        </p:txBody>
      </p:sp>
      <p:sp>
        <p:nvSpPr>
          <p:cNvPr id="6" name="Oval 5"/>
          <p:cNvSpPr/>
          <p:nvPr/>
        </p:nvSpPr>
        <p:spPr>
          <a:xfrm>
            <a:off x="9326880" y="2834640"/>
            <a:ext cx="2377440" cy="1188720"/>
          </a:xfrm>
          <a:prstGeom prst="ellipse">
            <a:avLst/>
          </a:prstGeom>
          <a:solidFill>
            <a:srgbClr val="B03030"/>
          </a:solidFill>
          <a:ln w="19050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failure</a:t>
            </a:r>
            <a:br/>
            <a:r>
              <a:t>(吸収状態)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3154680"/>
            <a:ext cx="1828800" cy="0"/>
          </a:xfrm>
          <a:prstGeom prst="line">
            <a:avLst/>
          </a:prstGeom>
          <a:ln w="25400">
            <a:solidFill>
              <a:srgbClr val="1F2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383280" y="2331720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F2D3D"/>
                </a:solidFill>
              </a:defRPr>
            </a:pPr>
            <a:r>
              <a:t>p_normal_degrade</a:t>
            </a:r>
            <a:br/>
            <a:r>
              <a:t>= 0.10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91840" y="3703320"/>
            <a:ext cx="1828800" cy="0"/>
          </a:xfrm>
          <a:prstGeom prst="line">
            <a:avLst/>
          </a:prstGeom>
          <a:ln w="25400">
            <a:solidFill>
              <a:srgbClr val="1F2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200400" y="4069080"/>
            <a:ext cx="20116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1F2D3D"/>
                </a:solidFill>
              </a:defRPr>
            </a:pPr>
            <a:r>
              <a:t>p_degraded_normal</a:t>
            </a:r>
            <a:br/>
            <a:r>
              <a:t>= 0.30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3429000"/>
            <a:ext cx="1828801" cy="0"/>
          </a:xfrm>
          <a:prstGeom prst="line">
            <a:avLst/>
          </a:prstGeom>
          <a:ln w="25400">
            <a:solidFill>
              <a:srgbClr val="1F2D3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89519" y="2331720"/>
            <a:ext cx="16459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1F2D3D"/>
                </a:solidFill>
              </a:defRPr>
            </a:pPr>
            <a:r>
              <a:t>p_degraded_failure</a:t>
            </a:r>
            <a:br/>
            <a:r>
              <a:t>= 0.10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78608" y="4023360"/>
            <a:ext cx="7461503" cy="0"/>
          </a:xfrm>
          <a:prstGeom prst="line">
            <a:avLst/>
          </a:prstGeom>
          <a:ln w="22225">
            <a:solidFill>
              <a:srgbClr val="B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86000" y="4800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 i="0">
                <a:solidFill>
                  <a:srgbClr val="B03030"/>
                </a:solidFill>
              </a:defRPr>
            </a:pPr>
            <a:r>
              <a:t>p_normal_failure = 0.01 (直接失敗)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95959"/>
                </a:solidFill>
              </a:defRPr>
            </a:pPr>
            <a:r>
              <a:t>残り確率で自己遷移</a:t>
            </a:r>
            <a:br/>
            <a:r>
              <a:t>(同じ状態に留まる)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303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595959"/>
                </a:solidFill>
              </a:defRPr>
            </a:pPr>
            <a:r>
              <a:t>残り確率で自己遷移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4160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B03030"/>
                </a:solidFill>
              </a:defRPr>
            </a:pPr>
            <a:r>
              <a:t>failure → failure</a:t>
            </a:r>
            <a:br/>
            <a:r>
              <a:t>p = 1.0 (吸収)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595959"/>
                </a:solidFill>
              </a:defRPr>
            </a:pPr>
            <a:r>
              <a:t>PRISMプロパティ例: P=? [ F&lt;=steps "failure" ]  (steps以内にfailureへ到達する確率)  /  Stage 3ではこれらのパラメータとstepsを条件ごとに変更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PRISM / Maude の役割分担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PRISMの担当: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厳密モデル検査: 有限horizon以内にfailureへ到達する確率を実験開始時に1回だけ計算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ランダム経路生成 (-simpath): 統計的サンプリング用の多数の経路を生成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Maudeの担当(生成経路に対する規則判定):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early_failure(早期失敗検知): 5ステップ以内の失敗を検知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repeated_degradation(degraded 3回以上訪問): degraded状態への訪問が3回以上を検知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absorbing_failure: 吸収状態の整合性チェック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厳密確率は統計標本には含めず、標本推定値との比較(校正チェック)に使う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司令塔のタスク分配設計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実体は共有FIFOキュー(Rayのdetached actorとして常駐、名前: TaskQueueActor)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配分方式は push ではなく pull: 各workerが自分のペースでキューから1件ずつ取得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→ 速いnode・空いているnodeほど多く処理する(静的な役割分担ではない)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司令塔本体がやること: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キューが少なくなったら次のTestCaseを補充(high/low water mark)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補充のたびに二項CI(Wilson区間)の幅を確認し、目標達成なら生成を停止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全workerが処理し終えたらstop命令をキューへ積んで配布終了を通知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PRISM固有の順序制御: exact model check 1件の完了を待ってからサンプル生成を開始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結果集約はSharedStoreActor(別のdetached actor)が担当し、中央JSONL/CSVへ直列化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実装フェーズの概要(全9フェーズ)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Phase 0-2: PRISM CLIスパイク → 単体デモ → 共通target化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Phase 3-4: 固定サンプリング + 既存統計評価への接続、逐次停止orchestration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Phase 5-6: 統計モードのtarget非依存化、厳密検査とサンプル生成の分離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Phase 7: targets/prism・verifiers/maudeへのコード配置整理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Phase 8: 共通cluster CLI化 (--target prism --container-profile prism_maude)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Phase 9: デモ・文書化(README、計画書) ※一部進行中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既存のAWSIM統計処理(二項CI・DKW・FT4D)は改修最小限で再利用、GP/KDEは対象外(不要と判断)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95959"/>
                </a:solidFill>
              </a:defRPr>
            </a:pPr>
            <a:r>
              <a:t>詳細は docs/prism_integration_plan.md 参照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実クラスタ検証で見つかった不具合(3件)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単体コンテナのsmokeテストでは踏まなかった問題が、実4ノードクラスタ実行で初めて発覚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① Ray headの--num-cpus=0固定 → Ray Client初期化自体が失敗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PRISM workerはRay nodeとして参加しないclient-only構成のため、headのCPU資源が0だと接続できなかった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対策: --num-cpusの強制指定を撤廃し、Rayの標準動作(実コア数の自動検出)に戻した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② PRISMコンテナとRay headのPythonバージョン不一致(3.12 vs 3.10)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Ubuntu 24.04ベースの標準pythonは3.12、クラスタのRayは3.10で稼働 → バージョンチェックで接続拒否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対策: deadsnakes PPAでpython3.10を追加し、venvをpython3.10で再構築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③ 統計サマリのJSON変換エラー(numpy.bool_)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実行自体は成功していても、最終出力の json.dumps でクラッシュしていた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対策: numpyスカラーを変換する_json_defaultを追加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2D3D"/>
                </a:solidFill>
              </a:defRPr>
            </a:pPr>
            <a:r>
              <a:t>検証条件: B 低リスク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011680"/>
            <a:ext cx="1600200" cy="777240"/>
          </a:xfrm>
          <a:prstGeom prst="ellipse">
            <a:avLst/>
          </a:prstGeom>
          <a:solidFill>
            <a:srgbClr val="2E8B57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4" name="Oval 3"/>
          <p:cNvSpPr/>
          <p:nvPr/>
        </p:nvSpPr>
        <p:spPr>
          <a:xfrm>
            <a:off x="3063240" y="2011680"/>
            <a:ext cx="1600200" cy="777240"/>
          </a:xfrm>
          <a:prstGeom prst="ellipse">
            <a:avLst/>
          </a:prstGeom>
          <a:solidFill>
            <a:srgbClr val="C57A1E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degraded</a:t>
            </a:r>
          </a:p>
        </p:txBody>
      </p:sp>
      <p:sp>
        <p:nvSpPr>
          <p:cNvPr id="5" name="Oval 4"/>
          <p:cNvSpPr/>
          <p:nvPr/>
        </p:nvSpPr>
        <p:spPr>
          <a:xfrm>
            <a:off x="5577840" y="2011680"/>
            <a:ext cx="1600200" cy="777240"/>
          </a:xfrm>
          <a:prstGeom prst="ellipse">
            <a:avLst/>
          </a:prstGeom>
          <a:solidFill>
            <a:srgbClr val="B03030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failure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221284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74520" y="1600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p_normal_degrade</a:t>
            </a:r>
            <a:br/>
            <a:r>
              <a:t>=0.10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48840" y="2587752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52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p_degraded_normal</a:t>
            </a:r>
            <a:br/>
            <a:r>
              <a:t>=0.30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9572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120" y="16002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p_degraded_failure</a:t>
            </a:r>
            <a:br/>
            <a:r>
              <a:t>=0.10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8779" y="2788920"/>
            <a:ext cx="4389121" cy="0"/>
          </a:xfrm>
          <a:prstGeom prst="line">
            <a:avLst/>
          </a:prstGeom>
          <a:ln w="31750">
            <a:solidFill>
              <a:srgbClr val="B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59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03030"/>
                </a:solidFill>
              </a:defRPr>
            </a:pPr>
            <a:r>
              <a:t>p_normal_failure</a:t>
            </a:r>
            <a:br/>
            <a:r>
              <a:t>0.01→0.001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4B5"/>
                </a:solidFill>
              </a:defRPr>
            </a:pPr>
            <a:r>
              <a:t>変更点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・normalから直接failureへ落ちる確率(赤矢印)を1/10に低下</a:t>
            </a:r>
          </a:p>
          <a:p>
            <a:pPr>
              <a:spcAft>
                <a:spcPts val="600"/>
              </a:spcAft>
              <a:defRPr sz="600" b="0">
                <a:solidFill>
                  <a:srgbClr val="1F2D3D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B03030"/>
                </a:solidFill>
              </a:defRPr>
            </a:pPr>
            <a:r>
              <a:t>ねらい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・稀事象(pがほぼ0)でも二項CI/DKWの逐次停止が破綻しないかを確認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2D3D"/>
                </a:solidFill>
              </a:defRPr>
            </a:pPr>
            <a:r>
              <a:t>検証条件: C 高リスク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011680"/>
            <a:ext cx="1600200" cy="777240"/>
          </a:xfrm>
          <a:prstGeom prst="ellipse">
            <a:avLst/>
          </a:prstGeom>
          <a:solidFill>
            <a:srgbClr val="2E8B57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4" name="Oval 3"/>
          <p:cNvSpPr/>
          <p:nvPr/>
        </p:nvSpPr>
        <p:spPr>
          <a:xfrm>
            <a:off x="3063240" y="2011680"/>
            <a:ext cx="1600200" cy="777240"/>
          </a:xfrm>
          <a:prstGeom prst="ellipse">
            <a:avLst/>
          </a:prstGeom>
          <a:solidFill>
            <a:srgbClr val="C57A1E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degraded</a:t>
            </a:r>
          </a:p>
        </p:txBody>
      </p:sp>
      <p:sp>
        <p:nvSpPr>
          <p:cNvPr id="5" name="Oval 4"/>
          <p:cNvSpPr/>
          <p:nvPr/>
        </p:nvSpPr>
        <p:spPr>
          <a:xfrm>
            <a:off x="5577840" y="2011680"/>
            <a:ext cx="1600200" cy="777240"/>
          </a:xfrm>
          <a:prstGeom prst="ellipse">
            <a:avLst/>
          </a:prstGeom>
          <a:solidFill>
            <a:srgbClr val="B03030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failure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221284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74520" y="1600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p_normal_degrade</a:t>
            </a:r>
            <a:br/>
            <a:r>
              <a:t>=0.10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48840" y="2587752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52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p_degraded_normal</a:t>
            </a:r>
            <a:br/>
            <a:r>
              <a:t>=0.30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95728"/>
            <a:ext cx="914400" cy="0"/>
          </a:xfrm>
          <a:prstGeom prst="line">
            <a:avLst/>
          </a:prstGeom>
          <a:ln w="31750">
            <a:solidFill>
              <a:srgbClr val="B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120" y="16002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03030"/>
                </a:solidFill>
              </a:defRPr>
            </a:pPr>
            <a:r>
              <a:t>p_degraded_failure</a:t>
            </a:r>
            <a:br/>
            <a:r>
              <a:t>0.10→0.30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8779" y="2788920"/>
            <a:ext cx="4389121" cy="0"/>
          </a:xfrm>
          <a:prstGeom prst="line">
            <a:avLst/>
          </a:prstGeom>
          <a:ln w="31750">
            <a:solidFill>
              <a:srgbClr val="B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59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03030"/>
                </a:solidFill>
              </a:defRPr>
            </a:pPr>
            <a:r>
              <a:t>p_normal_failure</a:t>
            </a:r>
            <a:br/>
            <a:r>
              <a:t>0.01→0.05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4B5"/>
                </a:solidFill>
              </a:defRPr>
            </a:pPr>
            <a:r>
              <a:t>変更点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・直接失敗・degraded経由失敗、両方の赤矢印の確率を上昇</a:t>
            </a:r>
          </a:p>
          <a:p>
            <a:pPr>
              <a:spcAft>
                <a:spcPts val="600"/>
              </a:spcAft>
              <a:defRPr sz="600" b="0">
                <a:solidFill>
                  <a:srgbClr val="1F2D3D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B03030"/>
                </a:solidFill>
              </a:defRPr>
            </a:pPr>
            <a:r>
              <a:t>ねらい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・早期失敗検知(early_failure)を実際に発火させ、Maudeの検知が機能するか実証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・収束の速さ(必要標本数の変化)も確認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2D3D"/>
                </a:solidFill>
              </a:defRPr>
            </a:pPr>
            <a:r>
              <a:t>検証条件: D 長horizon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011680"/>
            <a:ext cx="1600200" cy="777240"/>
          </a:xfrm>
          <a:prstGeom prst="ellipse">
            <a:avLst/>
          </a:prstGeom>
          <a:solidFill>
            <a:srgbClr val="2E8B57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4" name="Oval 3"/>
          <p:cNvSpPr/>
          <p:nvPr/>
        </p:nvSpPr>
        <p:spPr>
          <a:xfrm>
            <a:off x="3063240" y="2011680"/>
            <a:ext cx="1600200" cy="777240"/>
          </a:xfrm>
          <a:prstGeom prst="ellipse">
            <a:avLst/>
          </a:prstGeom>
          <a:solidFill>
            <a:srgbClr val="C57A1E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degraded</a:t>
            </a:r>
          </a:p>
        </p:txBody>
      </p:sp>
      <p:sp>
        <p:nvSpPr>
          <p:cNvPr id="5" name="Oval 4"/>
          <p:cNvSpPr/>
          <p:nvPr/>
        </p:nvSpPr>
        <p:spPr>
          <a:xfrm>
            <a:off x="5577840" y="2011680"/>
            <a:ext cx="1600200" cy="777240"/>
          </a:xfrm>
          <a:prstGeom prst="ellipse">
            <a:avLst/>
          </a:prstGeom>
          <a:solidFill>
            <a:srgbClr val="B03030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failure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221284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74520" y="1600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p_normal_degrade</a:t>
            </a:r>
            <a:br/>
            <a:r>
              <a:t>=0.10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48840" y="2587752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52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p_degraded_normal</a:t>
            </a:r>
            <a:br/>
            <a:r>
              <a:t>=0.30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9572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120" y="16002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p_degraded_failure</a:t>
            </a:r>
            <a:br/>
            <a:r>
              <a:t>=0.10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8779" y="2788920"/>
            <a:ext cx="4389121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59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p_normal_failure</a:t>
            </a:r>
            <a:br/>
            <a:r>
              <a:t>=0.01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9080"/>
            <a:ext cx="6126480" cy="457200"/>
          </a:xfrm>
          <a:prstGeom prst="roundRect">
            <a:avLst/>
          </a:prstGeom>
          <a:solidFill>
            <a:srgbClr val="B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steps = 20 → 100 (観測期間を5倍に延長)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4B5"/>
                </a:solidFill>
              </a:defRPr>
            </a:pPr>
            <a:r>
              <a:t>変更点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・矢印(遷移確率)は基準のまま。観測するステップ数(horizon)だけを延長</a:t>
            </a:r>
          </a:p>
          <a:p>
            <a:pPr>
              <a:spcAft>
                <a:spcPts val="600"/>
              </a:spcAft>
              <a:defRPr sz="600" b="0">
                <a:solidFill>
                  <a:srgbClr val="1F2D3D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B03030"/>
                </a:solidFill>
              </a:defRPr>
            </a:pPr>
            <a:r>
              <a:t>ねらい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・長いtraceでもPRISM厳密計算・サンプリングが安定するか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・degraded状態への往復が増えるかを観察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1F2D3D"/>
                </a:solidFill>
              </a:defRPr>
            </a:pPr>
            <a:r>
              <a:t>検証条件: E 回復しにくい系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2011680"/>
            <a:ext cx="1600200" cy="777240"/>
          </a:xfrm>
          <a:prstGeom prst="ellipse">
            <a:avLst/>
          </a:prstGeom>
          <a:solidFill>
            <a:srgbClr val="2E8B57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4" name="Oval 3"/>
          <p:cNvSpPr/>
          <p:nvPr/>
        </p:nvSpPr>
        <p:spPr>
          <a:xfrm>
            <a:off x="3063240" y="2011680"/>
            <a:ext cx="1600200" cy="777240"/>
          </a:xfrm>
          <a:prstGeom prst="ellipse">
            <a:avLst/>
          </a:prstGeom>
          <a:solidFill>
            <a:srgbClr val="C57A1E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degraded</a:t>
            </a:r>
          </a:p>
        </p:txBody>
      </p:sp>
      <p:sp>
        <p:nvSpPr>
          <p:cNvPr id="5" name="Oval 4"/>
          <p:cNvSpPr/>
          <p:nvPr/>
        </p:nvSpPr>
        <p:spPr>
          <a:xfrm>
            <a:off x="5577840" y="2011680"/>
            <a:ext cx="1600200" cy="777240"/>
          </a:xfrm>
          <a:prstGeom prst="ellipse">
            <a:avLst/>
          </a:prstGeom>
          <a:solidFill>
            <a:srgbClr val="B03030"/>
          </a:solidFill>
          <a:ln w="15875">
            <a:solidFill>
              <a:srgbClr val="1F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failure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48840" y="221284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74520" y="16002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p_normal_degrade</a:t>
            </a:r>
            <a:br/>
            <a:r>
              <a:t>=0.10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148840" y="2587752"/>
            <a:ext cx="914400" cy="0"/>
          </a:xfrm>
          <a:prstGeom prst="line">
            <a:avLst/>
          </a:prstGeom>
          <a:ln w="31750">
            <a:solidFill>
              <a:srgbClr val="B0303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874520" y="283464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03030"/>
                </a:solidFill>
              </a:defRPr>
            </a:pPr>
            <a:r>
              <a:t>p_degraded_normal</a:t>
            </a:r>
            <a:br/>
            <a:r>
              <a:t>0.30→0.05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63440" y="2395728"/>
            <a:ext cx="914400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389120" y="1600200"/>
            <a:ext cx="1463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p_degraded_failure</a:t>
            </a:r>
            <a:br/>
            <a:r>
              <a:t>=0.10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68779" y="2788920"/>
            <a:ext cx="4389121" cy="0"/>
          </a:xfrm>
          <a:prstGeom prst="line">
            <a:avLst/>
          </a:prstGeom>
          <a:ln w="15875">
            <a:solidFill>
              <a:srgbClr val="B5B5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59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B5B5B5"/>
                </a:solidFill>
              </a:defRPr>
            </a:pPr>
            <a:r>
              <a:t>p_normal_failure</a:t>
            </a:r>
            <a:br/>
            <a:r>
              <a:t>=0.01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2E74B5"/>
                </a:solidFill>
              </a:defRPr>
            </a:pPr>
            <a:r>
              <a:t>変更点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・degradedからnormalへ戻る確率(赤矢印)を大幅に低下</a:t>
            </a:r>
          </a:p>
          <a:p>
            <a:pPr>
              <a:spcAft>
                <a:spcPts val="600"/>
              </a:spcAft>
              <a:defRPr sz="600" b="0">
                <a:solidFill>
                  <a:srgbClr val="1F2D3D"/>
                </a:solidFill>
              </a:defRPr>
            </a:pPr>
          </a:p>
          <a:p>
            <a:pPr>
              <a:spcAft>
                <a:spcPts val="600"/>
              </a:spcAft>
              <a:defRPr sz="1500" b="1">
                <a:solidFill>
                  <a:srgbClr val="B03030"/>
                </a:solidFill>
              </a:defRPr>
            </a:pPr>
            <a:r>
              <a:t>ねらい</a:t>
            </a:r>
          </a:p>
          <a:p>
            <a:pPr>
              <a:spcAft>
                <a:spcPts val="600"/>
              </a:spcAft>
              <a:defRPr sz="1500" b="0">
                <a:solidFill>
                  <a:srgbClr val="1F2D3D"/>
                </a:solidFill>
              </a:defRPr>
            </a:pPr>
            <a:r>
              <a:t>・degraded 3回以上訪問(repeated_degradation)を実際に発火させ、Maudeの検知を実証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条件設計のまとめ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基準・B・D: 統計機構(二項CI/DKWの打ち切りロジック)が極端な設定でも壊れないかを見る条件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C・E: Maudeのviolation判定を実際に一度は発火させる条件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→ 基準条件までは全サンプルが'safe'判定で、違反検知の経路自体が未検証だった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結果表の読み方(指標の説明)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標本数 — 95%信頼区間が目標幅0.10まで収束するまでに生成した経路(サンプル)の本数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実測失敗率 — 標本のうち実際に“failure”へ到達した割合(例: 基準条件は376本中151本 → 0.402)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理論失敗確率 — PRISMの厳密モデル検査で1回だけ計算した理論値(horizon以内にfailureへ到達する真の確率、標本数には含めない)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絶対誤差 — |実測失敗率 − 理論失敗確率|(標本推定が理論値にどれだけ近いか)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実行時間 — 4台のworkerで全標本の生成・Maude判定を終えるまでの実測時間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早期失敗検知数 / degraded 3回以上訪問回数 — Maudeが検知した件数(5ステップ以内の失敗 / degraded状態への3回以上訪問)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違反ではなくMaudeが規則通りに検知した結果であり、それ自体は不具合ではない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D3D"/>
                </a:solidFill>
              </a:defRPr>
            </a:pPr>
            <a:r>
              <a:t>検証結果: 基準条件 + 4条件(逐次停止, 95% CI幅0.10)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914400"/>
                <a:gridCol w="1280160"/>
                <a:gridCol w="1280160"/>
                <a:gridCol w="1005840"/>
                <a:gridCol w="914400"/>
                <a:gridCol w="1554480"/>
                <a:gridCol w="219456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条件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標本数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実測失敗率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理論失敗確率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絶対誤差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実行時間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早期失敗検知数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degraded 3回以上訪問回数</a:t>
                      </a:r>
                    </a:p>
                  </a:txBody>
                  <a:tcPr>
                    <a:solidFill>
                      <a:srgbClr val="2E74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基準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0.423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104秒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B: 低リスク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336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0.295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0.326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0.031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98秒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C: 高リスク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73秒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D: 長horizon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0.914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0.946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0.032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29秒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E: 回復弱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376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0.012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92秒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D3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77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95959"/>
                </a:solidFill>
              </a:defRPr>
            </a:pPr>
            <a:r>
              <a:t>全5条件で理論失敗確率(厳密モデル検査)がサンプルの95%CI内に収まった(ci_contains_bounded_probability: true)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真の失敗確率が高いほど少ない標本数(D: 128本)、中程度だと多め(基準/E: 376本)で打ち切り → 統計的に妥当な挙動</a:t>
            </a:r>
          </a:p>
          <a:p>
            <a:pPr>
              <a:defRPr sz="1300">
                <a:solidFill>
                  <a:srgbClr val="595959"/>
                </a:solidFill>
              </a:defRPr>
            </a:pPr>
            <a:r>
              <a:t>狙い通り、Cで早期失敗検知(60件)、Dでdegraded 3回以上訪問(67件)が多発 → Maudeの検知が機能することを実証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考察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汎用性の実証: 同一の司令塔・二項CI・DKW・FT4D基盤で、AWSIMと全く異なる確率モデル(PRISM DTMC)を検証できた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Maudeの検知機能の実証: 条件C・Dで初めて早期失敗検知/degraded 3回以上訪問の判定が実際に発火することを確認</a:t>
            </a:r>
          </a:p>
          <a:p>
            <a:pPr lvl="1">
              <a:defRPr sz="1700">
                <a:solidFill>
                  <a:srgbClr val="595959"/>
                </a:solidFill>
              </a:defRPr>
            </a:pPr>
            <a:r>
              <a:t>基準条件までは全サンプルが'safe'判定で、違反検知の経路自体が未検証だった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モデル理解の修正: 条件Bで「低リスクならほぼ失敗しない」という予想が外れ、degraded経由の失敗が支配的と判明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負荷分散: pull型キューにより自然に分散されるが、標本数が少ない条件では後発workerが0件になることもある(想定内)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実クラスタ特有の不具合は単体コンテナのsmokeテストでは検出できず、複数ノード・実ネットワークでの検証が不可欠だった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1F2D3D"/>
                </a:solidFill>
              </a:defRPr>
            </a:pPr>
            <a:r>
              <a:t>今後の課題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F2D3D"/>
                </a:solidFill>
              </a:defRPr>
            </a:pPr>
            <a:r>
              <a:t>Phase 9の残タスク: PRISM/Maudeを実際に使う自動smoke test(pytest)、tests/fixtures/prism/へのサンプル保存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README/計画書に「対応範囲はDTMCのデモ」であることの明記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AWSIM側にも同様の複数条件検証(実クラスタでの負荷・分散確認)を適用できるか検討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MDPモデル(制御のnondeterminismと環境確率を分離)への拡張は今回の範囲外、必要になれば次段階で検討</a:t>
            </a:r>
          </a:p>
          <a:p>
            <a:pPr>
              <a:defRPr sz="2000">
                <a:solidFill>
                  <a:srgbClr val="1F2D3D"/>
                </a:solidFill>
              </a:defRPr>
            </a:pPr>
            <a:r>
              <a:t>今回の全変更は未コミット: cluster_manager.py、Dockerfile、orchestrator_cluster_main.py、README/計画書など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595959"/>
                </a:solidFill>
              </a:defRPr>
            </a:pPr>
            <a:r>
              <a:t>質問・議論歓迎です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