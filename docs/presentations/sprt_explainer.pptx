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Yu Gothic"/>
              </a:rPr>
              <a:t>SPRT: 少ないサンプルで仮説を判定する逐次検定</a:t>
            </a:r>
          </a:p>
          <a:p>
            <a:r>
              <a:rPr sz="1400">
                <a:solidFill>
                  <a:srgbClr val="52514E"/>
                </a:solidFill>
                <a:latin typeface="Yu Gothic"/>
              </a:rPr>
              <a:t>Wald (1945); Younes (2006) 式(9)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4114800" cy="51206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657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仮説</a:t>
            </a:r>
          </a:p>
          <a:p>
            <a:pPr algn="l"/>
            <a:r>
              <a:rPr sz="1500" b="0">
                <a:solidFill>
                  <a:srgbClr val="2A78D6"/>
                </a:solidFill>
                <a:latin typeface="Consolas"/>
              </a:rPr>
              <a:t>H0: p = p0    H1: p = p1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① 尤度比の更新(1件増えるごと)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log尤度比 =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 d・log(p1/p0)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 + (n-d)・log((1-p1)/(1-p0))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② 判定閾値(α,βから決まる)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下側 = log(β/(1-α))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上側 = log((1-β)/α)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③ 判定規則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log尤度比 &lt;= 下側 → H0確定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log尤度比 &gt;= 上側 → H1確定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Consolas"/>
              </a:rPr>
              <a:t>それ以外            → 継続</a:t>
            </a:r>
          </a:p>
        </p:txBody>
      </p:sp>
      <p:pic>
        <p:nvPicPr>
          <p:cNvPr id="7" name="Picture 6" descr="slide1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6903720" cy="4027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00600" y="5989320"/>
            <a:ext cx="6903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例: p0=0.6, p1=0.4, α=β=0.05 → 4/5が該当というデータを流すと n=12 で H0 確定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Yu Gothic"/>
              </a:rPr>
              <a:t>拡張版: 「未決着」を許して穴を塞ぐ</a:t>
            </a:r>
          </a:p>
          <a:p>
            <a:r>
              <a:rPr sz="1400">
                <a:solidFill>
                  <a:srgbClr val="52514E"/>
                </a:solidFill>
                <a:latin typeface="Yu Gothic"/>
              </a:rPr>
              <a:t>Younes (2006) §5.1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105156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古典版の弱点: 無差別領域 [θ-δ, θ+δ] の内側に真の p があると、誤り率の保証が一切ない</a:t>
            </a:r>
          </a:p>
          <a:p>
            <a:pPr algn="l"/>
            <a:r>
              <a:rPr sz="1300" b="0">
                <a:solidFill>
                  <a:srgbClr val="52514E"/>
                </a:solidFill>
                <a:latin typeface="Yu Gothic"/>
              </a:rPr>
              <a:t>→ 2本の片側検定を同時に走らせ、「未決着」という第3の答えを許すことで穴を塞ぐ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2本の片側検定を組み合わせる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検定+: H0+:p&gt;=θ  vs H1+:p&lt;=θ-δ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onsolas"/>
              </a:rPr>
              <a:t>        (強度 &lt;α, γ&gt;)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検定-: H0-:p&gt;=θ+δ  vs H1-:p&lt;=θ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onsolas"/>
              </a:rPr>
              <a:t>        (強度 &lt;γ, β&gt;)</a:t>
            </a:r>
          </a:p>
          <a:p>
            <a:pPr algn="l"/>
            <a:r>
              <a:rPr sz="600" b="0">
                <a:solidFill>
                  <a:srgbClr val="0B0B0B"/>
                </a:solidFill>
                <a:latin typeface="Yu Gothic"/>
              </a:rPr>
              <a:t/>
            </a:r>
          </a:p>
          <a:p>
            <a:pPr algn="l"/>
            <a:r>
              <a:rPr sz="1300" b="1">
                <a:solidFill>
                  <a:srgbClr val="2A78D6"/>
                </a:solidFill>
                <a:latin typeface="Yu Gothic"/>
              </a:rPr>
              <a:t>両方H0 → 真   両方H1 → 偽   それ以外 → 未決着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532120" cy="214884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Yu Gothic"/>
              </a:rPr>
              <a:t>実例: θ=0.5, δ=0.1, α=0.04, β=0.08, γ=0.1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3017520"/>
          <a:ext cx="5303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91640"/>
                <a:gridCol w="1508760"/>
              </a:tblGrid>
              <a:tr h="472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n=112, d=56 (p=0.50)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log尤度比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判定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Yu Gothic"/>
                        </a:rPr>
                        <a:t>検定+ (θ vs θ-δ)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Consolas"/>
                        </a:rPr>
                        <a:t>-2.33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Consolas"/>
                        </a:rPr>
                        <a:t>H0採択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Yu Gothic"/>
                        </a:rPr>
                        <a:t>検定- (θ+δ vs θ)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Consolas"/>
                        </a:rPr>
                        <a:t>+2.33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  <a:latin typeface="Consolas"/>
                        </a:rPr>
                        <a:t>H1採択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425196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03B3B"/>
                </a:solidFill>
                <a:latin typeface="Yu Gothic"/>
              </a:rPr>
              <a:t>→ 検定+はH0、検定-はH1 で不一致 = 未決着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11247120" cy="1508760"/>
          </a:xfrm>
          <a:prstGeom prst="roundRect">
            <a:avLst>
              <a:gd name="adj" fmla="val 4000"/>
            </a:avLst>
          </a:prstGeom>
          <a:solidFill>
            <a:srgbClr val="EAF6EA"/>
          </a:solidFill>
          <a:ln w="9525">
            <a:solidFill>
              <a:srgbClr val="E3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56048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Yu Gothic"/>
              </a:rPr>
              <a:t>112回試行しても、真の値がちょうど境界上なら「わからない」と正直に答える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Yu Gothic"/>
              </a:rPr>
              <a:t>→ これにより、答えを出した場合(真/偽)は真の p がどこにあっても常に信頼できる</a:t>
            </a:r>
          </a:p>
          <a:p>
            <a:pPr algn="l"/>
            <a:r>
              <a:rPr sz="1400" b="0">
                <a:solidFill>
                  <a:srgbClr val="52514E"/>
                </a:solidFill>
                <a:latin typeface="Yu Gothic"/>
              </a:rPr>
              <a:t>→ 誤り率 α(第一種)/ β(第二種)/ γ(未決着) をすべて同時に保証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